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6479540" cy="719963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1 study-design schematic. Panel a revised to distinguish earlier personal click history, target candidate-news input and ranked candidate-news output. 1,000 users and 3,000 target impressions are sample counts. The history precedes the earliest target impression. Rank labels are schematic, not experimental ranks. Platform metrics are nDCG@5, MAP and AUC. Panels b–g preserve the supplied Figure1_V2 layout and content. Text and paths are native editable objects. Source images remain individual raster assets. No quantitative results are added. Anatomical ROI images are preserved. Panel g is a schematic description; source Methods describe analysis of existing transformed performance tables, not a new encoding fit.</a:t>
            </a:r>
          </a:p>
          <a:p>
            <a:r>
              <a:t>Panels f and g: methods schematics, not empirical heatmaps. Qwen2.5-7B-Instruct last input token before rating generation. Model RDM: cosine distance per layer; behavior RDM: absolute observed rating differences. Neural RDM: spatial Pearson distance across multivoxel trial patterns in the Value, Self-referential and Mentalizing ROIs or 6-mm searchlights. Spearman RSA per participant and per layer; mean across layers1–28, and mean of10 shuffled-history metrics. A=article only, S=within-person history article–rating pairing shuffle, T=true own history. Semantic-control: residual correlation after regressing ranked model and brain distances on ranked article semantic distance plus intercept. Panel f shows all three pairwise RSA relationships: model–behavior, model–brain, and brain–behavior. Its undirected edges represent analyses, not statistical significance, causal influence, or superiority of any ROI. Panel g expands the model–brain computation. Brain–behavior summary plot source: RSA_Qwen_searchlight_surface_v3/data/figure_source_data/Supplement_brain_behavior_v2.csv, supplied by the user; no coefficients, intervals, or tests recalculated. The supplied values do not show Value/Self/Mentalizing as the largest brain–behavior means. All RDM cells are schematic, not fitted to these results. Source: RSA_Qwen_searchlight_surface_v4 Methods–Results reader.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33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4790" indent="-224790" algn="l">
        <a:lnSpc>
          <a:spcPct val="90000"/>
        </a:lnSpc>
        <a:spcBef>
          <a:spcPct val="197000"/>
        </a:spcBef>
        <a:buChar char="•"/>
        <a:defRPr sz="2755">
          <a:solidFill>
            <a:schemeClr val="tx1"/>
          </a:solidFill>
          <a:latin typeface="+mn-lt"/>
          <a:ea typeface="+mn-lt"/>
          <a:cs typeface="+mn-lt"/>
        </a:defRPr>
      </a:lvl1pPr>
      <a:lvl2pPr marL="674370" indent="-224790" algn="l">
        <a:lnSpc>
          <a:spcPct val="90000"/>
        </a:lnSpc>
        <a:spcBef>
          <a:spcPts val="490"/>
        </a:spcBef>
        <a:buChar char="•"/>
        <a:defRPr sz="2360">
          <a:solidFill>
            <a:schemeClr val="tx1"/>
          </a:solidFill>
          <a:latin typeface="+mn-lt"/>
          <a:ea typeface="+mn-lt"/>
          <a:cs typeface="+mn-lt"/>
        </a:defRPr>
      </a:lvl2pPr>
      <a:lvl3pPr marL="1124585" indent="-224790" algn="l">
        <a:lnSpc>
          <a:spcPct val="90000"/>
        </a:lnSpc>
        <a:spcBef>
          <a:spcPts val="490"/>
        </a:spcBef>
        <a:buChar char="•"/>
        <a:defRPr sz="1965">
          <a:solidFill>
            <a:schemeClr val="tx1"/>
          </a:solidFill>
          <a:latin typeface="+mn-lt"/>
          <a:ea typeface="+mn-lt"/>
          <a:cs typeface="+mn-lt"/>
        </a:defRPr>
      </a:lvl3pPr>
      <a:lvl4pPr marL="1574165" indent="-224790" algn="l">
        <a:lnSpc>
          <a:spcPct val="90000"/>
        </a:lnSpc>
        <a:spcBef>
          <a:spcPts val="490"/>
        </a:spcBef>
        <a:buChar char="•"/>
        <a:defRPr sz="1770">
          <a:solidFill>
            <a:schemeClr val="tx1"/>
          </a:solidFill>
          <a:latin typeface="+mn-lt"/>
          <a:ea typeface="+mn-lt"/>
          <a:cs typeface="+mn-lt"/>
        </a:defRPr>
      </a:lvl4pPr>
      <a:lvl5pPr marL="2023745" indent="-224790" algn="l">
        <a:lnSpc>
          <a:spcPct val="90000"/>
        </a:lnSpc>
        <a:spcBef>
          <a:spcPts val="490"/>
        </a:spcBef>
        <a:buChar char="•"/>
        <a:defRPr sz="1770">
          <a:solidFill>
            <a:schemeClr val="tx1"/>
          </a:solidFill>
          <a:latin typeface="+mn-lt"/>
          <a:ea typeface="+mn-lt"/>
          <a:cs typeface="+mn-lt"/>
        </a:defRPr>
      </a:lvl5pPr>
      <a:lvl6pPr marL="2473325" indent="-224790" algn="l">
        <a:lnSpc>
          <a:spcPct val="90000"/>
        </a:lnSpc>
        <a:spcBef>
          <a:spcPts val="490"/>
        </a:spcBef>
        <a:buChar char="•"/>
        <a:defRPr sz="1770">
          <a:solidFill>
            <a:schemeClr val="tx1"/>
          </a:solidFill>
          <a:latin typeface="+mn-lt"/>
          <a:ea typeface="+mn-lt"/>
          <a:cs typeface="+mn-lt"/>
        </a:defRPr>
      </a:lvl6pPr>
      <a:lvl7pPr marL="2923540" indent="-224790" algn="l">
        <a:lnSpc>
          <a:spcPct val="90000"/>
        </a:lnSpc>
        <a:spcBef>
          <a:spcPts val="490"/>
        </a:spcBef>
        <a:buChar char="•"/>
        <a:defRPr sz="1770">
          <a:solidFill>
            <a:schemeClr val="tx1"/>
          </a:solidFill>
          <a:latin typeface="+mn-lt"/>
          <a:ea typeface="+mn-lt"/>
          <a:cs typeface="+mn-lt"/>
        </a:defRPr>
      </a:lvl7pPr>
      <a:lvl8pPr marL="3373120" indent="-224790" algn="l">
        <a:lnSpc>
          <a:spcPct val="90000"/>
        </a:lnSpc>
        <a:spcBef>
          <a:spcPts val="490"/>
        </a:spcBef>
        <a:buChar char="•"/>
        <a:defRPr sz="1770">
          <a:solidFill>
            <a:schemeClr val="tx1"/>
          </a:solidFill>
          <a:latin typeface="+mn-lt"/>
          <a:ea typeface="+mn-lt"/>
          <a:cs typeface="+mn-lt"/>
        </a:defRPr>
      </a:lvl8pPr>
      <a:lvl9pPr marL="3822700" indent="-224790" algn="l">
        <a:lnSpc>
          <a:spcPct val="90000"/>
        </a:lnSpc>
        <a:spcBef>
          <a:spcPts val="490"/>
        </a:spcBef>
        <a:buChar char="•"/>
        <a:defRPr sz="177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770">
          <a:solidFill>
            <a:schemeClr val="tx1"/>
          </a:solidFill>
          <a:latin typeface="+mn-lt"/>
          <a:ea typeface="+mn-lt"/>
          <a:cs typeface="+mn-lt"/>
        </a:defRPr>
      </a:lvl1pPr>
      <a:lvl2pPr marL="449580" algn="l">
        <a:buNone/>
        <a:defRPr sz="1770">
          <a:solidFill>
            <a:schemeClr val="tx1"/>
          </a:solidFill>
          <a:latin typeface="+mn-lt"/>
          <a:ea typeface="+mn-lt"/>
          <a:cs typeface="+mn-lt"/>
        </a:defRPr>
      </a:lvl2pPr>
      <a:lvl3pPr marL="899795" algn="l">
        <a:buNone/>
        <a:defRPr sz="1770">
          <a:solidFill>
            <a:schemeClr val="tx1"/>
          </a:solidFill>
          <a:latin typeface="+mn-lt"/>
          <a:ea typeface="+mn-lt"/>
          <a:cs typeface="+mn-lt"/>
        </a:defRPr>
      </a:lvl3pPr>
      <a:lvl4pPr marL="1349375" algn="l">
        <a:buNone/>
        <a:defRPr sz="1770">
          <a:solidFill>
            <a:schemeClr val="tx1"/>
          </a:solidFill>
          <a:latin typeface="+mn-lt"/>
          <a:ea typeface="+mn-lt"/>
          <a:cs typeface="+mn-lt"/>
        </a:defRPr>
      </a:lvl4pPr>
      <a:lvl5pPr marL="1798955" algn="l">
        <a:buNone/>
        <a:defRPr sz="1770">
          <a:solidFill>
            <a:schemeClr val="tx1"/>
          </a:solidFill>
          <a:latin typeface="+mn-lt"/>
          <a:ea typeface="+mn-lt"/>
          <a:cs typeface="+mn-lt"/>
        </a:defRPr>
      </a:lvl5pPr>
      <a:lvl6pPr marL="2248535" algn="l">
        <a:buNone/>
        <a:defRPr sz="1770">
          <a:solidFill>
            <a:schemeClr val="tx1"/>
          </a:solidFill>
          <a:latin typeface="+mn-lt"/>
          <a:ea typeface="+mn-lt"/>
          <a:cs typeface="+mn-lt"/>
        </a:defRPr>
      </a:lvl6pPr>
      <a:lvl7pPr marL="2698750" algn="l">
        <a:buNone/>
        <a:defRPr sz="1770">
          <a:solidFill>
            <a:schemeClr val="tx1"/>
          </a:solidFill>
          <a:latin typeface="+mn-lt"/>
          <a:ea typeface="+mn-lt"/>
          <a:cs typeface="+mn-lt"/>
        </a:defRPr>
      </a:lvl7pPr>
      <a:lvl8pPr marL="3148330" algn="l">
        <a:buNone/>
        <a:defRPr sz="1770">
          <a:solidFill>
            <a:schemeClr val="tx1"/>
          </a:solidFill>
          <a:latin typeface="+mn-lt"/>
          <a:ea typeface="+mn-lt"/>
          <a:cs typeface="+mn-lt"/>
        </a:defRPr>
      </a:lvl8pPr>
      <a:lvl9pPr marL="3597910" algn="l">
        <a:buNone/>
        <a:defRPr sz="177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000" name=""/>
        <p:cNvGrpSpPr/>
        <p:nvPr/>
      </p:nvGrpSpPr>
      <p:grpSpPr/>
      <p:sp>
        <p:nvSpPr>
          <p:cNvPr id="2" name="a_vector_1"/>
          <p:cNvSpPr>
            <a:spLocks noGrp="1"/>
          </p:cNvSpPr>
          <p:nvPr/>
        </p:nvSpPr>
        <p:spPr>
          <a:xfrm>
            <a:off x="111894" y="141662"/>
            <a:ext cx="4159487" cy="1013657"/>
          </a:xfrm>
          <a:custGeom>
            <a:avLst/>
            <a:gdLst/>
            <a:ahLst/>
            <a:cxnLst/>
            <a:pathLst>
              <a:path w="4284000" h="1044000">
                <a:moveTo>
                  <a:pt x="72000" y="0"/>
                </a:moveTo>
                <a:lnTo>
                  <a:pt x="4212000" y="0"/>
                </a:lnTo>
                <a:lnTo>
                  <a:pt x="4217875" y="125"/>
                </a:lnTo>
                <a:lnTo>
                  <a:pt x="4223500" y="500"/>
                </a:lnTo>
                <a:lnTo>
                  <a:pt x="4228875" y="1125"/>
                </a:lnTo>
                <a:lnTo>
                  <a:pt x="4234000" y="2000"/>
                </a:lnTo>
                <a:lnTo>
                  <a:pt x="4238875" y="3125"/>
                </a:lnTo>
                <a:lnTo>
                  <a:pt x="4243500" y="4500"/>
                </a:lnTo>
                <a:lnTo>
                  <a:pt x="4247875" y="6125"/>
                </a:lnTo>
                <a:lnTo>
                  <a:pt x="4252000" y="8000"/>
                </a:lnTo>
                <a:lnTo>
                  <a:pt x="4255875" y="10125"/>
                </a:lnTo>
                <a:lnTo>
                  <a:pt x="4259500" y="12500"/>
                </a:lnTo>
                <a:lnTo>
                  <a:pt x="4262875" y="15125"/>
                </a:lnTo>
                <a:lnTo>
                  <a:pt x="4266000" y="18000"/>
                </a:lnTo>
                <a:lnTo>
                  <a:pt x="4268875" y="21125"/>
                </a:lnTo>
                <a:lnTo>
                  <a:pt x="4271500" y="24500"/>
                </a:lnTo>
                <a:lnTo>
                  <a:pt x="4273875" y="28125"/>
                </a:lnTo>
                <a:lnTo>
                  <a:pt x="4276000" y="32000"/>
                </a:lnTo>
                <a:lnTo>
                  <a:pt x="4277875" y="36125"/>
                </a:lnTo>
                <a:lnTo>
                  <a:pt x="4279500" y="40500"/>
                </a:lnTo>
                <a:lnTo>
                  <a:pt x="4280875" y="45125"/>
                </a:lnTo>
                <a:lnTo>
                  <a:pt x="4282000" y="50000"/>
                </a:lnTo>
                <a:lnTo>
                  <a:pt x="4282875" y="55125"/>
                </a:lnTo>
                <a:lnTo>
                  <a:pt x="4283500" y="60500"/>
                </a:lnTo>
                <a:lnTo>
                  <a:pt x="4283875" y="66125"/>
                </a:lnTo>
                <a:lnTo>
                  <a:pt x="4284000" y="71999"/>
                </a:lnTo>
                <a:lnTo>
                  <a:pt x="4284000" y="972000"/>
                </a:lnTo>
                <a:lnTo>
                  <a:pt x="4283875" y="977875"/>
                </a:lnTo>
                <a:lnTo>
                  <a:pt x="4283500" y="983500"/>
                </a:lnTo>
                <a:lnTo>
                  <a:pt x="4282875" y="988875"/>
                </a:lnTo>
                <a:lnTo>
                  <a:pt x="4282000" y="994000"/>
                </a:lnTo>
                <a:lnTo>
                  <a:pt x="4280875" y="998875"/>
                </a:lnTo>
                <a:lnTo>
                  <a:pt x="4279500" y="1003500"/>
                </a:lnTo>
                <a:lnTo>
                  <a:pt x="4277875" y="1007875"/>
                </a:lnTo>
                <a:lnTo>
                  <a:pt x="4276000" y="1012000"/>
                </a:lnTo>
                <a:lnTo>
                  <a:pt x="4273875" y="1015875"/>
                </a:lnTo>
                <a:lnTo>
                  <a:pt x="4271500" y="1019500"/>
                </a:lnTo>
                <a:lnTo>
                  <a:pt x="4268875" y="1022875"/>
                </a:lnTo>
                <a:lnTo>
                  <a:pt x="4266000" y="1026000"/>
                </a:lnTo>
                <a:lnTo>
                  <a:pt x="4262875" y="1028875"/>
                </a:lnTo>
                <a:lnTo>
                  <a:pt x="4259500" y="1031500"/>
                </a:lnTo>
                <a:lnTo>
                  <a:pt x="4255875" y="1033875"/>
                </a:lnTo>
                <a:lnTo>
                  <a:pt x="4252000" y="1036000"/>
                </a:lnTo>
                <a:lnTo>
                  <a:pt x="4247875" y="1037875"/>
                </a:lnTo>
                <a:lnTo>
                  <a:pt x="4243500" y="1039500"/>
                </a:lnTo>
                <a:lnTo>
                  <a:pt x="4238875" y="1040875"/>
                </a:lnTo>
                <a:lnTo>
                  <a:pt x="4234000" y="1042000"/>
                </a:lnTo>
                <a:lnTo>
                  <a:pt x="4228875" y="1042875"/>
                </a:lnTo>
                <a:lnTo>
                  <a:pt x="4223500" y="1043500"/>
                </a:lnTo>
                <a:lnTo>
                  <a:pt x="4217875" y="1043875"/>
                </a:lnTo>
                <a:lnTo>
                  <a:pt x="4212000" y="1044000"/>
                </a:lnTo>
                <a:lnTo>
                  <a:pt x="72000" y="1044000"/>
                </a:lnTo>
                <a:lnTo>
                  <a:pt x="66125" y="1043875"/>
                </a:lnTo>
                <a:lnTo>
                  <a:pt x="60500" y="1043500"/>
                </a:lnTo>
                <a:lnTo>
                  <a:pt x="55125" y="1042875"/>
                </a:lnTo>
                <a:lnTo>
                  <a:pt x="50000" y="1042000"/>
                </a:lnTo>
                <a:lnTo>
                  <a:pt x="45125" y="1040875"/>
                </a:lnTo>
                <a:lnTo>
                  <a:pt x="40500" y="1039500"/>
                </a:lnTo>
                <a:lnTo>
                  <a:pt x="36125" y="1037875"/>
                </a:lnTo>
                <a:lnTo>
                  <a:pt x="32000" y="1036000"/>
                </a:lnTo>
                <a:lnTo>
                  <a:pt x="28125" y="1033875"/>
                </a:lnTo>
                <a:lnTo>
                  <a:pt x="24500" y="1031500"/>
                </a:lnTo>
                <a:lnTo>
                  <a:pt x="21125" y="1028875"/>
                </a:lnTo>
                <a:lnTo>
                  <a:pt x="18000" y="1026000"/>
                </a:lnTo>
                <a:lnTo>
                  <a:pt x="15125" y="1022875"/>
                </a:lnTo>
                <a:lnTo>
                  <a:pt x="12500" y="1019500"/>
                </a:lnTo>
                <a:lnTo>
                  <a:pt x="10125" y="1015875"/>
                </a:lnTo>
                <a:lnTo>
                  <a:pt x="8000" y="1012000"/>
                </a:lnTo>
                <a:lnTo>
                  <a:pt x="6125" y="1007875"/>
                </a:lnTo>
                <a:lnTo>
                  <a:pt x="4500" y="1003500"/>
                </a:lnTo>
                <a:lnTo>
                  <a:pt x="3125" y="998875"/>
                </a:lnTo>
                <a:lnTo>
                  <a:pt x="2000" y="994000"/>
                </a:lnTo>
                <a:lnTo>
                  <a:pt x="1125" y="988875"/>
                </a:lnTo>
                <a:lnTo>
                  <a:pt x="500" y="983500"/>
                </a:lnTo>
                <a:lnTo>
                  <a:pt x="125" y="977875"/>
                </a:lnTo>
                <a:lnTo>
                  <a:pt x="0" y="972000"/>
                </a:lnTo>
                <a:lnTo>
                  <a:pt x="0" y="71999"/>
                </a:lnTo>
                <a:lnTo>
                  <a:pt x="125" y="66125"/>
                </a:lnTo>
                <a:lnTo>
                  <a:pt x="500" y="60500"/>
                </a:lnTo>
                <a:lnTo>
                  <a:pt x="1125" y="55125"/>
                </a:lnTo>
                <a:lnTo>
                  <a:pt x="2000" y="50000"/>
                </a:lnTo>
                <a:lnTo>
                  <a:pt x="3125" y="45125"/>
                </a:lnTo>
                <a:lnTo>
                  <a:pt x="4500" y="40500"/>
                </a:lnTo>
                <a:lnTo>
                  <a:pt x="6125" y="36125"/>
                </a:lnTo>
                <a:lnTo>
                  <a:pt x="8000" y="32000"/>
                </a:lnTo>
                <a:lnTo>
                  <a:pt x="10125" y="28125"/>
                </a:lnTo>
                <a:lnTo>
                  <a:pt x="12500" y="24500"/>
                </a:lnTo>
                <a:lnTo>
                  <a:pt x="15125" y="21125"/>
                </a:lnTo>
                <a:lnTo>
                  <a:pt x="18000" y="18000"/>
                </a:lnTo>
                <a:lnTo>
                  <a:pt x="21125" y="15125"/>
                </a:lnTo>
                <a:lnTo>
                  <a:pt x="24500" y="12500"/>
                </a:lnTo>
                <a:lnTo>
                  <a:pt x="28125" y="10125"/>
                </a:lnTo>
                <a:lnTo>
                  <a:pt x="32000" y="8000"/>
                </a:lnTo>
                <a:lnTo>
                  <a:pt x="36125" y="6125"/>
                </a:lnTo>
                <a:lnTo>
                  <a:pt x="40500" y="4500"/>
                </a:lnTo>
                <a:lnTo>
                  <a:pt x="45125" y="3125"/>
                </a:lnTo>
                <a:lnTo>
                  <a:pt x="50000" y="2000"/>
                </a:lnTo>
                <a:lnTo>
                  <a:pt x="55125" y="1125"/>
                </a:lnTo>
                <a:lnTo>
                  <a:pt x="60500" y="500"/>
                </a:lnTo>
                <a:lnTo>
                  <a:pt x="66125" y="125"/>
                </a:lnTo>
                <a:lnTo>
                  <a:pt x="72000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  <a:prstDash val="solid"/>
          </a:ln>
        </p:spPr>
      </p:sp>
      <p:sp>
        <p:nvSpPr>
          <p:cNvPr id="3" name="a_text_0"/>
          <p:cNvSpPr>
            <a:spLocks noGrp="1"/>
          </p:cNvSpPr>
          <p:nvPr/>
        </p:nvSpPr>
        <p:spPr>
          <a:xfrm>
            <a:off x="157338" y="162098"/>
            <a:ext cx="93240" cy="1603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endParaRPr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b_vector_36"/>
          <p:cNvSpPr>
            <a:spLocks noGrp="1"/>
          </p:cNvSpPr>
          <p:nvPr/>
        </p:nvSpPr>
        <p:spPr>
          <a:xfrm>
            <a:off x="111894" y="1225226"/>
            <a:ext cx="4159487" cy="1572915"/>
          </a:xfrm>
          <a:custGeom>
            <a:avLst/>
            <a:gdLst/>
            <a:ahLst/>
            <a:cxnLst/>
            <a:pathLst>
              <a:path w="4284000" h="1620000">
                <a:moveTo>
                  <a:pt x="72000" y="0"/>
                </a:moveTo>
                <a:lnTo>
                  <a:pt x="4212000" y="0"/>
                </a:lnTo>
                <a:lnTo>
                  <a:pt x="4217875" y="125"/>
                </a:lnTo>
                <a:lnTo>
                  <a:pt x="4223500" y="500"/>
                </a:lnTo>
                <a:lnTo>
                  <a:pt x="4228875" y="1125"/>
                </a:lnTo>
                <a:lnTo>
                  <a:pt x="4234000" y="2000"/>
                </a:lnTo>
                <a:lnTo>
                  <a:pt x="4238875" y="3125"/>
                </a:lnTo>
                <a:lnTo>
                  <a:pt x="4243500" y="4500"/>
                </a:lnTo>
                <a:lnTo>
                  <a:pt x="4247875" y="6125"/>
                </a:lnTo>
                <a:lnTo>
                  <a:pt x="4252000" y="8000"/>
                </a:lnTo>
                <a:lnTo>
                  <a:pt x="4255875" y="10125"/>
                </a:lnTo>
                <a:lnTo>
                  <a:pt x="4259500" y="12500"/>
                </a:lnTo>
                <a:lnTo>
                  <a:pt x="4262875" y="15125"/>
                </a:lnTo>
                <a:lnTo>
                  <a:pt x="4266000" y="18000"/>
                </a:lnTo>
                <a:lnTo>
                  <a:pt x="4268875" y="21125"/>
                </a:lnTo>
                <a:lnTo>
                  <a:pt x="4271500" y="24500"/>
                </a:lnTo>
                <a:lnTo>
                  <a:pt x="4273875" y="28125"/>
                </a:lnTo>
                <a:lnTo>
                  <a:pt x="4276000" y="32000"/>
                </a:lnTo>
                <a:lnTo>
                  <a:pt x="4277875" y="36125"/>
                </a:lnTo>
                <a:lnTo>
                  <a:pt x="4279500" y="40500"/>
                </a:lnTo>
                <a:lnTo>
                  <a:pt x="4280875" y="45125"/>
                </a:lnTo>
                <a:lnTo>
                  <a:pt x="4282000" y="50000"/>
                </a:lnTo>
                <a:lnTo>
                  <a:pt x="4282875" y="55125"/>
                </a:lnTo>
                <a:lnTo>
                  <a:pt x="4283500" y="60500"/>
                </a:lnTo>
                <a:lnTo>
                  <a:pt x="4283875" y="66125"/>
                </a:lnTo>
                <a:lnTo>
                  <a:pt x="4284000" y="72000"/>
                </a:lnTo>
                <a:lnTo>
                  <a:pt x="4284000" y="1548000"/>
                </a:lnTo>
                <a:lnTo>
                  <a:pt x="4283875" y="1553875"/>
                </a:lnTo>
                <a:lnTo>
                  <a:pt x="4283500" y="1559500"/>
                </a:lnTo>
                <a:lnTo>
                  <a:pt x="4282875" y="1564875"/>
                </a:lnTo>
                <a:lnTo>
                  <a:pt x="4282000" y="1570000"/>
                </a:lnTo>
                <a:lnTo>
                  <a:pt x="4280875" y="1574875"/>
                </a:lnTo>
                <a:lnTo>
                  <a:pt x="4279500" y="1579500"/>
                </a:lnTo>
                <a:lnTo>
                  <a:pt x="4277875" y="1583875"/>
                </a:lnTo>
                <a:lnTo>
                  <a:pt x="4276000" y="1588000"/>
                </a:lnTo>
                <a:lnTo>
                  <a:pt x="4273875" y="1591875"/>
                </a:lnTo>
                <a:lnTo>
                  <a:pt x="4271500" y="1595500"/>
                </a:lnTo>
                <a:lnTo>
                  <a:pt x="4268875" y="1598875"/>
                </a:lnTo>
                <a:lnTo>
                  <a:pt x="4266000" y="1602000"/>
                </a:lnTo>
                <a:lnTo>
                  <a:pt x="4262875" y="1604875"/>
                </a:lnTo>
                <a:lnTo>
                  <a:pt x="4259500" y="1607500"/>
                </a:lnTo>
                <a:lnTo>
                  <a:pt x="4255875" y="1609875"/>
                </a:lnTo>
                <a:lnTo>
                  <a:pt x="4252000" y="1612000"/>
                </a:lnTo>
                <a:lnTo>
                  <a:pt x="4247875" y="1613875"/>
                </a:lnTo>
                <a:lnTo>
                  <a:pt x="4243500" y="1615500"/>
                </a:lnTo>
                <a:lnTo>
                  <a:pt x="4238875" y="1616875"/>
                </a:lnTo>
                <a:lnTo>
                  <a:pt x="4234000" y="1618000"/>
                </a:lnTo>
                <a:lnTo>
                  <a:pt x="4228875" y="1618875"/>
                </a:lnTo>
                <a:lnTo>
                  <a:pt x="4223500" y="1619500"/>
                </a:lnTo>
                <a:lnTo>
                  <a:pt x="4217875" y="1619875"/>
                </a:lnTo>
                <a:lnTo>
                  <a:pt x="4212000" y="1620000"/>
                </a:lnTo>
                <a:lnTo>
                  <a:pt x="72000" y="1620000"/>
                </a:lnTo>
                <a:lnTo>
                  <a:pt x="66125" y="1619875"/>
                </a:lnTo>
                <a:lnTo>
                  <a:pt x="60500" y="1619500"/>
                </a:lnTo>
                <a:lnTo>
                  <a:pt x="55125" y="1618875"/>
                </a:lnTo>
                <a:lnTo>
                  <a:pt x="50000" y="1618000"/>
                </a:lnTo>
                <a:lnTo>
                  <a:pt x="45125" y="1616875"/>
                </a:lnTo>
                <a:lnTo>
                  <a:pt x="40500" y="1615500"/>
                </a:lnTo>
                <a:lnTo>
                  <a:pt x="36125" y="1613875"/>
                </a:lnTo>
                <a:lnTo>
                  <a:pt x="32000" y="1612000"/>
                </a:lnTo>
                <a:lnTo>
                  <a:pt x="28125" y="1609875"/>
                </a:lnTo>
                <a:lnTo>
                  <a:pt x="24500" y="1607500"/>
                </a:lnTo>
                <a:lnTo>
                  <a:pt x="21125" y="1604875"/>
                </a:lnTo>
                <a:lnTo>
                  <a:pt x="18000" y="1602000"/>
                </a:lnTo>
                <a:lnTo>
                  <a:pt x="15125" y="1598875"/>
                </a:lnTo>
                <a:lnTo>
                  <a:pt x="12500" y="1595500"/>
                </a:lnTo>
                <a:lnTo>
                  <a:pt x="10125" y="1591875"/>
                </a:lnTo>
                <a:lnTo>
                  <a:pt x="8000" y="1588000"/>
                </a:lnTo>
                <a:lnTo>
                  <a:pt x="6125" y="1583875"/>
                </a:lnTo>
                <a:lnTo>
                  <a:pt x="4500" y="1579500"/>
                </a:lnTo>
                <a:lnTo>
                  <a:pt x="3125" y="1574875"/>
                </a:lnTo>
                <a:lnTo>
                  <a:pt x="2000" y="1570000"/>
                </a:lnTo>
                <a:lnTo>
                  <a:pt x="1125" y="1564875"/>
                </a:lnTo>
                <a:lnTo>
                  <a:pt x="500" y="1559500"/>
                </a:lnTo>
                <a:lnTo>
                  <a:pt x="125" y="1553875"/>
                </a:lnTo>
                <a:lnTo>
                  <a:pt x="0" y="1548000"/>
                </a:lnTo>
                <a:lnTo>
                  <a:pt x="0" y="72000"/>
                </a:lnTo>
                <a:lnTo>
                  <a:pt x="125" y="66125"/>
                </a:lnTo>
                <a:lnTo>
                  <a:pt x="500" y="60500"/>
                </a:lnTo>
                <a:lnTo>
                  <a:pt x="1125" y="55125"/>
                </a:lnTo>
                <a:lnTo>
                  <a:pt x="2000" y="50000"/>
                </a:lnTo>
                <a:lnTo>
                  <a:pt x="3125" y="45125"/>
                </a:lnTo>
                <a:lnTo>
                  <a:pt x="4500" y="40500"/>
                </a:lnTo>
                <a:lnTo>
                  <a:pt x="6125" y="36125"/>
                </a:lnTo>
                <a:lnTo>
                  <a:pt x="8000" y="32000"/>
                </a:lnTo>
                <a:lnTo>
                  <a:pt x="10125" y="28125"/>
                </a:lnTo>
                <a:lnTo>
                  <a:pt x="12500" y="24500"/>
                </a:lnTo>
                <a:lnTo>
                  <a:pt x="15125" y="21125"/>
                </a:lnTo>
                <a:lnTo>
                  <a:pt x="18000" y="18000"/>
                </a:lnTo>
                <a:lnTo>
                  <a:pt x="21125" y="15125"/>
                </a:lnTo>
                <a:lnTo>
                  <a:pt x="24500" y="12500"/>
                </a:lnTo>
                <a:lnTo>
                  <a:pt x="28125" y="10125"/>
                </a:lnTo>
                <a:lnTo>
                  <a:pt x="32000" y="8000"/>
                </a:lnTo>
                <a:lnTo>
                  <a:pt x="36125" y="6125"/>
                </a:lnTo>
                <a:lnTo>
                  <a:pt x="40500" y="4500"/>
                </a:lnTo>
                <a:lnTo>
                  <a:pt x="45125" y="3125"/>
                </a:lnTo>
                <a:lnTo>
                  <a:pt x="50000" y="2000"/>
                </a:lnTo>
                <a:lnTo>
                  <a:pt x="55125" y="1125"/>
                </a:lnTo>
                <a:lnTo>
                  <a:pt x="60500" y="500"/>
                </a:lnTo>
                <a:lnTo>
                  <a:pt x="66125" y="125"/>
                </a:lnTo>
                <a:lnTo>
                  <a:pt x="72000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  <a:prstDash val="solid"/>
          </a:ln>
        </p:spPr>
      </p:sp>
      <p:sp>
        <p:nvSpPr>
          <p:cNvPr id="5" name="b_vector_37"/>
          <p:cNvSpPr>
            <a:spLocks noGrp="1"/>
          </p:cNvSpPr>
          <p:nvPr/>
        </p:nvSpPr>
        <p:spPr>
          <a:xfrm>
            <a:off x="3453465" y="1924300"/>
            <a:ext cx="128630" cy="34954"/>
          </a:xfrm>
          <a:custGeom>
            <a:avLst/>
            <a:gdLst/>
            <a:ahLst/>
            <a:cxnLst/>
            <a:pathLst>
              <a:path w="132480" h="36000">
                <a:moveTo>
                  <a:pt x="0" y="36000"/>
                </a:moveTo>
                <a:lnTo>
                  <a:pt x="132480" y="36000"/>
                </a:lnTo>
                <a:lnTo>
                  <a:pt x="132480" y="0"/>
                </a:lnTo>
                <a:lnTo>
                  <a:pt x="0" y="36000"/>
                </a:lnTo>
                <a:close/>
              </a:path>
            </a:pathLst>
          </a:custGeom>
          <a:solidFill>
            <a:srgbClr val="BBBBBB"/>
          </a:solidFill>
          <a:ln w="6985">
            <a:solidFill>
              <a:srgbClr val="333333"/>
            </a:solidFill>
            <a:prstDash val="solid"/>
          </a:ln>
        </p:spPr>
      </p:sp>
      <p:sp>
        <p:nvSpPr>
          <p:cNvPr id="6" name="b_vector_38"/>
          <p:cNvSpPr>
            <a:spLocks noGrp="1"/>
          </p:cNvSpPr>
          <p:nvPr/>
        </p:nvSpPr>
        <p:spPr>
          <a:xfrm>
            <a:off x="3606213" y="1899832"/>
            <a:ext cx="128630" cy="59421"/>
          </a:xfrm>
          <a:custGeom>
            <a:avLst/>
            <a:gdLst/>
            <a:ahLst/>
            <a:cxnLst/>
            <a:pathLst>
              <a:path w="132480" h="61200">
                <a:moveTo>
                  <a:pt x="0" y="61200"/>
                </a:moveTo>
                <a:lnTo>
                  <a:pt x="132480" y="61200"/>
                </a:lnTo>
                <a:lnTo>
                  <a:pt x="132480" y="0"/>
                </a:lnTo>
                <a:lnTo>
                  <a:pt x="0" y="61200"/>
                </a:lnTo>
                <a:close/>
              </a:path>
            </a:pathLst>
          </a:custGeom>
          <a:solidFill>
            <a:srgbClr val="BBBBBB"/>
          </a:solidFill>
          <a:ln w="6985">
            <a:solidFill>
              <a:srgbClr val="333333"/>
            </a:solidFill>
            <a:prstDash val="solid"/>
          </a:ln>
        </p:spPr>
      </p:sp>
      <p:sp>
        <p:nvSpPr>
          <p:cNvPr id="7" name="b_vector_39"/>
          <p:cNvSpPr>
            <a:spLocks noGrp="1"/>
          </p:cNvSpPr>
          <p:nvPr/>
        </p:nvSpPr>
        <p:spPr>
          <a:xfrm>
            <a:off x="3758960" y="1875365"/>
            <a:ext cx="128630" cy="83889"/>
          </a:xfrm>
          <a:custGeom>
            <a:avLst/>
            <a:gdLst/>
            <a:ahLst/>
            <a:cxnLst/>
            <a:pathLst>
              <a:path w="132480" h="86400">
                <a:moveTo>
                  <a:pt x="0" y="86400"/>
                </a:moveTo>
                <a:lnTo>
                  <a:pt x="132480" y="86400"/>
                </a:lnTo>
                <a:lnTo>
                  <a:pt x="132480" y="0"/>
                </a:lnTo>
                <a:lnTo>
                  <a:pt x="0" y="86400"/>
                </a:lnTo>
                <a:close/>
              </a:path>
            </a:pathLst>
          </a:custGeom>
          <a:solidFill>
            <a:srgbClr val="BBBBBB"/>
          </a:solidFill>
          <a:ln w="6985">
            <a:solidFill>
              <a:srgbClr val="333333"/>
            </a:solidFill>
            <a:prstDash val="solid"/>
          </a:ln>
        </p:spPr>
      </p:sp>
      <p:sp>
        <p:nvSpPr>
          <p:cNvPr id="8" name="b_vector_40"/>
          <p:cNvSpPr>
            <a:spLocks noGrp="1"/>
          </p:cNvSpPr>
          <p:nvPr/>
        </p:nvSpPr>
        <p:spPr>
          <a:xfrm>
            <a:off x="3299669" y="2071105"/>
            <a:ext cx="55926" cy="55926"/>
          </a:xfrm>
          <a:custGeom>
            <a:avLst/>
            <a:gdLst/>
            <a:ahLst/>
            <a:cxnLst/>
            <a:pathLst>
              <a:path w="57600" h="57600">
                <a:moveTo>
                  <a:pt x="28800" y="0"/>
                </a:moveTo>
                <a:lnTo>
                  <a:pt x="29753" y="16"/>
                </a:lnTo>
                <a:lnTo>
                  <a:pt x="30702" y="63"/>
                </a:lnTo>
                <a:lnTo>
                  <a:pt x="31647" y="141"/>
                </a:lnTo>
                <a:lnTo>
                  <a:pt x="32586" y="250"/>
                </a:lnTo>
                <a:lnTo>
                  <a:pt x="33519" y="389"/>
                </a:lnTo>
                <a:lnTo>
                  <a:pt x="34445" y="559"/>
                </a:lnTo>
                <a:lnTo>
                  <a:pt x="35364" y="758"/>
                </a:lnTo>
                <a:lnTo>
                  <a:pt x="36274" y="987"/>
                </a:lnTo>
                <a:lnTo>
                  <a:pt x="37176" y="1245"/>
                </a:lnTo>
                <a:lnTo>
                  <a:pt x="38068" y="1532"/>
                </a:lnTo>
                <a:lnTo>
                  <a:pt x="38950" y="1848"/>
                </a:lnTo>
                <a:lnTo>
                  <a:pt x="39821" y="2192"/>
                </a:lnTo>
                <a:lnTo>
                  <a:pt x="40681" y="2565"/>
                </a:lnTo>
                <a:lnTo>
                  <a:pt x="41528" y="2965"/>
                </a:lnTo>
                <a:lnTo>
                  <a:pt x="42362" y="3393"/>
                </a:lnTo>
                <a:lnTo>
                  <a:pt x="43182" y="3848"/>
                </a:lnTo>
                <a:lnTo>
                  <a:pt x="43988" y="4330"/>
                </a:lnTo>
                <a:lnTo>
                  <a:pt x="44778" y="4839"/>
                </a:lnTo>
                <a:lnTo>
                  <a:pt x="45553" y="5374"/>
                </a:lnTo>
                <a:lnTo>
                  <a:pt x="46311" y="5935"/>
                </a:lnTo>
                <a:lnTo>
                  <a:pt x="47052" y="6522"/>
                </a:lnTo>
                <a:lnTo>
                  <a:pt x="47775" y="7135"/>
                </a:lnTo>
                <a:lnTo>
                  <a:pt x="48480" y="7773"/>
                </a:lnTo>
                <a:lnTo>
                  <a:pt x="49165" y="8436"/>
                </a:lnTo>
                <a:lnTo>
                  <a:pt x="49828" y="9121"/>
                </a:lnTo>
                <a:lnTo>
                  <a:pt x="50465" y="9825"/>
                </a:lnTo>
                <a:lnTo>
                  <a:pt x="51078" y="10548"/>
                </a:lnTo>
                <a:lnTo>
                  <a:pt x="51665" y="11289"/>
                </a:lnTo>
                <a:lnTo>
                  <a:pt x="52226" y="12047"/>
                </a:lnTo>
                <a:lnTo>
                  <a:pt x="52761" y="12822"/>
                </a:lnTo>
                <a:lnTo>
                  <a:pt x="53270" y="13613"/>
                </a:lnTo>
                <a:lnTo>
                  <a:pt x="53752" y="14418"/>
                </a:lnTo>
                <a:lnTo>
                  <a:pt x="54207" y="15239"/>
                </a:lnTo>
                <a:lnTo>
                  <a:pt x="54635" y="16073"/>
                </a:lnTo>
                <a:lnTo>
                  <a:pt x="55035" y="16920"/>
                </a:lnTo>
                <a:lnTo>
                  <a:pt x="55408" y="17779"/>
                </a:lnTo>
                <a:lnTo>
                  <a:pt x="55752" y="18650"/>
                </a:lnTo>
                <a:lnTo>
                  <a:pt x="56068" y="19532"/>
                </a:lnTo>
                <a:lnTo>
                  <a:pt x="56355" y="20424"/>
                </a:lnTo>
                <a:lnTo>
                  <a:pt x="56613" y="21326"/>
                </a:lnTo>
                <a:lnTo>
                  <a:pt x="56842" y="22237"/>
                </a:lnTo>
                <a:lnTo>
                  <a:pt x="57041" y="23155"/>
                </a:lnTo>
                <a:lnTo>
                  <a:pt x="57211" y="24082"/>
                </a:lnTo>
                <a:lnTo>
                  <a:pt x="57350" y="25015"/>
                </a:lnTo>
                <a:lnTo>
                  <a:pt x="57459" y="25954"/>
                </a:lnTo>
                <a:lnTo>
                  <a:pt x="57537" y="26898"/>
                </a:lnTo>
                <a:lnTo>
                  <a:pt x="57584" y="27847"/>
                </a:lnTo>
                <a:lnTo>
                  <a:pt x="57600" y="28800"/>
                </a:lnTo>
                <a:lnTo>
                  <a:pt x="57584" y="29753"/>
                </a:lnTo>
                <a:lnTo>
                  <a:pt x="57537" y="30702"/>
                </a:lnTo>
                <a:lnTo>
                  <a:pt x="57459" y="31647"/>
                </a:lnTo>
                <a:lnTo>
                  <a:pt x="57350" y="32586"/>
                </a:lnTo>
                <a:lnTo>
                  <a:pt x="57211" y="33519"/>
                </a:lnTo>
                <a:lnTo>
                  <a:pt x="57041" y="34445"/>
                </a:lnTo>
                <a:lnTo>
                  <a:pt x="56842" y="35364"/>
                </a:lnTo>
                <a:lnTo>
                  <a:pt x="56613" y="36274"/>
                </a:lnTo>
                <a:lnTo>
                  <a:pt x="56355" y="37176"/>
                </a:lnTo>
                <a:lnTo>
                  <a:pt x="56068" y="38068"/>
                </a:lnTo>
                <a:lnTo>
                  <a:pt x="55752" y="38950"/>
                </a:lnTo>
                <a:lnTo>
                  <a:pt x="55408" y="39821"/>
                </a:lnTo>
                <a:lnTo>
                  <a:pt x="55035" y="40681"/>
                </a:lnTo>
                <a:lnTo>
                  <a:pt x="54635" y="41528"/>
                </a:lnTo>
                <a:lnTo>
                  <a:pt x="54207" y="42362"/>
                </a:lnTo>
                <a:lnTo>
                  <a:pt x="53752" y="43182"/>
                </a:lnTo>
                <a:lnTo>
                  <a:pt x="53270" y="43988"/>
                </a:lnTo>
                <a:lnTo>
                  <a:pt x="52761" y="44778"/>
                </a:lnTo>
                <a:lnTo>
                  <a:pt x="52226" y="45553"/>
                </a:lnTo>
                <a:lnTo>
                  <a:pt x="51665" y="46311"/>
                </a:lnTo>
                <a:lnTo>
                  <a:pt x="51078" y="47052"/>
                </a:lnTo>
                <a:lnTo>
                  <a:pt x="50465" y="47775"/>
                </a:lnTo>
                <a:lnTo>
                  <a:pt x="49828" y="48480"/>
                </a:lnTo>
                <a:lnTo>
                  <a:pt x="49165" y="49165"/>
                </a:lnTo>
                <a:lnTo>
                  <a:pt x="48480" y="49828"/>
                </a:lnTo>
                <a:lnTo>
                  <a:pt x="47775" y="50465"/>
                </a:lnTo>
                <a:lnTo>
                  <a:pt x="47052" y="51078"/>
                </a:lnTo>
                <a:lnTo>
                  <a:pt x="46311" y="51665"/>
                </a:lnTo>
                <a:lnTo>
                  <a:pt x="45553" y="52226"/>
                </a:lnTo>
                <a:lnTo>
                  <a:pt x="44778" y="52761"/>
                </a:lnTo>
                <a:lnTo>
                  <a:pt x="43988" y="53270"/>
                </a:lnTo>
                <a:lnTo>
                  <a:pt x="43182" y="53752"/>
                </a:lnTo>
                <a:lnTo>
                  <a:pt x="42362" y="54207"/>
                </a:lnTo>
                <a:lnTo>
                  <a:pt x="41528" y="54635"/>
                </a:lnTo>
                <a:lnTo>
                  <a:pt x="40681" y="55035"/>
                </a:lnTo>
                <a:lnTo>
                  <a:pt x="39821" y="55408"/>
                </a:lnTo>
                <a:lnTo>
                  <a:pt x="38950" y="55752"/>
                </a:lnTo>
                <a:lnTo>
                  <a:pt x="38068" y="56068"/>
                </a:lnTo>
                <a:lnTo>
                  <a:pt x="37176" y="56355"/>
                </a:lnTo>
                <a:lnTo>
                  <a:pt x="36274" y="56613"/>
                </a:lnTo>
                <a:lnTo>
                  <a:pt x="35364" y="56842"/>
                </a:lnTo>
                <a:lnTo>
                  <a:pt x="34445" y="57041"/>
                </a:lnTo>
                <a:lnTo>
                  <a:pt x="33519" y="57211"/>
                </a:lnTo>
                <a:lnTo>
                  <a:pt x="32586" y="57350"/>
                </a:lnTo>
                <a:lnTo>
                  <a:pt x="31647" y="57459"/>
                </a:lnTo>
                <a:lnTo>
                  <a:pt x="30702" y="57537"/>
                </a:lnTo>
                <a:lnTo>
                  <a:pt x="29753" y="57584"/>
                </a:lnTo>
                <a:lnTo>
                  <a:pt x="28800" y="57600"/>
                </a:lnTo>
                <a:lnTo>
                  <a:pt x="27847" y="57584"/>
                </a:lnTo>
                <a:lnTo>
                  <a:pt x="26898" y="57537"/>
                </a:lnTo>
                <a:lnTo>
                  <a:pt x="25954" y="57459"/>
                </a:lnTo>
                <a:lnTo>
                  <a:pt x="25015" y="57350"/>
                </a:lnTo>
                <a:lnTo>
                  <a:pt x="24082" y="57211"/>
                </a:lnTo>
                <a:lnTo>
                  <a:pt x="23155" y="57041"/>
                </a:lnTo>
                <a:lnTo>
                  <a:pt x="22237" y="56842"/>
                </a:lnTo>
                <a:lnTo>
                  <a:pt x="21326" y="56613"/>
                </a:lnTo>
                <a:lnTo>
                  <a:pt x="20424" y="56355"/>
                </a:lnTo>
                <a:lnTo>
                  <a:pt x="19532" y="56068"/>
                </a:lnTo>
                <a:lnTo>
                  <a:pt x="18650" y="55752"/>
                </a:lnTo>
                <a:lnTo>
                  <a:pt x="17779" y="55408"/>
                </a:lnTo>
                <a:lnTo>
                  <a:pt x="16920" y="55035"/>
                </a:lnTo>
                <a:lnTo>
                  <a:pt x="16073" y="54635"/>
                </a:lnTo>
                <a:lnTo>
                  <a:pt x="15239" y="54207"/>
                </a:lnTo>
                <a:lnTo>
                  <a:pt x="14418" y="53752"/>
                </a:lnTo>
                <a:lnTo>
                  <a:pt x="13613" y="53270"/>
                </a:lnTo>
                <a:lnTo>
                  <a:pt x="12822" y="52761"/>
                </a:lnTo>
                <a:lnTo>
                  <a:pt x="12047" y="52226"/>
                </a:lnTo>
                <a:lnTo>
                  <a:pt x="11289" y="51665"/>
                </a:lnTo>
                <a:lnTo>
                  <a:pt x="10548" y="51078"/>
                </a:lnTo>
                <a:lnTo>
                  <a:pt x="9825" y="50465"/>
                </a:lnTo>
                <a:lnTo>
                  <a:pt x="9121" y="49828"/>
                </a:lnTo>
                <a:lnTo>
                  <a:pt x="8436" y="49165"/>
                </a:lnTo>
                <a:lnTo>
                  <a:pt x="7773" y="48480"/>
                </a:lnTo>
                <a:lnTo>
                  <a:pt x="7135" y="47775"/>
                </a:lnTo>
                <a:lnTo>
                  <a:pt x="6522" y="47052"/>
                </a:lnTo>
                <a:lnTo>
                  <a:pt x="5935" y="46311"/>
                </a:lnTo>
                <a:lnTo>
                  <a:pt x="5374" y="45553"/>
                </a:lnTo>
                <a:lnTo>
                  <a:pt x="4839" y="44778"/>
                </a:lnTo>
                <a:lnTo>
                  <a:pt x="4330" y="43988"/>
                </a:lnTo>
                <a:lnTo>
                  <a:pt x="3848" y="43182"/>
                </a:lnTo>
                <a:lnTo>
                  <a:pt x="3393" y="42362"/>
                </a:lnTo>
                <a:lnTo>
                  <a:pt x="2965" y="41528"/>
                </a:lnTo>
                <a:lnTo>
                  <a:pt x="2565" y="40681"/>
                </a:lnTo>
                <a:lnTo>
                  <a:pt x="2192" y="39821"/>
                </a:lnTo>
                <a:lnTo>
                  <a:pt x="1848" y="38950"/>
                </a:lnTo>
                <a:lnTo>
                  <a:pt x="1532" y="38068"/>
                </a:lnTo>
                <a:lnTo>
                  <a:pt x="1245" y="37176"/>
                </a:lnTo>
                <a:lnTo>
                  <a:pt x="987" y="36274"/>
                </a:lnTo>
                <a:lnTo>
                  <a:pt x="758" y="35364"/>
                </a:lnTo>
                <a:lnTo>
                  <a:pt x="559" y="34445"/>
                </a:lnTo>
                <a:lnTo>
                  <a:pt x="389" y="33519"/>
                </a:lnTo>
                <a:lnTo>
                  <a:pt x="250" y="32586"/>
                </a:lnTo>
                <a:lnTo>
                  <a:pt x="141" y="31647"/>
                </a:lnTo>
                <a:lnTo>
                  <a:pt x="63" y="30702"/>
                </a:lnTo>
                <a:lnTo>
                  <a:pt x="16" y="29753"/>
                </a:lnTo>
                <a:lnTo>
                  <a:pt x="0" y="28800"/>
                </a:lnTo>
                <a:lnTo>
                  <a:pt x="16" y="27847"/>
                </a:lnTo>
                <a:lnTo>
                  <a:pt x="63" y="26898"/>
                </a:lnTo>
                <a:lnTo>
                  <a:pt x="141" y="25954"/>
                </a:lnTo>
                <a:lnTo>
                  <a:pt x="250" y="25015"/>
                </a:lnTo>
                <a:lnTo>
                  <a:pt x="389" y="24082"/>
                </a:lnTo>
                <a:lnTo>
                  <a:pt x="559" y="23155"/>
                </a:lnTo>
                <a:lnTo>
                  <a:pt x="758" y="22237"/>
                </a:lnTo>
                <a:lnTo>
                  <a:pt x="987" y="21326"/>
                </a:lnTo>
                <a:lnTo>
                  <a:pt x="1245" y="20424"/>
                </a:lnTo>
                <a:lnTo>
                  <a:pt x="1532" y="19532"/>
                </a:lnTo>
                <a:lnTo>
                  <a:pt x="1848" y="18650"/>
                </a:lnTo>
                <a:lnTo>
                  <a:pt x="2192" y="17779"/>
                </a:lnTo>
                <a:lnTo>
                  <a:pt x="2565" y="16920"/>
                </a:lnTo>
                <a:lnTo>
                  <a:pt x="2965" y="16073"/>
                </a:lnTo>
                <a:lnTo>
                  <a:pt x="3393" y="15239"/>
                </a:lnTo>
                <a:lnTo>
                  <a:pt x="3848" y="14418"/>
                </a:lnTo>
                <a:lnTo>
                  <a:pt x="4330" y="13613"/>
                </a:lnTo>
                <a:lnTo>
                  <a:pt x="4839" y="12822"/>
                </a:lnTo>
                <a:lnTo>
                  <a:pt x="5374" y="12047"/>
                </a:lnTo>
                <a:lnTo>
                  <a:pt x="5935" y="11289"/>
                </a:lnTo>
                <a:lnTo>
                  <a:pt x="6522" y="10548"/>
                </a:lnTo>
                <a:lnTo>
                  <a:pt x="7135" y="9825"/>
                </a:lnTo>
                <a:lnTo>
                  <a:pt x="7773" y="9121"/>
                </a:lnTo>
                <a:lnTo>
                  <a:pt x="8436" y="8436"/>
                </a:lnTo>
                <a:lnTo>
                  <a:pt x="9121" y="7773"/>
                </a:lnTo>
                <a:lnTo>
                  <a:pt x="9825" y="7135"/>
                </a:lnTo>
                <a:lnTo>
                  <a:pt x="10548" y="6522"/>
                </a:lnTo>
                <a:lnTo>
                  <a:pt x="11289" y="5935"/>
                </a:lnTo>
                <a:lnTo>
                  <a:pt x="12047" y="5374"/>
                </a:lnTo>
                <a:lnTo>
                  <a:pt x="12822" y="4839"/>
                </a:lnTo>
                <a:lnTo>
                  <a:pt x="13613" y="4330"/>
                </a:lnTo>
                <a:lnTo>
                  <a:pt x="14418" y="3848"/>
                </a:lnTo>
                <a:lnTo>
                  <a:pt x="15239" y="3393"/>
                </a:lnTo>
                <a:lnTo>
                  <a:pt x="16073" y="2965"/>
                </a:lnTo>
                <a:lnTo>
                  <a:pt x="16920" y="2565"/>
                </a:lnTo>
                <a:lnTo>
                  <a:pt x="17779" y="2192"/>
                </a:lnTo>
                <a:lnTo>
                  <a:pt x="18650" y="1848"/>
                </a:lnTo>
                <a:lnTo>
                  <a:pt x="19532" y="1532"/>
                </a:lnTo>
                <a:lnTo>
                  <a:pt x="20424" y="1245"/>
                </a:lnTo>
                <a:lnTo>
                  <a:pt x="21326" y="987"/>
                </a:lnTo>
                <a:lnTo>
                  <a:pt x="22237" y="758"/>
                </a:lnTo>
                <a:lnTo>
                  <a:pt x="23155" y="559"/>
                </a:lnTo>
                <a:lnTo>
                  <a:pt x="24082" y="389"/>
                </a:lnTo>
                <a:lnTo>
                  <a:pt x="25015" y="250"/>
                </a:lnTo>
                <a:lnTo>
                  <a:pt x="25954" y="141"/>
                </a:lnTo>
                <a:lnTo>
                  <a:pt x="26898" y="63"/>
                </a:lnTo>
                <a:lnTo>
                  <a:pt x="27847" y="16"/>
                </a:lnTo>
                <a:lnTo>
                  <a:pt x="28800" y="0"/>
                </a:lnTo>
                <a:close/>
              </a:path>
            </a:pathLst>
          </a:custGeom>
          <a:solidFill>
            <a:srgbClr val="EEEEEE"/>
          </a:solidFill>
          <a:ln w="7620">
            <a:solidFill>
              <a:srgbClr val="333333"/>
            </a:solidFill>
            <a:prstDash val="solid"/>
          </a:ln>
        </p:spPr>
      </p:sp>
      <p:pic>
        <p:nvPicPr>
          <p:cNvPr id="263" name="图片 2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908" y="1513547"/>
            <a:ext cx="298901" cy="298901"/>
          </a:xfrm>
          <a:prstGeom prst="rect">
            <a:avLst/>
          </a:prstGeom>
        </p:spPr>
      </p:pic>
      <p:pic>
        <p:nvPicPr>
          <p:cNvPr id="264" name="图片 2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75" y="2028741"/>
            <a:ext cx="281144" cy="248591"/>
          </a:xfrm>
          <a:prstGeom prst="rect">
            <a:avLst/>
          </a:prstGeom>
        </p:spPr>
      </p:pic>
      <p:pic>
        <p:nvPicPr>
          <p:cNvPr id="265" name="图片 2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041" y="1621811"/>
            <a:ext cx="1154170" cy="674746"/>
          </a:xfrm>
          <a:prstGeom prst="rect">
            <a:avLst/>
          </a:prstGeom>
        </p:spPr>
      </p:pic>
      <p:pic>
        <p:nvPicPr>
          <p:cNvPr id="266" name="图片 2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0989" y="1500428"/>
            <a:ext cx="544532" cy="429115"/>
          </a:xfrm>
          <a:prstGeom prst="rect">
            <a:avLst/>
          </a:prstGeom>
        </p:spPr>
      </p:pic>
      <p:sp>
        <p:nvSpPr>
          <p:cNvPr id="14" name="b_vector_42"/>
          <p:cNvSpPr>
            <a:spLocks noGrp="1"/>
          </p:cNvSpPr>
          <p:nvPr/>
        </p:nvSpPr>
        <p:spPr>
          <a:xfrm>
            <a:off x="3327632" y="2099068"/>
            <a:ext cx="734027" cy="123"/>
          </a:xfrm>
          <a:custGeom>
            <a:avLst/>
            <a:gdLst/>
            <a:ahLst/>
            <a:cxnLst/>
            <a:pathLst>
              <a:path w="756000" h="127">
                <a:moveTo>
                  <a:pt x="0" y="0"/>
                </a:moveTo>
                <a:lnTo>
                  <a:pt x="756000" y="0"/>
                </a:lnTo>
              </a:path>
            </a:pathLst>
          </a:custGeom>
          <a:noFill/>
          <a:ln w="8890">
            <a:solidFill>
              <a:srgbClr val="333333"/>
            </a:solidFill>
            <a:prstDash val="dot"/>
          </a:ln>
        </p:spPr>
      </p:sp>
      <p:sp>
        <p:nvSpPr>
          <p:cNvPr id="15" name="b_vector_43"/>
          <p:cNvSpPr>
            <a:spLocks noGrp="1"/>
          </p:cNvSpPr>
          <p:nvPr/>
        </p:nvSpPr>
        <p:spPr>
          <a:xfrm>
            <a:off x="636199" y="2535989"/>
            <a:ext cx="943749" cy="174768"/>
          </a:xfrm>
          <a:custGeom>
            <a:avLst/>
            <a:gdLst/>
            <a:ahLst/>
            <a:cxnLst/>
            <a:pathLst>
              <a:path w="972000" h="180000">
                <a:moveTo>
                  <a:pt x="0" y="0"/>
                </a:moveTo>
                <a:lnTo>
                  <a:pt x="900000" y="0"/>
                </a:lnTo>
                <a:lnTo>
                  <a:pt x="972000" y="90000"/>
                </a:lnTo>
                <a:lnTo>
                  <a:pt x="900000" y="180000"/>
                </a:lnTo>
                <a:lnTo>
                  <a:pt x="0" y="180000"/>
                </a:lnTo>
                <a:lnTo>
                  <a:pt x="72000" y="90000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7620">
            <a:solidFill>
              <a:srgbClr val="4B4B4B"/>
            </a:solidFill>
            <a:prstDash val="solid"/>
          </a:ln>
        </p:spPr>
      </p:sp>
      <p:sp>
        <p:nvSpPr>
          <p:cNvPr id="16" name="b_vector_44"/>
          <p:cNvSpPr>
            <a:spLocks noGrp="1"/>
          </p:cNvSpPr>
          <p:nvPr/>
        </p:nvSpPr>
        <p:spPr>
          <a:xfrm>
            <a:off x="1510041" y="2535989"/>
            <a:ext cx="1607869" cy="174768"/>
          </a:xfrm>
          <a:custGeom>
            <a:avLst/>
            <a:gdLst/>
            <a:ahLst/>
            <a:cxnLst/>
            <a:pathLst>
              <a:path w="1656000" h="180000">
                <a:moveTo>
                  <a:pt x="0" y="0"/>
                </a:moveTo>
                <a:lnTo>
                  <a:pt x="1584000" y="0"/>
                </a:lnTo>
                <a:lnTo>
                  <a:pt x="1656000" y="90000"/>
                </a:lnTo>
                <a:lnTo>
                  <a:pt x="1584000" y="180000"/>
                </a:lnTo>
                <a:lnTo>
                  <a:pt x="0" y="180000"/>
                </a:lnTo>
                <a:lnTo>
                  <a:pt x="72000" y="90000"/>
                </a:lnTo>
                <a:lnTo>
                  <a:pt x="0" y="0"/>
                </a:lnTo>
                <a:close/>
              </a:path>
            </a:pathLst>
          </a:custGeom>
          <a:solidFill>
            <a:srgbClr val="DEDEDE"/>
          </a:solidFill>
          <a:ln w="7620">
            <a:solidFill>
              <a:srgbClr val="4B4B4B"/>
            </a:solidFill>
            <a:prstDash val="solid"/>
          </a:ln>
        </p:spPr>
      </p:sp>
      <p:sp>
        <p:nvSpPr>
          <p:cNvPr id="17" name="b_vector_45"/>
          <p:cNvSpPr>
            <a:spLocks noGrp="1"/>
          </p:cNvSpPr>
          <p:nvPr/>
        </p:nvSpPr>
        <p:spPr>
          <a:xfrm>
            <a:off x="3048002" y="2535989"/>
            <a:ext cx="1083564" cy="174768"/>
          </a:xfrm>
          <a:custGeom>
            <a:avLst/>
            <a:gdLst/>
            <a:ahLst/>
            <a:cxnLst/>
            <a:pathLst>
              <a:path w="1116000" h="180000">
                <a:moveTo>
                  <a:pt x="0" y="0"/>
                </a:moveTo>
                <a:lnTo>
                  <a:pt x="1044000" y="0"/>
                </a:lnTo>
                <a:lnTo>
                  <a:pt x="1116000" y="90000"/>
                </a:lnTo>
                <a:lnTo>
                  <a:pt x="1044000" y="180000"/>
                </a:lnTo>
                <a:lnTo>
                  <a:pt x="0" y="180000"/>
                </a:lnTo>
                <a:lnTo>
                  <a:pt x="72000" y="9000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7620">
            <a:solidFill>
              <a:srgbClr val="4B4B4B"/>
            </a:solidFill>
            <a:prstDash val="solid"/>
          </a:ln>
        </p:spPr>
      </p:sp>
      <p:sp>
        <p:nvSpPr>
          <p:cNvPr id="18" name="b_text_7"/>
          <p:cNvSpPr>
            <a:spLocks noGrp="1"/>
          </p:cNvSpPr>
          <p:nvPr/>
        </p:nvSpPr>
        <p:spPr>
          <a:xfrm>
            <a:off x="157338" y="1234757"/>
            <a:ext cx="99984" cy="1603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</a:t>
            </a:r>
            <a:endParaRPr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b_text_8"/>
          <p:cNvSpPr>
            <a:spLocks noGrp="1"/>
          </p:cNvSpPr>
          <p:nvPr/>
        </p:nvSpPr>
        <p:spPr>
          <a:xfrm>
            <a:off x="335597" y="1250787"/>
            <a:ext cx="1137416" cy="1282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News-reading fMRI task</a:t>
            </a:r>
            <a:endParaRPr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b_text_9"/>
          <p:cNvSpPr>
            <a:spLocks noGrp="1"/>
          </p:cNvSpPr>
          <p:nvPr/>
        </p:nvSpPr>
        <p:spPr>
          <a:xfrm>
            <a:off x="361077" y="1849064"/>
            <a:ext cx="553901" cy="1057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6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95 participants</a:t>
            </a:r>
            <a:endParaRPr sz="68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b_text_10"/>
          <p:cNvSpPr>
            <a:spLocks noGrp="1"/>
          </p:cNvSpPr>
          <p:nvPr/>
        </p:nvSpPr>
        <p:spPr>
          <a:xfrm>
            <a:off x="440262" y="2324247"/>
            <a:ext cx="395528" cy="1057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6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96 articles</a:t>
            </a:r>
            <a:endParaRPr sz="68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b_vector_46"/>
          <p:cNvSpPr>
            <a:spLocks noGrp="1"/>
          </p:cNvSpPr>
          <p:nvPr/>
        </p:nvSpPr>
        <p:spPr>
          <a:xfrm>
            <a:off x="1090597" y="1994207"/>
            <a:ext cx="370015" cy="123"/>
          </a:xfrm>
          <a:custGeom>
            <a:avLst/>
            <a:gdLst/>
            <a:ahLst/>
            <a:cxnLst/>
            <a:pathLst>
              <a:path w="381091" h="127">
                <a:moveTo>
                  <a:pt x="0" y="0"/>
                </a:moveTo>
                <a:lnTo>
                  <a:pt x="16474" y="0"/>
                </a:lnTo>
                <a:lnTo>
                  <a:pt x="32896" y="0"/>
                </a:lnTo>
                <a:lnTo>
                  <a:pt x="49267" y="0"/>
                </a:lnTo>
                <a:lnTo>
                  <a:pt x="65586" y="0"/>
                </a:lnTo>
                <a:lnTo>
                  <a:pt x="81853" y="0"/>
                </a:lnTo>
                <a:lnTo>
                  <a:pt x="98068" y="0"/>
                </a:lnTo>
                <a:lnTo>
                  <a:pt x="114232" y="0"/>
                </a:lnTo>
                <a:lnTo>
                  <a:pt x="130343" y="0"/>
                </a:lnTo>
                <a:lnTo>
                  <a:pt x="146403" y="0"/>
                </a:lnTo>
                <a:lnTo>
                  <a:pt x="162412" y="0"/>
                </a:lnTo>
                <a:lnTo>
                  <a:pt x="178368" y="0"/>
                </a:lnTo>
                <a:lnTo>
                  <a:pt x="194273" y="0"/>
                </a:lnTo>
                <a:lnTo>
                  <a:pt x="210126" y="0"/>
                </a:lnTo>
                <a:lnTo>
                  <a:pt x="225927" y="0"/>
                </a:lnTo>
                <a:lnTo>
                  <a:pt x="241676" y="0"/>
                </a:lnTo>
                <a:lnTo>
                  <a:pt x="257374" y="0"/>
                </a:lnTo>
                <a:lnTo>
                  <a:pt x="273020" y="0"/>
                </a:lnTo>
                <a:lnTo>
                  <a:pt x="288614" y="0"/>
                </a:lnTo>
                <a:lnTo>
                  <a:pt x="304156" y="0"/>
                </a:lnTo>
                <a:lnTo>
                  <a:pt x="319647" y="0"/>
                </a:lnTo>
                <a:lnTo>
                  <a:pt x="335085" y="0"/>
                </a:lnTo>
                <a:lnTo>
                  <a:pt x="350472" y="0"/>
                </a:lnTo>
                <a:lnTo>
                  <a:pt x="365808" y="0"/>
                </a:lnTo>
                <a:lnTo>
                  <a:pt x="381091" y="0"/>
                </a:lnTo>
              </a:path>
            </a:pathLst>
          </a:custGeom>
          <a:noFill/>
          <a:ln w="13335">
            <a:solidFill>
              <a:srgbClr val="AFAFAF"/>
            </a:solidFill>
            <a:prstDash val="solid"/>
          </a:ln>
        </p:spPr>
      </p:sp>
      <p:sp>
        <p:nvSpPr>
          <p:cNvPr id="23" name="b_vector_47"/>
          <p:cNvSpPr>
            <a:spLocks noGrp="1"/>
          </p:cNvSpPr>
          <p:nvPr/>
        </p:nvSpPr>
        <p:spPr>
          <a:xfrm>
            <a:off x="1421153" y="1974478"/>
            <a:ext cx="39459" cy="39459"/>
          </a:xfrm>
          <a:custGeom>
            <a:avLst/>
            <a:gdLst/>
            <a:ahLst/>
            <a:cxnLst/>
            <a:pathLst>
              <a:path w="40640" h="40640">
                <a:moveTo>
                  <a:pt x="0" y="0"/>
                </a:moveTo>
                <a:lnTo>
                  <a:pt x="40640" y="2032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AFAFAF"/>
          </a:solidFill>
          <a:ln w="13335">
            <a:solidFill>
              <a:srgbClr val="AFAFAF"/>
            </a:solidFill>
            <a:prstDash val="solid"/>
          </a:ln>
        </p:spPr>
      </p:sp>
      <p:sp>
        <p:nvSpPr>
          <p:cNvPr id="24" name="b_text_11"/>
          <p:cNvSpPr>
            <a:spLocks noGrp="1"/>
          </p:cNvSpPr>
          <p:nvPr/>
        </p:nvSpPr>
        <p:spPr>
          <a:xfrm>
            <a:off x="1746847" y="2325212"/>
            <a:ext cx="739305" cy="1057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6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fMRI during reading</a:t>
            </a:r>
            <a:endParaRPr sz="68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b_vector_48"/>
          <p:cNvSpPr>
            <a:spLocks noGrp="1"/>
          </p:cNvSpPr>
          <p:nvPr/>
        </p:nvSpPr>
        <p:spPr>
          <a:xfrm>
            <a:off x="2733419" y="2064114"/>
            <a:ext cx="404968" cy="123"/>
          </a:xfrm>
          <a:custGeom>
            <a:avLst/>
            <a:gdLst/>
            <a:ahLst/>
            <a:cxnLst/>
            <a:pathLst>
              <a:path w="417091" h="127">
                <a:moveTo>
                  <a:pt x="0" y="0"/>
                </a:moveTo>
                <a:lnTo>
                  <a:pt x="17974" y="0"/>
                </a:lnTo>
                <a:lnTo>
                  <a:pt x="35896" y="0"/>
                </a:lnTo>
                <a:lnTo>
                  <a:pt x="53767" y="0"/>
                </a:lnTo>
                <a:lnTo>
                  <a:pt x="71586" y="0"/>
                </a:lnTo>
                <a:lnTo>
                  <a:pt x="89353" y="0"/>
                </a:lnTo>
                <a:lnTo>
                  <a:pt x="107068" y="0"/>
                </a:lnTo>
                <a:lnTo>
                  <a:pt x="124732" y="0"/>
                </a:lnTo>
                <a:lnTo>
                  <a:pt x="142343" y="0"/>
                </a:lnTo>
                <a:lnTo>
                  <a:pt x="159903" y="0"/>
                </a:lnTo>
                <a:lnTo>
                  <a:pt x="177412" y="0"/>
                </a:lnTo>
                <a:lnTo>
                  <a:pt x="194868" y="0"/>
                </a:lnTo>
                <a:lnTo>
                  <a:pt x="212273" y="0"/>
                </a:lnTo>
                <a:lnTo>
                  <a:pt x="229626" y="0"/>
                </a:lnTo>
                <a:lnTo>
                  <a:pt x="246927" y="0"/>
                </a:lnTo>
                <a:lnTo>
                  <a:pt x="264176" y="0"/>
                </a:lnTo>
                <a:lnTo>
                  <a:pt x="281374" y="0"/>
                </a:lnTo>
                <a:lnTo>
                  <a:pt x="298520" y="0"/>
                </a:lnTo>
                <a:lnTo>
                  <a:pt x="315614" y="0"/>
                </a:lnTo>
                <a:lnTo>
                  <a:pt x="332656" y="0"/>
                </a:lnTo>
                <a:lnTo>
                  <a:pt x="349647" y="0"/>
                </a:lnTo>
                <a:lnTo>
                  <a:pt x="366585" y="0"/>
                </a:lnTo>
                <a:lnTo>
                  <a:pt x="383472" y="0"/>
                </a:lnTo>
                <a:lnTo>
                  <a:pt x="400308" y="0"/>
                </a:lnTo>
                <a:lnTo>
                  <a:pt x="417091" y="0"/>
                </a:lnTo>
              </a:path>
            </a:pathLst>
          </a:custGeom>
          <a:noFill/>
          <a:ln w="13335">
            <a:solidFill>
              <a:srgbClr val="AFAFAF"/>
            </a:solidFill>
            <a:prstDash val="solid"/>
          </a:ln>
        </p:spPr>
      </p:sp>
      <p:sp>
        <p:nvSpPr>
          <p:cNvPr id="26" name="b_vector_49"/>
          <p:cNvSpPr>
            <a:spLocks noGrp="1"/>
          </p:cNvSpPr>
          <p:nvPr/>
        </p:nvSpPr>
        <p:spPr>
          <a:xfrm>
            <a:off x="3098929" y="2044385"/>
            <a:ext cx="39459" cy="39459"/>
          </a:xfrm>
          <a:custGeom>
            <a:avLst/>
            <a:gdLst/>
            <a:ahLst/>
            <a:cxnLst/>
            <a:pathLst>
              <a:path w="40640" h="40640">
                <a:moveTo>
                  <a:pt x="0" y="0"/>
                </a:moveTo>
                <a:lnTo>
                  <a:pt x="40640" y="2032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AFAFAF"/>
          </a:solidFill>
          <a:ln w="13335">
            <a:solidFill>
              <a:srgbClr val="AFAFAF"/>
            </a:solidFill>
            <a:prstDash val="solid"/>
          </a:ln>
        </p:spPr>
      </p:sp>
      <p:sp>
        <p:nvSpPr>
          <p:cNvPr id="27" name="b_text_12"/>
          <p:cNvSpPr>
            <a:spLocks noGrp="1"/>
          </p:cNvSpPr>
          <p:nvPr/>
        </p:nvSpPr>
        <p:spPr>
          <a:xfrm>
            <a:off x="3292678" y="1864030"/>
            <a:ext cx="72667" cy="1122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68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b_text_13"/>
          <p:cNvSpPr>
            <a:spLocks noGrp="1"/>
          </p:cNvSpPr>
          <p:nvPr/>
        </p:nvSpPr>
        <p:spPr>
          <a:xfrm>
            <a:off x="4048642" y="1864030"/>
            <a:ext cx="72667" cy="1122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68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b_vector_50"/>
          <p:cNvSpPr>
            <a:spLocks noGrp="1"/>
          </p:cNvSpPr>
          <p:nvPr/>
        </p:nvSpPr>
        <p:spPr>
          <a:xfrm>
            <a:off x="3956798" y="2099068"/>
            <a:ext cx="95211" cy="123"/>
          </a:xfrm>
          <a:custGeom>
            <a:avLst/>
            <a:gdLst/>
            <a:ahLst/>
            <a:cxnLst/>
            <a:pathLst>
              <a:path w="98061" h="127">
                <a:moveTo>
                  <a:pt x="0" y="0"/>
                </a:moveTo>
                <a:lnTo>
                  <a:pt x="4483" y="0"/>
                </a:lnTo>
                <a:lnTo>
                  <a:pt x="8931" y="0"/>
                </a:lnTo>
                <a:lnTo>
                  <a:pt x="13345" y="0"/>
                </a:lnTo>
                <a:lnTo>
                  <a:pt x="17724" y="0"/>
                </a:lnTo>
                <a:lnTo>
                  <a:pt x="22069" y="0"/>
                </a:lnTo>
                <a:lnTo>
                  <a:pt x="26379" y="0"/>
                </a:lnTo>
                <a:lnTo>
                  <a:pt x="30655" y="0"/>
                </a:lnTo>
                <a:lnTo>
                  <a:pt x="34896" y="0"/>
                </a:lnTo>
                <a:lnTo>
                  <a:pt x="39102" y="0"/>
                </a:lnTo>
                <a:lnTo>
                  <a:pt x="43274" y="0"/>
                </a:lnTo>
                <a:lnTo>
                  <a:pt x="47412" y="0"/>
                </a:lnTo>
                <a:lnTo>
                  <a:pt x="51515" y="0"/>
                </a:lnTo>
                <a:lnTo>
                  <a:pt x="55584" y="0"/>
                </a:lnTo>
                <a:lnTo>
                  <a:pt x="59618" y="0"/>
                </a:lnTo>
                <a:lnTo>
                  <a:pt x="63617" y="0"/>
                </a:lnTo>
                <a:lnTo>
                  <a:pt x="67583" y="0"/>
                </a:lnTo>
                <a:lnTo>
                  <a:pt x="71513" y="0"/>
                </a:lnTo>
                <a:lnTo>
                  <a:pt x="75409" y="0"/>
                </a:lnTo>
                <a:lnTo>
                  <a:pt x="79271" y="0"/>
                </a:lnTo>
                <a:lnTo>
                  <a:pt x="83098" y="0"/>
                </a:lnTo>
                <a:lnTo>
                  <a:pt x="86890" y="0"/>
                </a:lnTo>
                <a:lnTo>
                  <a:pt x="90648" y="0"/>
                </a:lnTo>
                <a:lnTo>
                  <a:pt x="94372" y="0"/>
                </a:lnTo>
                <a:lnTo>
                  <a:pt x="98061" y="0"/>
                </a:lnTo>
              </a:path>
            </a:pathLst>
          </a:custGeom>
          <a:noFill/>
          <a:ln w="8890">
            <a:solidFill>
              <a:srgbClr val="333333"/>
            </a:solidFill>
            <a:prstDash val="solid"/>
          </a:ln>
        </p:spPr>
      </p:sp>
      <p:sp>
        <p:nvSpPr>
          <p:cNvPr id="30" name="b_vector_51"/>
          <p:cNvSpPr>
            <a:spLocks noGrp="1"/>
          </p:cNvSpPr>
          <p:nvPr/>
        </p:nvSpPr>
        <p:spPr>
          <a:xfrm>
            <a:off x="4027347" y="2086737"/>
            <a:ext cx="24662" cy="24662"/>
          </a:xfrm>
          <a:custGeom>
            <a:avLst/>
            <a:gdLst/>
            <a:ahLst/>
            <a:cxnLst/>
            <a:pathLst>
              <a:path w="25400" h="25400">
                <a:moveTo>
                  <a:pt x="0" y="0"/>
                </a:moveTo>
                <a:lnTo>
                  <a:pt x="25400" y="127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8890">
            <a:solidFill>
              <a:srgbClr val="333333"/>
            </a:solidFill>
            <a:prstDash val="solid"/>
          </a:ln>
        </p:spPr>
      </p:sp>
      <p:sp>
        <p:nvSpPr>
          <p:cNvPr id="31" name="b_text_14"/>
          <p:cNvSpPr>
            <a:spLocks noGrp="1"/>
          </p:cNvSpPr>
          <p:nvPr/>
        </p:nvSpPr>
        <p:spPr>
          <a:xfrm>
            <a:off x="3243355" y="2151052"/>
            <a:ext cx="160364" cy="961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3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Low</a:t>
            </a:r>
            <a:endParaRPr sz="63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b_text_15"/>
          <p:cNvSpPr>
            <a:spLocks noGrp="1"/>
          </p:cNvSpPr>
          <p:nvPr/>
        </p:nvSpPr>
        <p:spPr>
          <a:xfrm>
            <a:off x="3964751" y="2151052"/>
            <a:ext cx="176787" cy="961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3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High</a:t>
            </a:r>
            <a:endParaRPr sz="63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b_text_16"/>
          <p:cNvSpPr>
            <a:spLocks noGrp="1"/>
          </p:cNvSpPr>
          <p:nvPr/>
        </p:nvSpPr>
        <p:spPr>
          <a:xfrm>
            <a:off x="3378200" y="2324100"/>
            <a:ext cx="657860" cy="106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63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ym typeface="+mn-ea"/>
              </a:rPr>
              <a:t>Intention to read full article</a:t>
            </a:r>
            <a:endParaRPr sz="68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b_text_17"/>
          <p:cNvSpPr>
            <a:spLocks noGrp="1"/>
          </p:cNvSpPr>
          <p:nvPr/>
        </p:nvSpPr>
        <p:spPr>
          <a:xfrm>
            <a:off x="286427" y="2565076"/>
            <a:ext cx="175200" cy="1025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4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Trial</a:t>
            </a:r>
            <a:endParaRPr sz="68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" name="b_text_18"/>
          <p:cNvSpPr>
            <a:spLocks noGrp="1"/>
          </p:cNvSpPr>
          <p:nvPr/>
        </p:nvSpPr>
        <p:spPr>
          <a:xfrm>
            <a:off x="917641" y="2568577"/>
            <a:ext cx="300965" cy="1025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4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Fixation</a:t>
            </a:r>
            <a:endParaRPr sz="68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b_text_19"/>
          <p:cNvSpPr>
            <a:spLocks noGrp="1"/>
          </p:cNvSpPr>
          <p:nvPr/>
        </p:nvSpPr>
        <p:spPr>
          <a:xfrm>
            <a:off x="2042819" y="2568577"/>
            <a:ext cx="463050" cy="1025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4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News (fMRI)</a:t>
            </a:r>
            <a:endParaRPr sz="68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b_text_20"/>
          <p:cNvSpPr>
            <a:spLocks noGrp="1"/>
          </p:cNvSpPr>
          <p:nvPr/>
        </p:nvSpPr>
        <p:spPr>
          <a:xfrm>
            <a:off x="3320459" y="2568577"/>
            <a:ext cx="458867" cy="1025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4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Rating (1–4)</a:t>
            </a:r>
            <a:endParaRPr sz="68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c_vector_52"/>
          <p:cNvSpPr>
            <a:spLocks noGrp="1"/>
          </p:cNvSpPr>
          <p:nvPr/>
        </p:nvSpPr>
        <p:spPr>
          <a:xfrm>
            <a:off x="111894" y="2867414"/>
            <a:ext cx="4159487" cy="1363193"/>
          </a:xfrm>
          <a:custGeom>
            <a:avLst/>
            <a:gdLst/>
            <a:ahLst/>
            <a:cxnLst/>
            <a:pathLst>
              <a:path w="4284000" h="1404000">
                <a:moveTo>
                  <a:pt x="72000" y="0"/>
                </a:moveTo>
                <a:lnTo>
                  <a:pt x="4212000" y="0"/>
                </a:lnTo>
                <a:lnTo>
                  <a:pt x="4217875" y="125"/>
                </a:lnTo>
                <a:lnTo>
                  <a:pt x="4223500" y="500"/>
                </a:lnTo>
                <a:lnTo>
                  <a:pt x="4228875" y="1125"/>
                </a:lnTo>
                <a:lnTo>
                  <a:pt x="4234000" y="2000"/>
                </a:lnTo>
                <a:lnTo>
                  <a:pt x="4238875" y="3125"/>
                </a:lnTo>
                <a:lnTo>
                  <a:pt x="4243500" y="4500"/>
                </a:lnTo>
                <a:lnTo>
                  <a:pt x="4247875" y="6125"/>
                </a:lnTo>
                <a:lnTo>
                  <a:pt x="4252000" y="8000"/>
                </a:lnTo>
                <a:lnTo>
                  <a:pt x="4255875" y="10125"/>
                </a:lnTo>
                <a:lnTo>
                  <a:pt x="4259500" y="12500"/>
                </a:lnTo>
                <a:lnTo>
                  <a:pt x="4262875" y="15125"/>
                </a:lnTo>
                <a:lnTo>
                  <a:pt x="4266000" y="18000"/>
                </a:lnTo>
                <a:lnTo>
                  <a:pt x="4268875" y="21125"/>
                </a:lnTo>
                <a:lnTo>
                  <a:pt x="4271500" y="24500"/>
                </a:lnTo>
                <a:lnTo>
                  <a:pt x="4273875" y="28125"/>
                </a:lnTo>
                <a:lnTo>
                  <a:pt x="4276000" y="32000"/>
                </a:lnTo>
                <a:lnTo>
                  <a:pt x="4277875" y="36125"/>
                </a:lnTo>
                <a:lnTo>
                  <a:pt x="4279500" y="40500"/>
                </a:lnTo>
                <a:lnTo>
                  <a:pt x="4280875" y="45125"/>
                </a:lnTo>
                <a:lnTo>
                  <a:pt x="4282000" y="50000"/>
                </a:lnTo>
                <a:lnTo>
                  <a:pt x="4282875" y="55125"/>
                </a:lnTo>
                <a:lnTo>
                  <a:pt x="4283500" y="60500"/>
                </a:lnTo>
                <a:lnTo>
                  <a:pt x="4283875" y="66125"/>
                </a:lnTo>
                <a:lnTo>
                  <a:pt x="4284000" y="72000"/>
                </a:lnTo>
                <a:lnTo>
                  <a:pt x="4284000" y="1332000"/>
                </a:lnTo>
                <a:lnTo>
                  <a:pt x="4283875" y="1337875"/>
                </a:lnTo>
                <a:lnTo>
                  <a:pt x="4283500" y="1343500"/>
                </a:lnTo>
                <a:lnTo>
                  <a:pt x="4282875" y="1348875"/>
                </a:lnTo>
                <a:lnTo>
                  <a:pt x="4282000" y="1354000"/>
                </a:lnTo>
                <a:lnTo>
                  <a:pt x="4280875" y="1358875"/>
                </a:lnTo>
                <a:lnTo>
                  <a:pt x="4279500" y="1363500"/>
                </a:lnTo>
                <a:lnTo>
                  <a:pt x="4277875" y="1367875"/>
                </a:lnTo>
                <a:lnTo>
                  <a:pt x="4276000" y="1372000"/>
                </a:lnTo>
                <a:lnTo>
                  <a:pt x="4273875" y="1375875"/>
                </a:lnTo>
                <a:lnTo>
                  <a:pt x="4271500" y="1379500"/>
                </a:lnTo>
                <a:lnTo>
                  <a:pt x="4268875" y="1382875"/>
                </a:lnTo>
                <a:lnTo>
                  <a:pt x="4266000" y="1386000"/>
                </a:lnTo>
                <a:lnTo>
                  <a:pt x="4262875" y="1388875"/>
                </a:lnTo>
                <a:lnTo>
                  <a:pt x="4259500" y="1391500"/>
                </a:lnTo>
                <a:lnTo>
                  <a:pt x="4255875" y="1393875"/>
                </a:lnTo>
                <a:lnTo>
                  <a:pt x="4252000" y="1396000"/>
                </a:lnTo>
                <a:lnTo>
                  <a:pt x="4247875" y="1397875"/>
                </a:lnTo>
                <a:lnTo>
                  <a:pt x="4243500" y="1399500"/>
                </a:lnTo>
                <a:lnTo>
                  <a:pt x="4238875" y="1400875"/>
                </a:lnTo>
                <a:lnTo>
                  <a:pt x="4234000" y="1402000"/>
                </a:lnTo>
                <a:lnTo>
                  <a:pt x="4228875" y="1402875"/>
                </a:lnTo>
                <a:lnTo>
                  <a:pt x="4223500" y="1403500"/>
                </a:lnTo>
                <a:lnTo>
                  <a:pt x="4217875" y="1403875"/>
                </a:lnTo>
                <a:lnTo>
                  <a:pt x="4212000" y="1404000"/>
                </a:lnTo>
                <a:lnTo>
                  <a:pt x="72000" y="1404000"/>
                </a:lnTo>
                <a:lnTo>
                  <a:pt x="66125" y="1403875"/>
                </a:lnTo>
                <a:lnTo>
                  <a:pt x="60500" y="1403500"/>
                </a:lnTo>
                <a:lnTo>
                  <a:pt x="55125" y="1402875"/>
                </a:lnTo>
                <a:lnTo>
                  <a:pt x="50000" y="1402000"/>
                </a:lnTo>
                <a:lnTo>
                  <a:pt x="45125" y="1400875"/>
                </a:lnTo>
                <a:lnTo>
                  <a:pt x="40500" y="1399500"/>
                </a:lnTo>
                <a:lnTo>
                  <a:pt x="36125" y="1397875"/>
                </a:lnTo>
                <a:lnTo>
                  <a:pt x="32000" y="1396000"/>
                </a:lnTo>
                <a:lnTo>
                  <a:pt x="28125" y="1393875"/>
                </a:lnTo>
                <a:lnTo>
                  <a:pt x="24500" y="1391500"/>
                </a:lnTo>
                <a:lnTo>
                  <a:pt x="21125" y="1388875"/>
                </a:lnTo>
                <a:lnTo>
                  <a:pt x="18000" y="1386000"/>
                </a:lnTo>
                <a:lnTo>
                  <a:pt x="15125" y="1382875"/>
                </a:lnTo>
                <a:lnTo>
                  <a:pt x="12500" y="1379500"/>
                </a:lnTo>
                <a:lnTo>
                  <a:pt x="10125" y="1375875"/>
                </a:lnTo>
                <a:lnTo>
                  <a:pt x="8000" y="1372000"/>
                </a:lnTo>
                <a:lnTo>
                  <a:pt x="6125" y="1367875"/>
                </a:lnTo>
                <a:lnTo>
                  <a:pt x="4500" y="1363500"/>
                </a:lnTo>
                <a:lnTo>
                  <a:pt x="3125" y="1358875"/>
                </a:lnTo>
                <a:lnTo>
                  <a:pt x="2000" y="1354000"/>
                </a:lnTo>
                <a:lnTo>
                  <a:pt x="1125" y="1348875"/>
                </a:lnTo>
                <a:lnTo>
                  <a:pt x="500" y="1343500"/>
                </a:lnTo>
                <a:lnTo>
                  <a:pt x="125" y="1337875"/>
                </a:lnTo>
                <a:lnTo>
                  <a:pt x="0" y="1332000"/>
                </a:lnTo>
                <a:lnTo>
                  <a:pt x="0" y="72000"/>
                </a:lnTo>
                <a:lnTo>
                  <a:pt x="125" y="66125"/>
                </a:lnTo>
                <a:lnTo>
                  <a:pt x="500" y="60500"/>
                </a:lnTo>
                <a:lnTo>
                  <a:pt x="1125" y="55125"/>
                </a:lnTo>
                <a:lnTo>
                  <a:pt x="2000" y="50000"/>
                </a:lnTo>
                <a:lnTo>
                  <a:pt x="3125" y="45125"/>
                </a:lnTo>
                <a:lnTo>
                  <a:pt x="4500" y="40500"/>
                </a:lnTo>
                <a:lnTo>
                  <a:pt x="6125" y="36125"/>
                </a:lnTo>
                <a:lnTo>
                  <a:pt x="8000" y="32000"/>
                </a:lnTo>
                <a:lnTo>
                  <a:pt x="10125" y="28125"/>
                </a:lnTo>
                <a:lnTo>
                  <a:pt x="12500" y="24500"/>
                </a:lnTo>
                <a:lnTo>
                  <a:pt x="15125" y="21125"/>
                </a:lnTo>
                <a:lnTo>
                  <a:pt x="18000" y="18000"/>
                </a:lnTo>
                <a:lnTo>
                  <a:pt x="21125" y="15125"/>
                </a:lnTo>
                <a:lnTo>
                  <a:pt x="24500" y="12500"/>
                </a:lnTo>
                <a:lnTo>
                  <a:pt x="28125" y="10125"/>
                </a:lnTo>
                <a:lnTo>
                  <a:pt x="32000" y="8000"/>
                </a:lnTo>
                <a:lnTo>
                  <a:pt x="36125" y="6125"/>
                </a:lnTo>
                <a:lnTo>
                  <a:pt x="40500" y="4500"/>
                </a:lnTo>
                <a:lnTo>
                  <a:pt x="45125" y="3125"/>
                </a:lnTo>
                <a:lnTo>
                  <a:pt x="50000" y="2000"/>
                </a:lnTo>
                <a:lnTo>
                  <a:pt x="55125" y="1125"/>
                </a:lnTo>
                <a:lnTo>
                  <a:pt x="60500" y="500"/>
                </a:lnTo>
                <a:lnTo>
                  <a:pt x="66125" y="125"/>
                </a:lnTo>
                <a:lnTo>
                  <a:pt x="72000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  <a:prstDash val="solid"/>
          </a:ln>
        </p:spPr>
      </p:sp>
      <p:sp>
        <p:nvSpPr>
          <p:cNvPr id="39" name="c_vector_53"/>
          <p:cNvSpPr>
            <a:spLocks noGrp="1"/>
          </p:cNvSpPr>
          <p:nvPr/>
        </p:nvSpPr>
        <p:spPr>
          <a:xfrm>
            <a:off x="880875" y="3722566"/>
            <a:ext cx="83889" cy="34954"/>
          </a:xfrm>
          <a:custGeom>
            <a:avLst/>
            <a:gdLst/>
            <a:ahLst/>
            <a:cxnLst/>
            <a:pathLst>
              <a:path w="86400" h="36000">
                <a:moveTo>
                  <a:pt x="0" y="36000"/>
                </a:moveTo>
                <a:lnTo>
                  <a:pt x="86400" y="36000"/>
                </a:lnTo>
                <a:lnTo>
                  <a:pt x="86400" y="0"/>
                </a:lnTo>
                <a:lnTo>
                  <a:pt x="0" y="36000"/>
                </a:lnTo>
                <a:close/>
              </a:path>
            </a:pathLst>
          </a:custGeom>
          <a:solidFill>
            <a:srgbClr val="BBBBBB"/>
          </a:solidFill>
          <a:ln w="6985">
            <a:solidFill>
              <a:srgbClr val="333333"/>
            </a:solidFill>
            <a:prstDash val="solid"/>
          </a:ln>
        </p:spPr>
      </p:sp>
      <p:sp>
        <p:nvSpPr>
          <p:cNvPr id="40" name="c_vector_54"/>
          <p:cNvSpPr>
            <a:spLocks noGrp="1"/>
          </p:cNvSpPr>
          <p:nvPr/>
        </p:nvSpPr>
        <p:spPr>
          <a:xfrm>
            <a:off x="980493" y="3698099"/>
            <a:ext cx="83889" cy="59421"/>
          </a:xfrm>
          <a:custGeom>
            <a:avLst/>
            <a:gdLst/>
            <a:ahLst/>
            <a:cxnLst/>
            <a:pathLst>
              <a:path w="86400" h="61200">
                <a:moveTo>
                  <a:pt x="0" y="61200"/>
                </a:moveTo>
                <a:lnTo>
                  <a:pt x="86400" y="61200"/>
                </a:lnTo>
                <a:lnTo>
                  <a:pt x="86400" y="0"/>
                </a:lnTo>
                <a:lnTo>
                  <a:pt x="0" y="61200"/>
                </a:lnTo>
                <a:close/>
              </a:path>
            </a:pathLst>
          </a:custGeom>
          <a:solidFill>
            <a:srgbClr val="BBBBBB"/>
          </a:solidFill>
          <a:ln w="6985">
            <a:solidFill>
              <a:srgbClr val="333333"/>
            </a:solidFill>
            <a:prstDash val="solid"/>
          </a:ln>
        </p:spPr>
      </p:sp>
      <p:sp>
        <p:nvSpPr>
          <p:cNvPr id="41" name="c_vector_55"/>
          <p:cNvSpPr>
            <a:spLocks noGrp="1"/>
          </p:cNvSpPr>
          <p:nvPr/>
        </p:nvSpPr>
        <p:spPr>
          <a:xfrm>
            <a:off x="1080111" y="3673631"/>
            <a:ext cx="83889" cy="83889"/>
          </a:xfrm>
          <a:custGeom>
            <a:avLst/>
            <a:gdLst/>
            <a:ahLst/>
            <a:cxnLst/>
            <a:pathLst>
              <a:path w="86400" h="86400">
                <a:moveTo>
                  <a:pt x="0" y="86400"/>
                </a:moveTo>
                <a:lnTo>
                  <a:pt x="86400" y="86400"/>
                </a:lnTo>
                <a:lnTo>
                  <a:pt x="86400" y="0"/>
                </a:lnTo>
                <a:lnTo>
                  <a:pt x="0" y="86400"/>
                </a:lnTo>
                <a:close/>
              </a:path>
            </a:pathLst>
          </a:custGeom>
          <a:solidFill>
            <a:srgbClr val="BBBBBB"/>
          </a:solidFill>
          <a:ln w="6985">
            <a:solidFill>
              <a:srgbClr val="333333"/>
            </a:solidFill>
            <a:prstDash val="solid"/>
          </a:ln>
        </p:spPr>
      </p:sp>
      <p:sp>
        <p:nvSpPr>
          <p:cNvPr id="42" name="c_vector_56"/>
          <p:cNvSpPr>
            <a:spLocks noGrp="1"/>
          </p:cNvSpPr>
          <p:nvPr/>
        </p:nvSpPr>
        <p:spPr>
          <a:xfrm>
            <a:off x="783004" y="3869372"/>
            <a:ext cx="55926" cy="55926"/>
          </a:xfrm>
          <a:custGeom>
            <a:avLst/>
            <a:gdLst/>
            <a:ahLst/>
            <a:cxnLst/>
            <a:pathLst>
              <a:path w="57600" h="57600">
                <a:moveTo>
                  <a:pt x="28800" y="0"/>
                </a:moveTo>
                <a:lnTo>
                  <a:pt x="29753" y="16"/>
                </a:lnTo>
                <a:lnTo>
                  <a:pt x="30702" y="63"/>
                </a:lnTo>
                <a:lnTo>
                  <a:pt x="31646" y="141"/>
                </a:lnTo>
                <a:lnTo>
                  <a:pt x="32586" y="250"/>
                </a:lnTo>
                <a:lnTo>
                  <a:pt x="33519" y="389"/>
                </a:lnTo>
                <a:lnTo>
                  <a:pt x="34445" y="558"/>
                </a:lnTo>
                <a:lnTo>
                  <a:pt x="35364" y="758"/>
                </a:lnTo>
                <a:lnTo>
                  <a:pt x="36274" y="987"/>
                </a:lnTo>
                <a:lnTo>
                  <a:pt x="37176" y="1245"/>
                </a:lnTo>
                <a:lnTo>
                  <a:pt x="38068" y="1532"/>
                </a:lnTo>
                <a:lnTo>
                  <a:pt x="38950" y="1848"/>
                </a:lnTo>
                <a:lnTo>
                  <a:pt x="39821" y="2192"/>
                </a:lnTo>
                <a:lnTo>
                  <a:pt x="40681" y="2565"/>
                </a:lnTo>
                <a:lnTo>
                  <a:pt x="41528" y="2965"/>
                </a:lnTo>
                <a:lnTo>
                  <a:pt x="42362" y="3393"/>
                </a:lnTo>
                <a:lnTo>
                  <a:pt x="43182" y="3848"/>
                </a:lnTo>
                <a:lnTo>
                  <a:pt x="43988" y="4330"/>
                </a:lnTo>
                <a:lnTo>
                  <a:pt x="44778" y="4839"/>
                </a:lnTo>
                <a:lnTo>
                  <a:pt x="45553" y="5374"/>
                </a:lnTo>
                <a:lnTo>
                  <a:pt x="46311" y="5935"/>
                </a:lnTo>
                <a:lnTo>
                  <a:pt x="47052" y="6522"/>
                </a:lnTo>
                <a:lnTo>
                  <a:pt x="47775" y="7135"/>
                </a:lnTo>
                <a:lnTo>
                  <a:pt x="48480" y="7772"/>
                </a:lnTo>
                <a:lnTo>
                  <a:pt x="49165" y="8435"/>
                </a:lnTo>
                <a:lnTo>
                  <a:pt x="49827" y="9120"/>
                </a:lnTo>
                <a:lnTo>
                  <a:pt x="50465" y="9825"/>
                </a:lnTo>
                <a:lnTo>
                  <a:pt x="51078" y="10548"/>
                </a:lnTo>
                <a:lnTo>
                  <a:pt x="51665" y="11289"/>
                </a:lnTo>
                <a:lnTo>
                  <a:pt x="52226" y="12047"/>
                </a:lnTo>
                <a:lnTo>
                  <a:pt x="52761" y="12822"/>
                </a:lnTo>
                <a:lnTo>
                  <a:pt x="53270" y="13612"/>
                </a:lnTo>
                <a:lnTo>
                  <a:pt x="53752" y="14418"/>
                </a:lnTo>
                <a:lnTo>
                  <a:pt x="54207" y="15238"/>
                </a:lnTo>
                <a:lnTo>
                  <a:pt x="54635" y="16072"/>
                </a:lnTo>
                <a:lnTo>
                  <a:pt x="55035" y="16919"/>
                </a:lnTo>
                <a:lnTo>
                  <a:pt x="55408" y="17779"/>
                </a:lnTo>
                <a:lnTo>
                  <a:pt x="55752" y="18650"/>
                </a:lnTo>
                <a:lnTo>
                  <a:pt x="56068" y="19532"/>
                </a:lnTo>
                <a:lnTo>
                  <a:pt x="56355" y="20424"/>
                </a:lnTo>
                <a:lnTo>
                  <a:pt x="56613" y="21326"/>
                </a:lnTo>
                <a:lnTo>
                  <a:pt x="56842" y="22236"/>
                </a:lnTo>
                <a:lnTo>
                  <a:pt x="57041" y="23155"/>
                </a:lnTo>
                <a:lnTo>
                  <a:pt x="57211" y="24081"/>
                </a:lnTo>
                <a:lnTo>
                  <a:pt x="57350" y="25014"/>
                </a:lnTo>
                <a:lnTo>
                  <a:pt x="57459" y="25953"/>
                </a:lnTo>
                <a:lnTo>
                  <a:pt x="57537" y="26898"/>
                </a:lnTo>
                <a:lnTo>
                  <a:pt x="57584" y="27847"/>
                </a:lnTo>
                <a:lnTo>
                  <a:pt x="57600" y="28800"/>
                </a:lnTo>
                <a:lnTo>
                  <a:pt x="57584" y="29753"/>
                </a:lnTo>
                <a:lnTo>
                  <a:pt x="57537" y="30702"/>
                </a:lnTo>
                <a:lnTo>
                  <a:pt x="57459" y="31646"/>
                </a:lnTo>
                <a:lnTo>
                  <a:pt x="57350" y="32585"/>
                </a:lnTo>
                <a:lnTo>
                  <a:pt x="57211" y="33518"/>
                </a:lnTo>
                <a:lnTo>
                  <a:pt x="57041" y="34445"/>
                </a:lnTo>
                <a:lnTo>
                  <a:pt x="56842" y="35363"/>
                </a:lnTo>
                <a:lnTo>
                  <a:pt x="56613" y="36274"/>
                </a:lnTo>
                <a:lnTo>
                  <a:pt x="56355" y="37176"/>
                </a:lnTo>
                <a:lnTo>
                  <a:pt x="56068" y="38068"/>
                </a:lnTo>
                <a:lnTo>
                  <a:pt x="55752" y="38950"/>
                </a:lnTo>
                <a:lnTo>
                  <a:pt x="55408" y="39821"/>
                </a:lnTo>
                <a:lnTo>
                  <a:pt x="55035" y="40680"/>
                </a:lnTo>
                <a:lnTo>
                  <a:pt x="54635" y="41527"/>
                </a:lnTo>
                <a:lnTo>
                  <a:pt x="54207" y="42361"/>
                </a:lnTo>
                <a:lnTo>
                  <a:pt x="53752" y="43182"/>
                </a:lnTo>
                <a:lnTo>
                  <a:pt x="53270" y="43987"/>
                </a:lnTo>
                <a:lnTo>
                  <a:pt x="52761" y="44778"/>
                </a:lnTo>
                <a:lnTo>
                  <a:pt x="52226" y="45553"/>
                </a:lnTo>
                <a:lnTo>
                  <a:pt x="51665" y="46311"/>
                </a:lnTo>
                <a:lnTo>
                  <a:pt x="51078" y="47052"/>
                </a:lnTo>
                <a:lnTo>
                  <a:pt x="50465" y="47775"/>
                </a:lnTo>
                <a:lnTo>
                  <a:pt x="49827" y="48479"/>
                </a:lnTo>
                <a:lnTo>
                  <a:pt x="49165" y="49164"/>
                </a:lnTo>
                <a:lnTo>
                  <a:pt x="48480" y="49827"/>
                </a:lnTo>
                <a:lnTo>
                  <a:pt x="47775" y="50465"/>
                </a:lnTo>
                <a:lnTo>
                  <a:pt x="47052" y="51078"/>
                </a:lnTo>
                <a:lnTo>
                  <a:pt x="46311" y="51665"/>
                </a:lnTo>
                <a:lnTo>
                  <a:pt x="45553" y="52226"/>
                </a:lnTo>
                <a:lnTo>
                  <a:pt x="44778" y="52761"/>
                </a:lnTo>
                <a:lnTo>
                  <a:pt x="43988" y="53270"/>
                </a:lnTo>
                <a:lnTo>
                  <a:pt x="43182" y="53752"/>
                </a:lnTo>
                <a:lnTo>
                  <a:pt x="42362" y="54207"/>
                </a:lnTo>
                <a:lnTo>
                  <a:pt x="41528" y="54635"/>
                </a:lnTo>
                <a:lnTo>
                  <a:pt x="40681" y="55035"/>
                </a:lnTo>
                <a:lnTo>
                  <a:pt x="39821" y="55408"/>
                </a:lnTo>
                <a:lnTo>
                  <a:pt x="38950" y="55752"/>
                </a:lnTo>
                <a:lnTo>
                  <a:pt x="38068" y="56068"/>
                </a:lnTo>
                <a:lnTo>
                  <a:pt x="37176" y="56355"/>
                </a:lnTo>
                <a:lnTo>
                  <a:pt x="36274" y="56613"/>
                </a:lnTo>
                <a:lnTo>
                  <a:pt x="35364" y="56842"/>
                </a:lnTo>
                <a:lnTo>
                  <a:pt x="34445" y="57041"/>
                </a:lnTo>
                <a:lnTo>
                  <a:pt x="33519" y="57211"/>
                </a:lnTo>
                <a:lnTo>
                  <a:pt x="32586" y="57350"/>
                </a:lnTo>
                <a:lnTo>
                  <a:pt x="31646" y="57459"/>
                </a:lnTo>
                <a:lnTo>
                  <a:pt x="30702" y="57537"/>
                </a:lnTo>
                <a:lnTo>
                  <a:pt x="29753" y="57584"/>
                </a:lnTo>
                <a:lnTo>
                  <a:pt x="28800" y="57600"/>
                </a:lnTo>
                <a:lnTo>
                  <a:pt x="27847" y="57584"/>
                </a:lnTo>
                <a:lnTo>
                  <a:pt x="26898" y="57537"/>
                </a:lnTo>
                <a:lnTo>
                  <a:pt x="25954" y="57459"/>
                </a:lnTo>
                <a:lnTo>
                  <a:pt x="25015" y="57350"/>
                </a:lnTo>
                <a:lnTo>
                  <a:pt x="24082" y="57211"/>
                </a:lnTo>
                <a:lnTo>
                  <a:pt x="23155" y="57041"/>
                </a:lnTo>
                <a:lnTo>
                  <a:pt x="22237" y="56842"/>
                </a:lnTo>
                <a:lnTo>
                  <a:pt x="21326" y="56613"/>
                </a:lnTo>
                <a:lnTo>
                  <a:pt x="20424" y="56355"/>
                </a:lnTo>
                <a:lnTo>
                  <a:pt x="19532" y="56068"/>
                </a:lnTo>
                <a:lnTo>
                  <a:pt x="18650" y="55752"/>
                </a:lnTo>
                <a:lnTo>
                  <a:pt x="17779" y="55408"/>
                </a:lnTo>
                <a:lnTo>
                  <a:pt x="16919" y="55035"/>
                </a:lnTo>
                <a:lnTo>
                  <a:pt x="16072" y="54635"/>
                </a:lnTo>
                <a:lnTo>
                  <a:pt x="15238" y="54207"/>
                </a:lnTo>
                <a:lnTo>
                  <a:pt x="14418" y="53752"/>
                </a:lnTo>
                <a:lnTo>
                  <a:pt x="13612" y="53270"/>
                </a:lnTo>
                <a:lnTo>
                  <a:pt x="12822" y="52761"/>
                </a:lnTo>
                <a:lnTo>
                  <a:pt x="12047" y="52226"/>
                </a:lnTo>
                <a:lnTo>
                  <a:pt x="11289" y="51665"/>
                </a:lnTo>
                <a:lnTo>
                  <a:pt x="10548" y="51078"/>
                </a:lnTo>
                <a:lnTo>
                  <a:pt x="9825" y="50465"/>
                </a:lnTo>
                <a:lnTo>
                  <a:pt x="9120" y="49827"/>
                </a:lnTo>
                <a:lnTo>
                  <a:pt x="8435" y="49164"/>
                </a:lnTo>
                <a:lnTo>
                  <a:pt x="7773" y="48479"/>
                </a:lnTo>
                <a:lnTo>
                  <a:pt x="7135" y="47775"/>
                </a:lnTo>
                <a:lnTo>
                  <a:pt x="6522" y="47052"/>
                </a:lnTo>
                <a:lnTo>
                  <a:pt x="5935" y="46311"/>
                </a:lnTo>
                <a:lnTo>
                  <a:pt x="5374" y="45553"/>
                </a:lnTo>
                <a:lnTo>
                  <a:pt x="4839" y="44778"/>
                </a:lnTo>
                <a:lnTo>
                  <a:pt x="4330" y="43987"/>
                </a:lnTo>
                <a:lnTo>
                  <a:pt x="3848" y="43182"/>
                </a:lnTo>
                <a:lnTo>
                  <a:pt x="3393" y="42361"/>
                </a:lnTo>
                <a:lnTo>
                  <a:pt x="2965" y="41527"/>
                </a:lnTo>
                <a:lnTo>
                  <a:pt x="2565" y="40680"/>
                </a:lnTo>
                <a:lnTo>
                  <a:pt x="2192" y="39821"/>
                </a:lnTo>
                <a:lnTo>
                  <a:pt x="1848" y="38950"/>
                </a:lnTo>
                <a:lnTo>
                  <a:pt x="1532" y="38068"/>
                </a:lnTo>
                <a:lnTo>
                  <a:pt x="1245" y="37176"/>
                </a:lnTo>
                <a:lnTo>
                  <a:pt x="987" y="36274"/>
                </a:lnTo>
                <a:lnTo>
                  <a:pt x="758" y="35363"/>
                </a:lnTo>
                <a:lnTo>
                  <a:pt x="559" y="34445"/>
                </a:lnTo>
                <a:lnTo>
                  <a:pt x="389" y="33518"/>
                </a:lnTo>
                <a:lnTo>
                  <a:pt x="250" y="32585"/>
                </a:lnTo>
                <a:lnTo>
                  <a:pt x="141" y="31646"/>
                </a:lnTo>
                <a:lnTo>
                  <a:pt x="63" y="30702"/>
                </a:lnTo>
                <a:lnTo>
                  <a:pt x="16" y="29753"/>
                </a:lnTo>
                <a:lnTo>
                  <a:pt x="0" y="28800"/>
                </a:lnTo>
                <a:lnTo>
                  <a:pt x="16" y="27847"/>
                </a:lnTo>
                <a:lnTo>
                  <a:pt x="63" y="26898"/>
                </a:lnTo>
                <a:lnTo>
                  <a:pt x="141" y="25953"/>
                </a:lnTo>
                <a:lnTo>
                  <a:pt x="250" y="25014"/>
                </a:lnTo>
                <a:lnTo>
                  <a:pt x="389" y="24081"/>
                </a:lnTo>
                <a:lnTo>
                  <a:pt x="559" y="23155"/>
                </a:lnTo>
                <a:lnTo>
                  <a:pt x="758" y="22236"/>
                </a:lnTo>
                <a:lnTo>
                  <a:pt x="987" y="21326"/>
                </a:lnTo>
                <a:lnTo>
                  <a:pt x="1245" y="20424"/>
                </a:lnTo>
                <a:lnTo>
                  <a:pt x="1532" y="19532"/>
                </a:lnTo>
                <a:lnTo>
                  <a:pt x="1848" y="18650"/>
                </a:lnTo>
                <a:lnTo>
                  <a:pt x="2192" y="17779"/>
                </a:lnTo>
                <a:lnTo>
                  <a:pt x="2565" y="16919"/>
                </a:lnTo>
                <a:lnTo>
                  <a:pt x="2965" y="16072"/>
                </a:lnTo>
                <a:lnTo>
                  <a:pt x="3393" y="15238"/>
                </a:lnTo>
                <a:lnTo>
                  <a:pt x="3848" y="14418"/>
                </a:lnTo>
                <a:lnTo>
                  <a:pt x="4330" y="13612"/>
                </a:lnTo>
                <a:lnTo>
                  <a:pt x="4839" y="12822"/>
                </a:lnTo>
                <a:lnTo>
                  <a:pt x="5374" y="12047"/>
                </a:lnTo>
                <a:lnTo>
                  <a:pt x="5935" y="11289"/>
                </a:lnTo>
                <a:lnTo>
                  <a:pt x="6522" y="10548"/>
                </a:lnTo>
                <a:lnTo>
                  <a:pt x="7135" y="9825"/>
                </a:lnTo>
                <a:lnTo>
                  <a:pt x="7773" y="9120"/>
                </a:lnTo>
                <a:lnTo>
                  <a:pt x="8435" y="8435"/>
                </a:lnTo>
                <a:lnTo>
                  <a:pt x="9120" y="7772"/>
                </a:lnTo>
                <a:lnTo>
                  <a:pt x="9825" y="7135"/>
                </a:lnTo>
                <a:lnTo>
                  <a:pt x="10548" y="6522"/>
                </a:lnTo>
                <a:lnTo>
                  <a:pt x="11289" y="5935"/>
                </a:lnTo>
                <a:lnTo>
                  <a:pt x="12047" y="5374"/>
                </a:lnTo>
                <a:lnTo>
                  <a:pt x="12822" y="4839"/>
                </a:lnTo>
                <a:lnTo>
                  <a:pt x="13612" y="4330"/>
                </a:lnTo>
                <a:lnTo>
                  <a:pt x="14418" y="3848"/>
                </a:lnTo>
                <a:lnTo>
                  <a:pt x="15238" y="3393"/>
                </a:lnTo>
                <a:lnTo>
                  <a:pt x="16072" y="2965"/>
                </a:lnTo>
                <a:lnTo>
                  <a:pt x="16919" y="2565"/>
                </a:lnTo>
                <a:lnTo>
                  <a:pt x="17779" y="2192"/>
                </a:lnTo>
                <a:lnTo>
                  <a:pt x="18650" y="1848"/>
                </a:lnTo>
                <a:lnTo>
                  <a:pt x="19532" y="1532"/>
                </a:lnTo>
                <a:lnTo>
                  <a:pt x="20424" y="1245"/>
                </a:lnTo>
                <a:lnTo>
                  <a:pt x="21326" y="987"/>
                </a:lnTo>
                <a:lnTo>
                  <a:pt x="22237" y="758"/>
                </a:lnTo>
                <a:lnTo>
                  <a:pt x="23155" y="558"/>
                </a:lnTo>
                <a:lnTo>
                  <a:pt x="24082" y="389"/>
                </a:lnTo>
                <a:lnTo>
                  <a:pt x="25015" y="250"/>
                </a:lnTo>
                <a:lnTo>
                  <a:pt x="25954" y="141"/>
                </a:lnTo>
                <a:lnTo>
                  <a:pt x="26898" y="63"/>
                </a:lnTo>
                <a:lnTo>
                  <a:pt x="27847" y="16"/>
                </a:lnTo>
                <a:lnTo>
                  <a:pt x="28800" y="0"/>
                </a:lnTo>
                <a:close/>
              </a:path>
            </a:pathLst>
          </a:custGeom>
          <a:solidFill>
            <a:srgbClr val="EEEEEE"/>
          </a:solidFill>
          <a:ln w="7620">
            <a:solidFill>
              <a:srgbClr val="333333"/>
            </a:solidFill>
            <a:prstDash val="solid"/>
          </a:ln>
        </p:spPr>
      </p:sp>
      <p:pic>
        <p:nvPicPr>
          <p:cNvPr id="296" name="图片 29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338" y="3109782"/>
            <a:ext cx="210118" cy="254509"/>
          </a:xfrm>
          <a:prstGeom prst="rect">
            <a:avLst/>
          </a:prstGeom>
        </p:spPr>
      </p:pic>
      <p:pic>
        <p:nvPicPr>
          <p:cNvPr id="297" name="图片 2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4531" y="3062781"/>
            <a:ext cx="559329" cy="390642"/>
          </a:xfrm>
          <a:prstGeom prst="rect">
            <a:avLst/>
          </a:prstGeom>
        </p:spPr>
      </p:pic>
      <p:pic>
        <p:nvPicPr>
          <p:cNvPr id="298" name="图片 29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7022" y="3073593"/>
            <a:ext cx="352170" cy="295941"/>
          </a:xfrm>
          <a:prstGeom prst="rect">
            <a:avLst/>
          </a:prstGeom>
        </p:spPr>
      </p:pic>
      <p:pic>
        <p:nvPicPr>
          <p:cNvPr id="299" name="图片 29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662" y="3704274"/>
            <a:ext cx="198281" cy="236753"/>
          </a:xfrm>
          <a:prstGeom prst="rect">
            <a:avLst/>
          </a:prstGeom>
        </p:spPr>
      </p:pic>
      <p:sp>
        <p:nvSpPr>
          <p:cNvPr id="47" name="c_vector_57"/>
          <p:cNvSpPr>
            <a:spLocks noGrp="1"/>
          </p:cNvSpPr>
          <p:nvPr/>
        </p:nvSpPr>
        <p:spPr>
          <a:xfrm>
            <a:off x="810967" y="3897334"/>
            <a:ext cx="454398" cy="123"/>
          </a:xfrm>
          <a:custGeom>
            <a:avLst/>
            <a:gdLst/>
            <a:ahLst/>
            <a:cxnLst/>
            <a:pathLst>
              <a:path w="468000" h="127">
                <a:moveTo>
                  <a:pt x="0" y="0"/>
                </a:moveTo>
                <a:lnTo>
                  <a:pt x="468000" y="0"/>
                </a:lnTo>
              </a:path>
            </a:pathLst>
          </a:custGeom>
          <a:noFill/>
          <a:ln w="8890">
            <a:solidFill>
              <a:srgbClr val="333333"/>
            </a:solidFill>
            <a:prstDash val="dot"/>
          </a:ln>
        </p:spPr>
      </p:sp>
      <p:pic>
        <p:nvPicPr>
          <p:cNvPr id="301" name="图片 3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4531" y="3660488"/>
            <a:ext cx="559329" cy="390642"/>
          </a:xfrm>
          <a:prstGeom prst="rect">
            <a:avLst/>
          </a:prstGeom>
        </p:spPr>
      </p:pic>
      <p:sp>
        <p:nvSpPr>
          <p:cNvPr id="50" name="c_text_21"/>
          <p:cNvSpPr>
            <a:spLocks noGrp="1"/>
          </p:cNvSpPr>
          <p:nvPr/>
        </p:nvSpPr>
        <p:spPr>
          <a:xfrm>
            <a:off x="157338" y="2877584"/>
            <a:ext cx="93240" cy="1603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</a:t>
            </a:r>
            <a:endParaRPr sz="97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" name="c_text_22"/>
          <p:cNvSpPr>
            <a:spLocks noGrp="1"/>
          </p:cNvSpPr>
          <p:nvPr/>
        </p:nvSpPr>
        <p:spPr>
          <a:xfrm>
            <a:off x="335597" y="2893614"/>
            <a:ext cx="1679844" cy="1282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LLM prediction of reading intention</a:t>
            </a:r>
            <a:endParaRPr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" name="c_text_23"/>
          <p:cNvSpPr>
            <a:spLocks noGrp="1"/>
          </p:cNvSpPr>
          <p:nvPr/>
        </p:nvSpPr>
        <p:spPr>
          <a:xfrm>
            <a:off x="440258" y="3451804"/>
            <a:ext cx="416598" cy="1041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5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Article only</a:t>
            </a:r>
            <a:endParaRPr sz="7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3" name="c_vector_58"/>
          <p:cNvSpPr>
            <a:spLocks noGrp="1"/>
          </p:cNvSpPr>
          <p:nvPr/>
        </p:nvSpPr>
        <p:spPr>
          <a:xfrm>
            <a:off x="1055643" y="3250692"/>
            <a:ext cx="684598" cy="123"/>
          </a:xfrm>
          <a:custGeom>
            <a:avLst/>
            <a:gdLst/>
            <a:ahLst/>
            <a:cxnLst/>
            <a:pathLst>
              <a:path w="705091" h="127">
                <a:moveTo>
                  <a:pt x="0" y="0"/>
                </a:moveTo>
                <a:lnTo>
                  <a:pt x="29974" y="0"/>
                </a:lnTo>
                <a:lnTo>
                  <a:pt x="59896" y="0"/>
                </a:lnTo>
                <a:lnTo>
                  <a:pt x="89767" y="0"/>
                </a:lnTo>
                <a:lnTo>
                  <a:pt x="119586" y="0"/>
                </a:lnTo>
                <a:lnTo>
                  <a:pt x="149353" y="0"/>
                </a:lnTo>
                <a:lnTo>
                  <a:pt x="179068" y="0"/>
                </a:lnTo>
                <a:lnTo>
                  <a:pt x="208732" y="0"/>
                </a:lnTo>
                <a:lnTo>
                  <a:pt x="238343" y="0"/>
                </a:lnTo>
                <a:lnTo>
                  <a:pt x="267903" y="0"/>
                </a:lnTo>
                <a:lnTo>
                  <a:pt x="297412" y="0"/>
                </a:lnTo>
                <a:lnTo>
                  <a:pt x="326868" y="0"/>
                </a:lnTo>
                <a:lnTo>
                  <a:pt x="356273" y="0"/>
                </a:lnTo>
                <a:lnTo>
                  <a:pt x="385626" y="0"/>
                </a:lnTo>
                <a:lnTo>
                  <a:pt x="414927" y="0"/>
                </a:lnTo>
                <a:lnTo>
                  <a:pt x="444176" y="0"/>
                </a:lnTo>
                <a:lnTo>
                  <a:pt x="473374" y="0"/>
                </a:lnTo>
                <a:lnTo>
                  <a:pt x="502520" y="0"/>
                </a:lnTo>
                <a:lnTo>
                  <a:pt x="531614" y="0"/>
                </a:lnTo>
                <a:lnTo>
                  <a:pt x="560656" y="0"/>
                </a:lnTo>
                <a:lnTo>
                  <a:pt x="589647" y="0"/>
                </a:lnTo>
                <a:lnTo>
                  <a:pt x="618585" y="0"/>
                </a:lnTo>
                <a:lnTo>
                  <a:pt x="647472" y="0"/>
                </a:lnTo>
                <a:lnTo>
                  <a:pt x="676308" y="0"/>
                </a:lnTo>
                <a:lnTo>
                  <a:pt x="705091" y="0"/>
                </a:lnTo>
              </a:path>
            </a:pathLst>
          </a:custGeom>
          <a:noFill/>
          <a:ln w="13335">
            <a:solidFill>
              <a:srgbClr val="AFAFAF"/>
            </a:solidFill>
            <a:prstDash val="solid"/>
          </a:ln>
        </p:spPr>
      </p:sp>
      <p:sp>
        <p:nvSpPr>
          <p:cNvPr id="54" name="c_vector_59"/>
          <p:cNvSpPr>
            <a:spLocks noGrp="1"/>
          </p:cNvSpPr>
          <p:nvPr/>
        </p:nvSpPr>
        <p:spPr>
          <a:xfrm>
            <a:off x="1700782" y="3230962"/>
            <a:ext cx="39459" cy="39459"/>
          </a:xfrm>
          <a:custGeom>
            <a:avLst/>
            <a:gdLst/>
            <a:ahLst/>
            <a:cxnLst/>
            <a:pathLst>
              <a:path w="40640" h="40640">
                <a:moveTo>
                  <a:pt x="0" y="0"/>
                </a:moveTo>
                <a:lnTo>
                  <a:pt x="40640" y="2032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AFAFAF"/>
          </a:solidFill>
          <a:ln w="13335">
            <a:solidFill>
              <a:srgbClr val="AFAFAF"/>
            </a:solidFill>
            <a:prstDash val="solid"/>
          </a:ln>
        </p:spPr>
      </p:sp>
      <p:sp>
        <p:nvSpPr>
          <p:cNvPr id="55" name="c_vector_60"/>
          <p:cNvSpPr>
            <a:spLocks noGrp="1"/>
          </p:cNvSpPr>
          <p:nvPr/>
        </p:nvSpPr>
        <p:spPr>
          <a:xfrm>
            <a:off x="2628558" y="3250692"/>
            <a:ext cx="509829" cy="123"/>
          </a:xfrm>
          <a:custGeom>
            <a:avLst/>
            <a:gdLst/>
            <a:ahLst/>
            <a:cxnLst/>
            <a:pathLst>
              <a:path w="525091" h="127">
                <a:moveTo>
                  <a:pt x="0" y="0"/>
                </a:moveTo>
                <a:lnTo>
                  <a:pt x="22474" y="0"/>
                </a:lnTo>
                <a:lnTo>
                  <a:pt x="44896" y="0"/>
                </a:lnTo>
                <a:lnTo>
                  <a:pt x="67267" y="0"/>
                </a:lnTo>
                <a:lnTo>
                  <a:pt x="89586" y="0"/>
                </a:lnTo>
                <a:lnTo>
                  <a:pt x="111853" y="0"/>
                </a:lnTo>
                <a:lnTo>
                  <a:pt x="134068" y="0"/>
                </a:lnTo>
                <a:lnTo>
                  <a:pt x="156232" y="0"/>
                </a:lnTo>
                <a:lnTo>
                  <a:pt x="178343" y="0"/>
                </a:lnTo>
                <a:lnTo>
                  <a:pt x="200403" y="0"/>
                </a:lnTo>
                <a:lnTo>
                  <a:pt x="222412" y="0"/>
                </a:lnTo>
                <a:lnTo>
                  <a:pt x="244368" y="0"/>
                </a:lnTo>
                <a:lnTo>
                  <a:pt x="266273" y="0"/>
                </a:lnTo>
                <a:lnTo>
                  <a:pt x="288126" y="0"/>
                </a:lnTo>
                <a:lnTo>
                  <a:pt x="309927" y="0"/>
                </a:lnTo>
                <a:lnTo>
                  <a:pt x="331676" y="0"/>
                </a:lnTo>
                <a:lnTo>
                  <a:pt x="353374" y="0"/>
                </a:lnTo>
                <a:lnTo>
                  <a:pt x="375020" y="0"/>
                </a:lnTo>
                <a:lnTo>
                  <a:pt x="396614" y="0"/>
                </a:lnTo>
                <a:lnTo>
                  <a:pt x="418156" y="0"/>
                </a:lnTo>
                <a:lnTo>
                  <a:pt x="439647" y="0"/>
                </a:lnTo>
                <a:lnTo>
                  <a:pt x="461085" y="0"/>
                </a:lnTo>
                <a:lnTo>
                  <a:pt x="482472" y="0"/>
                </a:lnTo>
                <a:lnTo>
                  <a:pt x="503808" y="0"/>
                </a:lnTo>
                <a:lnTo>
                  <a:pt x="525091" y="0"/>
                </a:lnTo>
              </a:path>
            </a:pathLst>
          </a:custGeom>
          <a:noFill/>
          <a:ln w="13335">
            <a:solidFill>
              <a:srgbClr val="AFAFAF"/>
            </a:solidFill>
            <a:prstDash val="solid"/>
          </a:ln>
        </p:spPr>
      </p:sp>
      <p:sp>
        <p:nvSpPr>
          <p:cNvPr id="56" name="c_vector_61"/>
          <p:cNvSpPr>
            <a:spLocks noGrp="1"/>
          </p:cNvSpPr>
          <p:nvPr/>
        </p:nvSpPr>
        <p:spPr>
          <a:xfrm>
            <a:off x="3098929" y="3230962"/>
            <a:ext cx="39459" cy="39459"/>
          </a:xfrm>
          <a:custGeom>
            <a:avLst/>
            <a:gdLst/>
            <a:ahLst/>
            <a:cxnLst/>
            <a:pathLst>
              <a:path w="40640" h="40640">
                <a:moveTo>
                  <a:pt x="0" y="0"/>
                </a:moveTo>
                <a:lnTo>
                  <a:pt x="40640" y="2032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AFAFAF"/>
          </a:solidFill>
          <a:ln w="13335">
            <a:solidFill>
              <a:srgbClr val="AFAFAF"/>
            </a:solidFill>
            <a:prstDash val="solid"/>
          </a:ln>
        </p:spPr>
      </p:sp>
      <p:sp>
        <p:nvSpPr>
          <p:cNvPr id="57" name="c_text_24"/>
          <p:cNvSpPr>
            <a:spLocks noGrp="1"/>
          </p:cNvSpPr>
          <p:nvPr/>
        </p:nvSpPr>
        <p:spPr>
          <a:xfrm>
            <a:off x="3285501" y="3451804"/>
            <a:ext cx="532509" cy="1041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675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ym typeface="+mn-ea"/>
              </a:rPr>
              <a:t>General prediction</a:t>
            </a:r>
            <a:endParaRPr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" name="c_text_25"/>
          <p:cNvSpPr>
            <a:spLocks noGrp="1"/>
          </p:cNvSpPr>
          <p:nvPr/>
        </p:nvSpPr>
        <p:spPr>
          <a:xfrm>
            <a:off x="278172" y="4047798"/>
            <a:ext cx="237309" cy="99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2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Target</a:t>
            </a:r>
            <a:endParaRPr sz="7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" name="c_text_26"/>
          <p:cNvSpPr>
            <a:spLocks noGrp="1"/>
          </p:cNvSpPr>
          <p:nvPr/>
        </p:nvSpPr>
        <p:spPr>
          <a:xfrm>
            <a:off x="568881" y="3746599"/>
            <a:ext cx="89471" cy="1442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75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</a:t>
            </a:r>
            <a:endParaRPr sz="875"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" name="c_text_27"/>
          <p:cNvSpPr>
            <a:spLocks noGrp="1"/>
          </p:cNvSpPr>
          <p:nvPr/>
        </p:nvSpPr>
        <p:spPr>
          <a:xfrm>
            <a:off x="776008" y="3662302"/>
            <a:ext cx="72667" cy="1122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68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" name="c_text_28"/>
          <p:cNvSpPr>
            <a:spLocks noGrp="1"/>
          </p:cNvSpPr>
          <p:nvPr/>
        </p:nvSpPr>
        <p:spPr>
          <a:xfrm>
            <a:off x="1252339" y="3662302"/>
            <a:ext cx="72667" cy="1122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68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c_vector_62"/>
          <p:cNvSpPr>
            <a:spLocks noGrp="1"/>
          </p:cNvSpPr>
          <p:nvPr/>
        </p:nvSpPr>
        <p:spPr>
          <a:xfrm>
            <a:off x="1160504" y="3897334"/>
            <a:ext cx="95211" cy="123"/>
          </a:xfrm>
          <a:custGeom>
            <a:avLst/>
            <a:gdLst/>
            <a:ahLst/>
            <a:cxnLst/>
            <a:pathLst>
              <a:path w="98061" h="127">
                <a:moveTo>
                  <a:pt x="0" y="0"/>
                </a:moveTo>
                <a:lnTo>
                  <a:pt x="4483" y="0"/>
                </a:lnTo>
                <a:lnTo>
                  <a:pt x="8931" y="0"/>
                </a:lnTo>
                <a:lnTo>
                  <a:pt x="13345" y="0"/>
                </a:lnTo>
                <a:lnTo>
                  <a:pt x="17724" y="0"/>
                </a:lnTo>
                <a:lnTo>
                  <a:pt x="22069" y="0"/>
                </a:lnTo>
                <a:lnTo>
                  <a:pt x="26379" y="0"/>
                </a:lnTo>
                <a:lnTo>
                  <a:pt x="30654" y="0"/>
                </a:lnTo>
                <a:lnTo>
                  <a:pt x="34896" y="0"/>
                </a:lnTo>
                <a:lnTo>
                  <a:pt x="39102" y="0"/>
                </a:lnTo>
                <a:lnTo>
                  <a:pt x="43274" y="0"/>
                </a:lnTo>
                <a:lnTo>
                  <a:pt x="47412" y="0"/>
                </a:lnTo>
                <a:lnTo>
                  <a:pt x="51515" y="0"/>
                </a:lnTo>
                <a:lnTo>
                  <a:pt x="55584" y="0"/>
                </a:lnTo>
                <a:lnTo>
                  <a:pt x="59618" y="0"/>
                </a:lnTo>
                <a:lnTo>
                  <a:pt x="63617" y="0"/>
                </a:lnTo>
                <a:lnTo>
                  <a:pt x="67583" y="0"/>
                </a:lnTo>
                <a:lnTo>
                  <a:pt x="71513" y="0"/>
                </a:lnTo>
                <a:lnTo>
                  <a:pt x="75409" y="0"/>
                </a:lnTo>
                <a:lnTo>
                  <a:pt x="79271" y="0"/>
                </a:lnTo>
                <a:lnTo>
                  <a:pt x="83098" y="0"/>
                </a:lnTo>
                <a:lnTo>
                  <a:pt x="86890" y="0"/>
                </a:lnTo>
                <a:lnTo>
                  <a:pt x="90648" y="0"/>
                </a:lnTo>
                <a:lnTo>
                  <a:pt x="94372" y="0"/>
                </a:lnTo>
                <a:lnTo>
                  <a:pt x="98061" y="0"/>
                </a:lnTo>
              </a:path>
            </a:pathLst>
          </a:custGeom>
          <a:noFill/>
          <a:ln w="8890">
            <a:solidFill>
              <a:srgbClr val="333333"/>
            </a:solidFill>
            <a:prstDash val="solid"/>
          </a:ln>
        </p:spPr>
      </p:sp>
      <p:sp>
        <p:nvSpPr>
          <p:cNvPr id="63" name="c_vector_63"/>
          <p:cNvSpPr>
            <a:spLocks noGrp="1"/>
          </p:cNvSpPr>
          <p:nvPr/>
        </p:nvSpPr>
        <p:spPr>
          <a:xfrm>
            <a:off x="1231053" y="3885004"/>
            <a:ext cx="24662" cy="24662"/>
          </a:xfrm>
          <a:custGeom>
            <a:avLst/>
            <a:gdLst/>
            <a:ahLst/>
            <a:cxnLst/>
            <a:pathLst>
              <a:path w="25400" h="25400">
                <a:moveTo>
                  <a:pt x="0" y="0"/>
                </a:moveTo>
                <a:lnTo>
                  <a:pt x="25400" y="127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8890">
            <a:solidFill>
              <a:srgbClr val="333333"/>
            </a:solidFill>
            <a:prstDash val="solid"/>
          </a:ln>
        </p:spPr>
      </p:sp>
      <p:sp>
        <p:nvSpPr>
          <p:cNvPr id="64" name="c_text_29"/>
          <p:cNvSpPr>
            <a:spLocks noGrp="1"/>
          </p:cNvSpPr>
          <p:nvPr/>
        </p:nvSpPr>
        <p:spPr>
          <a:xfrm>
            <a:off x="764762" y="4047798"/>
            <a:ext cx="572742" cy="99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2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Personal history</a:t>
            </a:r>
            <a:endParaRPr sz="7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5" name="c_vector_64"/>
          <p:cNvSpPr>
            <a:spLocks noGrp="1"/>
          </p:cNvSpPr>
          <p:nvPr/>
        </p:nvSpPr>
        <p:spPr>
          <a:xfrm>
            <a:off x="1457610" y="3844904"/>
            <a:ext cx="282631" cy="123"/>
          </a:xfrm>
          <a:custGeom>
            <a:avLst/>
            <a:gdLst/>
            <a:ahLst/>
            <a:cxnLst/>
            <a:pathLst>
              <a:path w="291091" h="127">
                <a:moveTo>
                  <a:pt x="0" y="0"/>
                </a:moveTo>
                <a:lnTo>
                  <a:pt x="12724" y="0"/>
                </a:lnTo>
                <a:lnTo>
                  <a:pt x="25396" y="0"/>
                </a:lnTo>
                <a:lnTo>
                  <a:pt x="38017" y="0"/>
                </a:lnTo>
                <a:lnTo>
                  <a:pt x="50586" y="0"/>
                </a:lnTo>
                <a:lnTo>
                  <a:pt x="63103" y="0"/>
                </a:lnTo>
                <a:lnTo>
                  <a:pt x="75568" y="0"/>
                </a:lnTo>
                <a:lnTo>
                  <a:pt x="87982" y="0"/>
                </a:lnTo>
                <a:lnTo>
                  <a:pt x="100343" y="0"/>
                </a:lnTo>
                <a:lnTo>
                  <a:pt x="112653" y="0"/>
                </a:lnTo>
                <a:lnTo>
                  <a:pt x="124912" y="0"/>
                </a:lnTo>
                <a:lnTo>
                  <a:pt x="137118" y="0"/>
                </a:lnTo>
                <a:lnTo>
                  <a:pt x="149273" y="0"/>
                </a:lnTo>
                <a:lnTo>
                  <a:pt x="161376" y="0"/>
                </a:lnTo>
                <a:lnTo>
                  <a:pt x="173427" y="0"/>
                </a:lnTo>
                <a:lnTo>
                  <a:pt x="185426" y="0"/>
                </a:lnTo>
                <a:lnTo>
                  <a:pt x="197374" y="0"/>
                </a:lnTo>
                <a:lnTo>
                  <a:pt x="209270" y="0"/>
                </a:lnTo>
                <a:lnTo>
                  <a:pt x="221114" y="0"/>
                </a:lnTo>
                <a:lnTo>
                  <a:pt x="232906" y="0"/>
                </a:lnTo>
                <a:lnTo>
                  <a:pt x="244647" y="0"/>
                </a:lnTo>
                <a:lnTo>
                  <a:pt x="256335" y="0"/>
                </a:lnTo>
                <a:lnTo>
                  <a:pt x="267972" y="0"/>
                </a:lnTo>
                <a:lnTo>
                  <a:pt x="279558" y="0"/>
                </a:lnTo>
                <a:lnTo>
                  <a:pt x="291091" y="0"/>
                </a:lnTo>
              </a:path>
            </a:pathLst>
          </a:custGeom>
          <a:noFill/>
          <a:ln w="13335">
            <a:solidFill>
              <a:srgbClr val="AFAFAF"/>
            </a:solidFill>
            <a:prstDash val="solid"/>
          </a:ln>
        </p:spPr>
      </p:sp>
      <p:sp>
        <p:nvSpPr>
          <p:cNvPr id="66" name="c_vector_65"/>
          <p:cNvSpPr>
            <a:spLocks noGrp="1"/>
          </p:cNvSpPr>
          <p:nvPr/>
        </p:nvSpPr>
        <p:spPr>
          <a:xfrm>
            <a:off x="1700782" y="3825175"/>
            <a:ext cx="39459" cy="39459"/>
          </a:xfrm>
          <a:custGeom>
            <a:avLst/>
            <a:gdLst/>
            <a:ahLst/>
            <a:cxnLst/>
            <a:pathLst>
              <a:path w="40640" h="40640">
                <a:moveTo>
                  <a:pt x="0" y="0"/>
                </a:moveTo>
                <a:lnTo>
                  <a:pt x="40640" y="2032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AFAFAF"/>
          </a:solidFill>
          <a:ln w="13335">
            <a:solidFill>
              <a:srgbClr val="AFAFAF"/>
            </a:solidFill>
            <a:prstDash val="solid"/>
          </a:ln>
        </p:spPr>
      </p:sp>
      <p:sp>
        <p:nvSpPr>
          <p:cNvPr id="67" name="c_vector_66"/>
          <p:cNvSpPr>
            <a:spLocks noGrp="1"/>
          </p:cNvSpPr>
          <p:nvPr/>
        </p:nvSpPr>
        <p:spPr>
          <a:xfrm>
            <a:off x="2628558" y="3844904"/>
            <a:ext cx="509829" cy="123"/>
          </a:xfrm>
          <a:custGeom>
            <a:avLst/>
            <a:gdLst/>
            <a:ahLst/>
            <a:cxnLst/>
            <a:pathLst>
              <a:path w="525091" h="127">
                <a:moveTo>
                  <a:pt x="0" y="0"/>
                </a:moveTo>
                <a:lnTo>
                  <a:pt x="22474" y="0"/>
                </a:lnTo>
                <a:lnTo>
                  <a:pt x="44896" y="0"/>
                </a:lnTo>
                <a:lnTo>
                  <a:pt x="67267" y="0"/>
                </a:lnTo>
                <a:lnTo>
                  <a:pt x="89586" y="0"/>
                </a:lnTo>
                <a:lnTo>
                  <a:pt x="111853" y="0"/>
                </a:lnTo>
                <a:lnTo>
                  <a:pt x="134068" y="0"/>
                </a:lnTo>
                <a:lnTo>
                  <a:pt x="156232" y="0"/>
                </a:lnTo>
                <a:lnTo>
                  <a:pt x="178343" y="0"/>
                </a:lnTo>
                <a:lnTo>
                  <a:pt x="200403" y="0"/>
                </a:lnTo>
                <a:lnTo>
                  <a:pt x="222412" y="0"/>
                </a:lnTo>
                <a:lnTo>
                  <a:pt x="244368" y="0"/>
                </a:lnTo>
                <a:lnTo>
                  <a:pt x="266273" y="0"/>
                </a:lnTo>
                <a:lnTo>
                  <a:pt x="288126" y="0"/>
                </a:lnTo>
                <a:lnTo>
                  <a:pt x="309927" y="0"/>
                </a:lnTo>
                <a:lnTo>
                  <a:pt x="331676" y="0"/>
                </a:lnTo>
                <a:lnTo>
                  <a:pt x="353374" y="0"/>
                </a:lnTo>
                <a:lnTo>
                  <a:pt x="375020" y="0"/>
                </a:lnTo>
                <a:lnTo>
                  <a:pt x="396614" y="0"/>
                </a:lnTo>
                <a:lnTo>
                  <a:pt x="418156" y="0"/>
                </a:lnTo>
                <a:lnTo>
                  <a:pt x="439647" y="0"/>
                </a:lnTo>
                <a:lnTo>
                  <a:pt x="461085" y="0"/>
                </a:lnTo>
                <a:lnTo>
                  <a:pt x="482472" y="0"/>
                </a:lnTo>
                <a:lnTo>
                  <a:pt x="503808" y="0"/>
                </a:lnTo>
                <a:lnTo>
                  <a:pt x="525091" y="0"/>
                </a:lnTo>
              </a:path>
            </a:pathLst>
          </a:custGeom>
          <a:noFill/>
          <a:ln w="13335">
            <a:solidFill>
              <a:srgbClr val="AFAFAF"/>
            </a:solidFill>
            <a:prstDash val="solid"/>
          </a:ln>
        </p:spPr>
      </p:sp>
      <p:sp>
        <p:nvSpPr>
          <p:cNvPr id="68" name="c_vector_67"/>
          <p:cNvSpPr>
            <a:spLocks noGrp="1"/>
          </p:cNvSpPr>
          <p:nvPr/>
        </p:nvSpPr>
        <p:spPr>
          <a:xfrm>
            <a:off x="3098929" y="3825175"/>
            <a:ext cx="39459" cy="39459"/>
          </a:xfrm>
          <a:custGeom>
            <a:avLst/>
            <a:gdLst/>
            <a:ahLst/>
            <a:cxnLst/>
            <a:pathLst>
              <a:path w="40640" h="40640">
                <a:moveTo>
                  <a:pt x="0" y="0"/>
                </a:moveTo>
                <a:lnTo>
                  <a:pt x="40640" y="2032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AFAFAF"/>
          </a:solidFill>
          <a:ln w="13335">
            <a:solidFill>
              <a:srgbClr val="AFAFAF"/>
            </a:solidFill>
            <a:prstDash val="solid"/>
          </a:ln>
        </p:spPr>
      </p:sp>
      <p:sp>
        <p:nvSpPr>
          <p:cNvPr id="69" name="c_text_30"/>
          <p:cNvSpPr>
            <a:spLocks noGrp="1"/>
          </p:cNvSpPr>
          <p:nvPr/>
        </p:nvSpPr>
        <p:spPr>
          <a:xfrm>
            <a:off x="3258771" y="4042989"/>
            <a:ext cx="585969" cy="1041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675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ym typeface="+mn-ea"/>
              </a:rPr>
              <a:t>Individual prediction</a:t>
            </a:r>
            <a:endParaRPr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0" name="d_vector_68"/>
          <p:cNvSpPr>
            <a:spLocks noGrp="1"/>
          </p:cNvSpPr>
          <p:nvPr/>
        </p:nvSpPr>
        <p:spPr>
          <a:xfrm>
            <a:off x="111894" y="4301149"/>
            <a:ext cx="4159487" cy="1013657"/>
          </a:xfrm>
          <a:custGeom>
            <a:avLst/>
            <a:gdLst/>
            <a:ahLst/>
            <a:cxnLst/>
            <a:pathLst>
              <a:path w="4284000" h="1044000">
                <a:moveTo>
                  <a:pt x="72000" y="0"/>
                </a:moveTo>
                <a:lnTo>
                  <a:pt x="4212000" y="0"/>
                </a:lnTo>
                <a:lnTo>
                  <a:pt x="4217875" y="125"/>
                </a:lnTo>
                <a:lnTo>
                  <a:pt x="4223500" y="500"/>
                </a:lnTo>
                <a:lnTo>
                  <a:pt x="4228875" y="1125"/>
                </a:lnTo>
                <a:lnTo>
                  <a:pt x="4234000" y="2000"/>
                </a:lnTo>
                <a:lnTo>
                  <a:pt x="4238875" y="3125"/>
                </a:lnTo>
                <a:lnTo>
                  <a:pt x="4243500" y="4500"/>
                </a:lnTo>
                <a:lnTo>
                  <a:pt x="4247875" y="6125"/>
                </a:lnTo>
                <a:lnTo>
                  <a:pt x="4252000" y="8000"/>
                </a:lnTo>
                <a:lnTo>
                  <a:pt x="4255875" y="10125"/>
                </a:lnTo>
                <a:lnTo>
                  <a:pt x="4259500" y="12500"/>
                </a:lnTo>
                <a:lnTo>
                  <a:pt x="4262875" y="15125"/>
                </a:lnTo>
                <a:lnTo>
                  <a:pt x="4266000" y="18000"/>
                </a:lnTo>
                <a:lnTo>
                  <a:pt x="4268875" y="21125"/>
                </a:lnTo>
                <a:lnTo>
                  <a:pt x="4271500" y="24500"/>
                </a:lnTo>
                <a:lnTo>
                  <a:pt x="4273875" y="28125"/>
                </a:lnTo>
                <a:lnTo>
                  <a:pt x="4276000" y="32000"/>
                </a:lnTo>
                <a:lnTo>
                  <a:pt x="4277875" y="36125"/>
                </a:lnTo>
                <a:lnTo>
                  <a:pt x="4279500" y="40500"/>
                </a:lnTo>
                <a:lnTo>
                  <a:pt x="4280875" y="45125"/>
                </a:lnTo>
                <a:lnTo>
                  <a:pt x="4282000" y="50000"/>
                </a:lnTo>
                <a:lnTo>
                  <a:pt x="4282875" y="55125"/>
                </a:lnTo>
                <a:lnTo>
                  <a:pt x="4283500" y="60500"/>
                </a:lnTo>
                <a:lnTo>
                  <a:pt x="4283875" y="66125"/>
                </a:lnTo>
                <a:lnTo>
                  <a:pt x="4284000" y="72000"/>
                </a:lnTo>
                <a:lnTo>
                  <a:pt x="4284000" y="972000"/>
                </a:lnTo>
                <a:lnTo>
                  <a:pt x="4283875" y="977875"/>
                </a:lnTo>
                <a:lnTo>
                  <a:pt x="4283500" y="983500"/>
                </a:lnTo>
                <a:lnTo>
                  <a:pt x="4282875" y="988875"/>
                </a:lnTo>
                <a:lnTo>
                  <a:pt x="4282000" y="994000"/>
                </a:lnTo>
                <a:lnTo>
                  <a:pt x="4280875" y="998875"/>
                </a:lnTo>
                <a:lnTo>
                  <a:pt x="4279500" y="1003500"/>
                </a:lnTo>
                <a:lnTo>
                  <a:pt x="4277875" y="1007875"/>
                </a:lnTo>
                <a:lnTo>
                  <a:pt x="4276000" y="1012000"/>
                </a:lnTo>
                <a:lnTo>
                  <a:pt x="4273875" y="1015875"/>
                </a:lnTo>
                <a:lnTo>
                  <a:pt x="4271500" y="1019500"/>
                </a:lnTo>
                <a:lnTo>
                  <a:pt x="4268875" y="1022875"/>
                </a:lnTo>
                <a:lnTo>
                  <a:pt x="4266000" y="1026000"/>
                </a:lnTo>
                <a:lnTo>
                  <a:pt x="4262875" y="1028875"/>
                </a:lnTo>
                <a:lnTo>
                  <a:pt x="4259500" y="1031500"/>
                </a:lnTo>
                <a:lnTo>
                  <a:pt x="4255875" y="1033875"/>
                </a:lnTo>
                <a:lnTo>
                  <a:pt x="4252000" y="1036000"/>
                </a:lnTo>
                <a:lnTo>
                  <a:pt x="4247875" y="1037875"/>
                </a:lnTo>
                <a:lnTo>
                  <a:pt x="4243500" y="1039500"/>
                </a:lnTo>
                <a:lnTo>
                  <a:pt x="4238875" y="1040875"/>
                </a:lnTo>
                <a:lnTo>
                  <a:pt x="4234000" y="1042000"/>
                </a:lnTo>
                <a:lnTo>
                  <a:pt x="4228875" y="1042875"/>
                </a:lnTo>
                <a:lnTo>
                  <a:pt x="4223500" y="1043500"/>
                </a:lnTo>
                <a:lnTo>
                  <a:pt x="4217875" y="1043875"/>
                </a:lnTo>
                <a:lnTo>
                  <a:pt x="4212000" y="1044000"/>
                </a:lnTo>
                <a:lnTo>
                  <a:pt x="72000" y="1044000"/>
                </a:lnTo>
                <a:lnTo>
                  <a:pt x="66125" y="1043875"/>
                </a:lnTo>
                <a:lnTo>
                  <a:pt x="60500" y="1043500"/>
                </a:lnTo>
                <a:lnTo>
                  <a:pt x="55125" y="1042875"/>
                </a:lnTo>
                <a:lnTo>
                  <a:pt x="50000" y="1042000"/>
                </a:lnTo>
                <a:lnTo>
                  <a:pt x="45125" y="1040875"/>
                </a:lnTo>
                <a:lnTo>
                  <a:pt x="40500" y="1039500"/>
                </a:lnTo>
                <a:lnTo>
                  <a:pt x="36125" y="1037875"/>
                </a:lnTo>
                <a:lnTo>
                  <a:pt x="32000" y="1036000"/>
                </a:lnTo>
                <a:lnTo>
                  <a:pt x="28125" y="1033875"/>
                </a:lnTo>
                <a:lnTo>
                  <a:pt x="24500" y="1031500"/>
                </a:lnTo>
                <a:lnTo>
                  <a:pt x="21125" y="1028875"/>
                </a:lnTo>
                <a:lnTo>
                  <a:pt x="18000" y="1026000"/>
                </a:lnTo>
                <a:lnTo>
                  <a:pt x="15125" y="1022875"/>
                </a:lnTo>
                <a:lnTo>
                  <a:pt x="12500" y="1019500"/>
                </a:lnTo>
                <a:lnTo>
                  <a:pt x="10125" y="1015875"/>
                </a:lnTo>
                <a:lnTo>
                  <a:pt x="8000" y="1012000"/>
                </a:lnTo>
                <a:lnTo>
                  <a:pt x="6125" y="1007875"/>
                </a:lnTo>
                <a:lnTo>
                  <a:pt x="4500" y="1003500"/>
                </a:lnTo>
                <a:lnTo>
                  <a:pt x="3125" y="998875"/>
                </a:lnTo>
                <a:lnTo>
                  <a:pt x="2000" y="994000"/>
                </a:lnTo>
                <a:lnTo>
                  <a:pt x="1125" y="988875"/>
                </a:lnTo>
                <a:lnTo>
                  <a:pt x="500" y="983500"/>
                </a:lnTo>
                <a:lnTo>
                  <a:pt x="125" y="977875"/>
                </a:lnTo>
                <a:lnTo>
                  <a:pt x="0" y="972000"/>
                </a:lnTo>
                <a:lnTo>
                  <a:pt x="0" y="72000"/>
                </a:lnTo>
                <a:lnTo>
                  <a:pt x="125" y="66125"/>
                </a:lnTo>
                <a:lnTo>
                  <a:pt x="500" y="60500"/>
                </a:lnTo>
                <a:lnTo>
                  <a:pt x="1125" y="55125"/>
                </a:lnTo>
                <a:lnTo>
                  <a:pt x="2000" y="50000"/>
                </a:lnTo>
                <a:lnTo>
                  <a:pt x="3125" y="45125"/>
                </a:lnTo>
                <a:lnTo>
                  <a:pt x="4500" y="40500"/>
                </a:lnTo>
                <a:lnTo>
                  <a:pt x="6125" y="36125"/>
                </a:lnTo>
                <a:lnTo>
                  <a:pt x="8000" y="32000"/>
                </a:lnTo>
                <a:lnTo>
                  <a:pt x="10125" y="28125"/>
                </a:lnTo>
                <a:lnTo>
                  <a:pt x="12500" y="24500"/>
                </a:lnTo>
                <a:lnTo>
                  <a:pt x="15125" y="21125"/>
                </a:lnTo>
                <a:lnTo>
                  <a:pt x="18000" y="18000"/>
                </a:lnTo>
                <a:lnTo>
                  <a:pt x="21125" y="15125"/>
                </a:lnTo>
                <a:lnTo>
                  <a:pt x="24500" y="12500"/>
                </a:lnTo>
                <a:lnTo>
                  <a:pt x="28125" y="10125"/>
                </a:lnTo>
                <a:lnTo>
                  <a:pt x="32000" y="8000"/>
                </a:lnTo>
                <a:lnTo>
                  <a:pt x="36125" y="6125"/>
                </a:lnTo>
                <a:lnTo>
                  <a:pt x="40500" y="4500"/>
                </a:lnTo>
                <a:lnTo>
                  <a:pt x="45125" y="3125"/>
                </a:lnTo>
                <a:lnTo>
                  <a:pt x="50000" y="2000"/>
                </a:lnTo>
                <a:lnTo>
                  <a:pt x="55125" y="1125"/>
                </a:lnTo>
                <a:lnTo>
                  <a:pt x="60500" y="500"/>
                </a:lnTo>
                <a:lnTo>
                  <a:pt x="66125" y="125"/>
                </a:lnTo>
                <a:lnTo>
                  <a:pt x="72000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  <a:prstDash val="solid"/>
          </a:ln>
        </p:spPr>
      </p:sp>
      <p:sp>
        <p:nvSpPr>
          <p:cNvPr id="71" name="d_vector_69"/>
          <p:cNvSpPr>
            <a:spLocks noGrp="1"/>
          </p:cNvSpPr>
          <p:nvPr/>
        </p:nvSpPr>
        <p:spPr>
          <a:xfrm>
            <a:off x="3397539" y="4629714"/>
            <a:ext cx="129329" cy="185254"/>
          </a:xfrm>
          <a:custGeom>
            <a:avLst/>
            <a:gdLst/>
            <a:ahLst/>
            <a:cxnLst/>
            <a:pathLst>
              <a:path w="133200" h="190800">
                <a:moveTo>
                  <a:pt x="14400" y="0"/>
                </a:moveTo>
                <a:lnTo>
                  <a:pt x="118800" y="0"/>
                </a:lnTo>
                <a:lnTo>
                  <a:pt x="119975" y="25"/>
                </a:lnTo>
                <a:lnTo>
                  <a:pt x="121100" y="100"/>
                </a:lnTo>
                <a:lnTo>
                  <a:pt x="122175" y="225"/>
                </a:lnTo>
                <a:lnTo>
                  <a:pt x="123200" y="400"/>
                </a:lnTo>
                <a:lnTo>
                  <a:pt x="124175" y="625"/>
                </a:lnTo>
                <a:lnTo>
                  <a:pt x="125100" y="900"/>
                </a:lnTo>
                <a:lnTo>
                  <a:pt x="125975" y="1225"/>
                </a:lnTo>
                <a:lnTo>
                  <a:pt x="126800" y="1600"/>
                </a:lnTo>
                <a:lnTo>
                  <a:pt x="127575" y="2025"/>
                </a:lnTo>
                <a:lnTo>
                  <a:pt x="128300" y="2500"/>
                </a:lnTo>
                <a:lnTo>
                  <a:pt x="128975" y="3025"/>
                </a:lnTo>
                <a:lnTo>
                  <a:pt x="129600" y="3600"/>
                </a:lnTo>
                <a:lnTo>
                  <a:pt x="130175" y="4225"/>
                </a:lnTo>
                <a:lnTo>
                  <a:pt x="130700" y="4900"/>
                </a:lnTo>
                <a:lnTo>
                  <a:pt x="131175" y="5625"/>
                </a:lnTo>
                <a:lnTo>
                  <a:pt x="131600" y="6400"/>
                </a:lnTo>
                <a:lnTo>
                  <a:pt x="131975" y="7225"/>
                </a:lnTo>
                <a:lnTo>
                  <a:pt x="132300" y="8100"/>
                </a:lnTo>
                <a:lnTo>
                  <a:pt x="132575" y="9025"/>
                </a:lnTo>
                <a:lnTo>
                  <a:pt x="132800" y="10000"/>
                </a:lnTo>
                <a:lnTo>
                  <a:pt x="132975" y="11025"/>
                </a:lnTo>
                <a:lnTo>
                  <a:pt x="133100" y="12100"/>
                </a:lnTo>
                <a:lnTo>
                  <a:pt x="133175" y="13225"/>
                </a:lnTo>
                <a:lnTo>
                  <a:pt x="133200" y="14400"/>
                </a:lnTo>
                <a:lnTo>
                  <a:pt x="133200" y="176400"/>
                </a:lnTo>
                <a:lnTo>
                  <a:pt x="133175" y="177575"/>
                </a:lnTo>
                <a:lnTo>
                  <a:pt x="133100" y="178700"/>
                </a:lnTo>
                <a:lnTo>
                  <a:pt x="132975" y="179775"/>
                </a:lnTo>
                <a:lnTo>
                  <a:pt x="132800" y="180800"/>
                </a:lnTo>
                <a:lnTo>
                  <a:pt x="132575" y="181775"/>
                </a:lnTo>
                <a:lnTo>
                  <a:pt x="132300" y="182700"/>
                </a:lnTo>
                <a:lnTo>
                  <a:pt x="131975" y="183575"/>
                </a:lnTo>
                <a:lnTo>
                  <a:pt x="131600" y="184400"/>
                </a:lnTo>
                <a:lnTo>
                  <a:pt x="131175" y="185175"/>
                </a:lnTo>
                <a:lnTo>
                  <a:pt x="130700" y="185900"/>
                </a:lnTo>
                <a:lnTo>
                  <a:pt x="130175" y="186575"/>
                </a:lnTo>
                <a:lnTo>
                  <a:pt x="129600" y="187200"/>
                </a:lnTo>
                <a:lnTo>
                  <a:pt x="128975" y="187775"/>
                </a:lnTo>
                <a:lnTo>
                  <a:pt x="128300" y="188300"/>
                </a:lnTo>
                <a:lnTo>
                  <a:pt x="127575" y="188775"/>
                </a:lnTo>
                <a:lnTo>
                  <a:pt x="126800" y="189200"/>
                </a:lnTo>
                <a:lnTo>
                  <a:pt x="125975" y="189575"/>
                </a:lnTo>
                <a:lnTo>
                  <a:pt x="125100" y="189900"/>
                </a:lnTo>
                <a:lnTo>
                  <a:pt x="124175" y="190175"/>
                </a:lnTo>
                <a:lnTo>
                  <a:pt x="123200" y="190400"/>
                </a:lnTo>
                <a:lnTo>
                  <a:pt x="122175" y="190575"/>
                </a:lnTo>
                <a:lnTo>
                  <a:pt x="121100" y="190700"/>
                </a:lnTo>
                <a:lnTo>
                  <a:pt x="119975" y="190775"/>
                </a:lnTo>
                <a:lnTo>
                  <a:pt x="118800" y="190800"/>
                </a:lnTo>
                <a:lnTo>
                  <a:pt x="14400" y="190800"/>
                </a:lnTo>
                <a:lnTo>
                  <a:pt x="13225" y="190775"/>
                </a:lnTo>
                <a:lnTo>
                  <a:pt x="12100" y="190700"/>
                </a:lnTo>
                <a:lnTo>
                  <a:pt x="11025" y="190575"/>
                </a:lnTo>
                <a:lnTo>
                  <a:pt x="10000" y="190400"/>
                </a:lnTo>
                <a:lnTo>
                  <a:pt x="9025" y="190175"/>
                </a:lnTo>
                <a:lnTo>
                  <a:pt x="8100" y="189900"/>
                </a:lnTo>
                <a:lnTo>
                  <a:pt x="7225" y="189575"/>
                </a:lnTo>
                <a:lnTo>
                  <a:pt x="6400" y="189200"/>
                </a:lnTo>
                <a:lnTo>
                  <a:pt x="5625" y="188775"/>
                </a:lnTo>
                <a:lnTo>
                  <a:pt x="4900" y="188300"/>
                </a:lnTo>
                <a:lnTo>
                  <a:pt x="4225" y="187775"/>
                </a:lnTo>
                <a:lnTo>
                  <a:pt x="3600" y="187200"/>
                </a:lnTo>
                <a:lnTo>
                  <a:pt x="3025" y="186575"/>
                </a:lnTo>
                <a:lnTo>
                  <a:pt x="2500" y="185900"/>
                </a:lnTo>
                <a:lnTo>
                  <a:pt x="2025" y="185175"/>
                </a:lnTo>
                <a:lnTo>
                  <a:pt x="1600" y="184400"/>
                </a:lnTo>
                <a:lnTo>
                  <a:pt x="1225" y="183575"/>
                </a:lnTo>
                <a:lnTo>
                  <a:pt x="900" y="182700"/>
                </a:lnTo>
                <a:lnTo>
                  <a:pt x="625" y="181775"/>
                </a:lnTo>
                <a:lnTo>
                  <a:pt x="400" y="180800"/>
                </a:lnTo>
                <a:lnTo>
                  <a:pt x="225" y="179775"/>
                </a:lnTo>
                <a:lnTo>
                  <a:pt x="100" y="178700"/>
                </a:lnTo>
                <a:lnTo>
                  <a:pt x="25" y="177575"/>
                </a:lnTo>
                <a:lnTo>
                  <a:pt x="0" y="176400"/>
                </a:lnTo>
                <a:lnTo>
                  <a:pt x="0" y="14400"/>
                </a:lnTo>
                <a:lnTo>
                  <a:pt x="25" y="13225"/>
                </a:lnTo>
                <a:lnTo>
                  <a:pt x="100" y="12100"/>
                </a:lnTo>
                <a:lnTo>
                  <a:pt x="225" y="11025"/>
                </a:lnTo>
                <a:lnTo>
                  <a:pt x="400" y="10000"/>
                </a:lnTo>
                <a:lnTo>
                  <a:pt x="625" y="9025"/>
                </a:lnTo>
                <a:lnTo>
                  <a:pt x="900" y="8100"/>
                </a:lnTo>
                <a:lnTo>
                  <a:pt x="1225" y="7225"/>
                </a:lnTo>
                <a:lnTo>
                  <a:pt x="1600" y="6400"/>
                </a:lnTo>
                <a:lnTo>
                  <a:pt x="2025" y="5625"/>
                </a:lnTo>
                <a:lnTo>
                  <a:pt x="2500" y="4900"/>
                </a:lnTo>
                <a:lnTo>
                  <a:pt x="3025" y="4225"/>
                </a:lnTo>
                <a:lnTo>
                  <a:pt x="3600" y="3600"/>
                </a:lnTo>
                <a:lnTo>
                  <a:pt x="4225" y="3025"/>
                </a:lnTo>
                <a:lnTo>
                  <a:pt x="4900" y="2500"/>
                </a:lnTo>
                <a:lnTo>
                  <a:pt x="5625" y="2025"/>
                </a:lnTo>
                <a:lnTo>
                  <a:pt x="6400" y="1600"/>
                </a:lnTo>
                <a:lnTo>
                  <a:pt x="7225" y="1225"/>
                </a:lnTo>
                <a:lnTo>
                  <a:pt x="8100" y="900"/>
                </a:lnTo>
                <a:lnTo>
                  <a:pt x="9025" y="625"/>
                </a:lnTo>
                <a:lnTo>
                  <a:pt x="10000" y="400"/>
                </a:lnTo>
                <a:lnTo>
                  <a:pt x="11025" y="225"/>
                </a:lnTo>
                <a:lnTo>
                  <a:pt x="12100" y="100"/>
                </a:lnTo>
                <a:lnTo>
                  <a:pt x="13225" y="25"/>
                </a:lnTo>
                <a:lnTo>
                  <a:pt x="14400" y="0"/>
                </a:lnTo>
                <a:close/>
              </a:path>
            </a:pathLst>
          </a:custGeom>
          <a:solidFill>
            <a:srgbClr val="F8F8F8"/>
          </a:solidFill>
          <a:ln w="6985">
            <a:solidFill>
              <a:srgbClr val="666666"/>
            </a:solidFill>
            <a:prstDash val="solid"/>
          </a:ln>
        </p:spPr>
      </p:sp>
      <p:sp>
        <p:nvSpPr>
          <p:cNvPr id="72" name="d_vector_70"/>
          <p:cNvSpPr>
            <a:spLocks noGrp="1"/>
          </p:cNvSpPr>
          <p:nvPr/>
        </p:nvSpPr>
        <p:spPr>
          <a:xfrm>
            <a:off x="3551335" y="4629714"/>
            <a:ext cx="129329" cy="185254"/>
          </a:xfrm>
          <a:custGeom>
            <a:avLst/>
            <a:gdLst/>
            <a:ahLst/>
            <a:cxnLst/>
            <a:pathLst>
              <a:path w="133200" h="190800">
                <a:moveTo>
                  <a:pt x="14400" y="0"/>
                </a:moveTo>
                <a:lnTo>
                  <a:pt x="118800" y="0"/>
                </a:lnTo>
                <a:lnTo>
                  <a:pt x="119975" y="25"/>
                </a:lnTo>
                <a:lnTo>
                  <a:pt x="121100" y="100"/>
                </a:lnTo>
                <a:lnTo>
                  <a:pt x="122175" y="225"/>
                </a:lnTo>
                <a:lnTo>
                  <a:pt x="123200" y="400"/>
                </a:lnTo>
                <a:lnTo>
                  <a:pt x="124175" y="625"/>
                </a:lnTo>
                <a:lnTo>
                  <a:pt x="125100" y="900"/>
                </a:lnTo>
                <a:lnTo>
                  <a:pt x="125975" y="1225"/>
                </a:lnTo>
                <a:lnTo>
                  <a:pt x="126800" y="1600"/>
                </a:lnTo>
                <a:lnTo>
                  <a:pt x="127575" y="2025"/>
                </a:lnTo>
                <a:lnTo>
                  <a:pt x="128300" y="2500"/>
                </a:lnTo>
                <a:lnTo>
                  <a:pt x="128975" y="3025"/>
                </a:lnTo>
                <a:lnTo>
                  <a:pt x="129600" y="3600"/>
                </a:lnTo>
                <a:lnTo>
                  <a:pt x="130175" y="4225"/>
                </a:lnTo>
                <a:lnTo>
                  <a:pt x="130700" y="4900"/>
                </a:lnTo>
                <a:lnTo>
                  <a:pt x="131175" y="5625"/>
                </a:lnTo>
                <a:lnTo>
                  <a:pt x="131600" y="6400"/>
                </a:lnTo>
                <a:lnTo>
                  <a:pt x="131975" y="7225"/>
                </a:lnTo>
                <a:lnTo>
                  <a:pt x="132300" y="8100"/>
                </a:lnTo>
                <a:lnTo>
                  <a:pt x="132575" y="9025"/>
                </a:lnTo>
                <a:lnTo>
                  <a:pt x="132800" y="10000"/>
                </a:lnTo>
                <a:lnTo>
                  <a:pt x="132975" y="11025"/>
                </a:lnTo>
                <a:lnTo>
                  <a:pt x="133100" y="12100"/>
                </a:lnTo>
                <a:lnTo>
                  <a:pt x="133175" y="13225"/>
                </a:lnTo>
                <a:lnTo>
                  <a:pt x="133200" y="14400"/>
                </a:lnTo>
                <a:lnTo>
                  <a:pt x="133200" y="176400"/>
                </a:lnTo>
                <a:lnTo>
                  <a:pt x="133175" y="177575"/>
                </a:lnTo>
                <a:lnTo>
                  <a:pt x="133100" y="178700"/>
                </a:lnTo>
                <a:lnTo>
                  <a:pt x="132975" y="179775"/>
                </a:lnTo>
                <a:lnTo>
                  <a:pt x="132800" y="180800"/>
                </a:lnTo>
                <a:lnTo>
                  <a:pt x="132575" y="181775"/>
                </a:lnTo>
                <a:lnTo>
                  <a:pt x="132300" y="182700"/>
                </a:lnTo>
                <a:lnTo>
                  <a:pt x="131975" y="183575"/>
                </a:lnTo>
                <a:lnTo>
                  <a:pt x="131600" y="184400"/>
                </a:lnTo>
                <a:lnTo>
                  <a:pt x="131175" y="185175"/>
                </a:lnTo>
                <a:lnTo>
                  <a:pt x="130700" y="185900"/>
                </a:lnTo>
                <a:lnTo>
                  <a:pt x="130175" y="186575"/>
                </a:lnTo>
                <a:lnTo>
                  <a:pt x="129600" y="187200"/>
                </a:lnTo>
                <a:lnTo>
                  <a:pt x="128975" y="187775"/>
                </a:lnTo>
                <a:lnTo>
                  <a:pt x="128300" y="188300"/>
                </a:lnTo>
                <a:lnTo>
                  <a:pt x="127575" y="188775"/>
                </a:lnTo>
                <a:lnTo>
                  <a:pt x="126800" y="189200"/>
                </a:lnTo>
                <a:lnTo>
                  <a:pt x="125975" y="189575"/>
                </a:lnTo>
                <a:lnTo>
                  <a:pt x="125100" y="189900"/>
                </a:lnTo>
                <a:lnTo>
                  <a:pt x="124175" y="190175"/>
                </a:lnTo>
                <a:lnTo>
                  <a:pt x="123200" y="190400"/>
                </a:lnTo>
                <a:lnTo>
                  <a:pt x="122175" y="190575"/>
                </a:lnTo>
                <a:lnTo>
                  <a:pt x="121100" y="190700"/>
                </a:lnTo>
                <a:lnTo>
                  <a:pt x="119975" y="190775"/>
                </a:lnTo>
                <a:lnTo>
                  <a:pt x="118800" y="190800"/>
                </a:lnTo>
                <a:lnTo>
                  <a:pt x="14400" y="190800"/>
                </a:lnTo>
                <a:lnTo>
                  <a:pt x="13225" y="190775"/>
                </a:lnTo>
                <a:lnTo>
                  <a:pt x="12100" y="190700"/>
                </a:lnTo>
                <a:lnTo>
                  <a:pt x="11025" y="190575"/>
                </a:lnTo>
                <a:lnTo>
                  <a:pt x="10000" y="190400"/>
                </a:lnTo>
                <a:lnTo>
                  <a:pt x="9025" y="190175"/>
                </a:lnTo>
                <a:lnTo>
                  <a:pt x="8100" y="189900"/>
                </a:lnTo>
                <a:lnTo>
                  <a:pt x="7225" y="189575"/>
                </a:lnTo>
                <a:lnTo>
                  <a:pt x="6400" y="189200"/>
                </a:lnTo>
                <a:lnTo>
                  <a:pt x="5625" y="188775"/>
                </a:lnTo>
                <a:lnTo>
                  <a:pt x="4900" y="188300"/>
                </a:lnTo>
                <a:lnTo>
                  <a:pt x="4225" y="187775"/>
                </a:lnTo>
                <a:lnTo>
                  <a:pt x="3600" y="187200"/>
                </a:lnTo>
                <a:lnTo>
                  <a:pt x="3025" y="186575"/>
                </a:lnTo>
                <a:lnTo>
                  <a:pt x="2500" y="185900"/>
                </a:lnTo>
                <a:lnTo>
                  <a:pt x="2025" y="185175"/>
                </a:lnTo>
                <a:lnTo>
                  <a:pt x="1600" y="184400"/>
                </a:lnTo>
                <a:lnTo>
                  <a:pt x="1225" y="183575"/>
                </a:lnTo>
                <a:lnTo>
                  <a:pt x="900" y="182700"/>
                </a:lnTo>
                <a:lnTo>
                  <a:pt x="625" y="181775"/>
                </a:lnTo>
                <a:lnTo>
                  <a:pt x="400" y="180800"/>
                </a:lnTo>
                <a:lnTo>
                  <a:pt x="225" y="179775"/>
                </a:lnTo>
                <a:lnTo>
                  <a:pt x="100" y="178700"/>
                </a:lnTo>
                <a:lnTo>
                  <a:pt x="25" y="177575"/>
                </a:lnTo>
                <a:lnTo>
                  <a:pt x="0" y="176400"/>
                </a:lnTo>
                <a:lnTo>
                  <a:pt x="0" y="14400"/>
                </a:lnTo>
                <a:lnTo>
                  <a:pt x="25" y="13225"/>
                </a:lnTo>
                <a:lnTo>
                  <a:pt x="100" y="12100"/>
                </a:lnTo>
                <a:lnTo>
                  <a:pt x="225" y="11025"/>
                </a:lnTo>
                <a:lnTo>
                  <a:pt x="400" y="10000"/>
                </a:lnTo>
                <a:lnTo>
                  <a:pt x="625" y="9025"/>
                </a:lnTo>
                <a:lnTo>
                  <a:pt x="900" y="8100"/>
                </a:lnTo>
                <a:lnTo>
                  <a:pt x="1225" y="7225"/>
                </a:lnTo>
                <a:lnTo>
                  <a:pt x="1600" y="6400"/>
                </a:lnTo>
                <a:lnTo>
                  <a:pt x="2025" y="5625"/>
                </a:lnTo>
                <a:lnTo>
                  <a:pt x="2500" y="4900"/>
                </a:lnTo>
                <a:lnTo>
                  <a:pt x="3025" y="4225"/>
                </a:lnTo>
                <a:lnTo>
                  <a:pt x="3600" y="3600"/>
                </a:lnTo>
                <a:lnTo>
                  <a:pt x="4225" y="3025"/>
                </a:lnTo>
                <a:lnTo>
                  <a:pt x="4900" y="2500"/>
                </a:lnTo>
                <a:lnTo>
                  <a:pt x="5625" y="2025"/>
                </a:lnTo>
                <a:lnTo>
                  <a:pt x="6400" y="1600"/>
                </a:lnTo>
                <a:lnTo>
                  <a:pt x="7225" y="1225"/>
                </a:lnTo>
                <a:lnTo>
                  <a:pt x="8100" y="900"/>
                </a:lnTo>
                <a:lnTo>
                  <a:pt x="9025" y="625"/>
                </a:lnTo>
                <a:lnTo>
                  <a:pt x="10000" y="400"/>
                </a:lnTo>
                <a:lnTo>
                  <a:pt x="11025" y="225"/>
                </a:lnTo>
                <a:lnTo>
                  <a:pt x="12100" y="100"/>
                </a:lnTo>
                <a:lnTo>
                  <a:pt x="13225" y="25"/>
                </a:lnTo>
                <a:lnTo>
                  <a:pt x="14400" y="0"/>
                </a:lnTo>
                <a:close/>
              </a:path>
            </a:pathLst>
          </a:custGeom>
          <a:solidFill>
            <a:srgbClr val="F8F8F8"/>
          </a:solidFill>
          <a:ln w="6985">
            <a:solidFill>
              <a:srgbClr val="666666"/>
            </a:solidFill>
            <a:prstDash val="solid"/>
          </a:ln>
        </p:spPr>
      </p:sp>
      <p:sp>
        <p:nvSpPr>
          <p:cNvPr id="73" name="d_vector_71"/>
          <p:cNvSpPr>
            <a:spLocks noGrp="1"/>
          </p:cNvSpPr>
          <p:nvPr/>
        </p:nvSpPr>
        <p:spPr>
          <a:xfrm>
            <a:off x="3705131" y="4629714"/>
            <a:ext cx="129329" cy="185254"/>
          </a:xfrm>
          <a:custGeom>
            <a:avLst/>
            <a:gdLst/>
            <a:ahLst/>
            <a:cxnLst/>
            <a:pathLst>
              <a:path w="133200" h="190800">
                <a:moveTo>
                  <a:pt x="14400" y="0"/>
                </a:moveTo>
                <a:lnTo>
                  <a:pt x="118800" y="0"/>
                </a:lnTo>
                <a:lnTo>
                  <a:pt x="119975" y="25"/>
                </a:lnTo>
                <a:lnTo>
                  <a:pt x="121100" y="100"/>
                </a:lnTo>
                <a:lnTo>
                  <a:pt x="122175" y="225"/>
                </a:lnTo>
                <a:lnTo>
                  <a:pt x="123200" y="400"/>
                </a:lnTo>
                <a:lnTo>
                  <a:pt x="124175" y="625"/>
                </a:lnTo>
                <a:lnTo>
                  <a:pt x="125100" y="900"/>
                </a:lnTo>
                <a:lnTo>
                  <a:pt x="125975" y="1225"/>
                </a:lnTo>
                <a:lnTo>
                  <a:pt x="126800" y="1600"/>
                </a:lnTo>
                <a:lnTo>
                  <a:pt x="127575" y="2025"/>
                </a:lnTo>
                <a:lnTo>
                  <a:pt x="128300" y="2500"/>
                </a:lnTo>
                <a:lnTo>
                  <a:pt x="128975" y="3025"/>
                </a:lnTo>
                <a:lnTo>
                  <a:pt x="129600" y="3600"/>
                </a:lnTo>
                <a:lnTo>
                  <a:pt x="130175" y="4225"/>
                </a:lnTo>
                <a:lnTo>
                  <a:pt x="130700" y="4900"/>
                </a:lnTo>
                <a:lnTo>
                  <a:pt x="131175" y="5625"/>
                </a:lnTo>
                <a:lnTo>
                  <a:pt x="131600" y="6400"/>
                </a:lnTo>
                <a:lnTo>
                  <a:pt x="131975" y="7225"/>
                </a:lnTo>
                <a:lnTo>
                  <a:pt x="132300" y="8100"/>
                </a:lnTo>
                <a:lnTo>
                  <a:pt x="132575" y="9025"/>
                </a:lnTo>
                <a:lnTo>
                  <a:pt x="132800" y="10000"/>
                </a:lnTo>
                <a:lnTo>
                  <a:pt x="132975" y="11025"/>
                </a:lnTo>
                <a:lnTo>
                  <a:pt x="133100" y="12100"/>
                </a:lnTo>
                <a:lnTo>
                  <a:pt x="133175" y="13225"/>
                </a:lnTo>
                <a:lnTo>
                  <a:pt x="133200" y="14400"/>
                </a:lnTo>
                <a:lnTo>
                  <a:pt x="133200" y="176400"/>
                </a:lnTo>
                <a:lnTo>
                  <a:pt x="133175" y="177575"/>
                </a:lnTo>
                <a:lnTo>
                  <a:pt x="133100" y="178700"/>
                </a:lnTo>
                <a:lnTo>
                  <a:pt x="132975" y="179775"/>
                </a:lnTo>
                <a:lnTo>
                  <a:pt x="132800" y="180800"/>
                </a:lnTo>
                <a:lnTo>
                  <a:pt x="132575" y="181775"/>
                </a:lnTo>
                <a:lnTo>
                  <a:pt x="132300" y="182700"/>
                </a:lnTo>
                <a:lnTo>
                  <a:pt x="131975" y="183575"/>
                </a:lnTo>
                <a:lnTo>
                  <a:pt x="131600" y="184400"/>
                </a:lnTo>
                <a:lnTo>
                  <a:pt x="131175" y="185175"/>
                </a:lnTo>
                <a:lnTo>
                  <a:pt x="130700" y="185900"/>
                </a:lnTo>
                <a:lnTo>
                  <a:pt x="130175" y="186575"/>
                </a:lnTo>
                <a:lnTo>
                  <a:pt x="129600" y="187200"/>
                </a:lnTo>
                <a:lnTo>
                  <a:pt x="128975" y="187775"/>
                </a:lnTo>
                <a:lnTo>
                  <a:pt x="128300" y="188300"/>
                </a:lnTo>
                <a:lnTo>
                  <a:pt x="127575" y="188775"/>
                </a:lnTo>
                <a:lnTo>
                  <a:pt x="126800" y="189200"/>
                </a:lnTo>
                <a:lnTo>
                  <a:pt x="125975" y="189575"/>
                </a:lnTo>
                <a:lnTo>
                  <a:pt x="125100" y="189900"/>
                </a:lnTo>
                <a:lnTo>
                  <a:pt x="124175" y="190175"/>
                </a:lnTo>
                <a:lnTo>
                  <a:pt x="123200" y="190400"/>
                </a:lnTo>
                <a:lnTo>
                  <a:pt x="122175" y="190575"/>
                </a:lnTo>
                <a:lnTo>
                  <a:pt x="121100" y="190700"/>
                </a:lnTo>
                <a:lnTo>
                  <a:pt x="119975" y="190775"/>
                </a:lnTo>
                <a:lnTo>
                  <a:pt x="118800" y="190800"/>
                </a:lnTo>
                <a:lnTo>
                  <a:pt x="14400" y="190800"/>
                </a:lnTo>
                <a:lnTo>
                  <a:pt x="13225" y="190775"/>
                </a:lnTo>
                <a:lnTo>
                  <a:pt x="12100" y="190700"/>
                </a:lnTo>
                <a:lnTo>
                  <a:pt x="11025" y="190575"/>
                </a:lnTo>
                <a:lnTo>
                  <a:pt x="10000" y="190400"/>
                </a:lnTo>
                <a:lnTo>
                  <a:pt x="9025" y="190175"/>
                </a:lnTo>
                <a:lnTo>
                  <a:pt x="8100" y="189900"/>
                </a:lnTo>
                <a:lnTo>
                  <a:pt x="7225" y="189575"/>
                </a:lnTo>
                <a:lnTo>
                  <a:pt x="6400" y="189200"/>
                </a:lnTo>
                <a:lnTo>
                  <a:pt x="5625" y="188775"/>
                </a:lnTo>
                <a:lnTo>
                  <a:pt x="4900" y="188300"/>
                </a:lnTo>
                <a:lnTo>
                  <a:pt x="4225" y="187775"/>
                </a:lnTo>
                <a:lnTo>
                  <a:pt x="3600" y="187200"/>
                </a:lnTo>
                <a:lnTo>
                  <a:pt x="3025" y="186575"/>
                </a:lnTo>
                <a:lnTo>
                  <a:pt x="2500" y="185900"/>
                </a:lnTo>
                <a:lnTo>
                  <a:pt x="2025" y="185175"/>
                </a:lnTo>
                <a:lnTo>
                  <a:pt x="1600" y="184400"/>
                </a:lnTo>
                <a:lnTo>
                  <a:pt x="1225" y="183575"/>
                </a:lnTo>
                <a:lnTo>
                  <a:pt x="900" y="182700"/>
                </a:lnTo>
                <a:lnTo>
                  <a:pt x="625" y="181775"/>
                </a:lnTo>
                <a:lnTo>
                  <a:pt x="400" y="180800"/>
                </a:lnTo>
                <a:lnTo>
                  <a:pt x="225" y="179775"/>
                </a:lnTo>
                <a:lnTo>
                  <a:pt x="100" y="178700"/>
                </a:lnTo>
                <a:lnTo>
                  <a:pt x="25" y="177575"/>
                </a:lnTo>
                <a:lnTo>
                  <a:pt x="0" y="176400"/>
                </a:lnTo>
                <a:lnTo>
                  <a:pt x="0" y="14400"/>
                </a:lnTo>
                <a:lnTo>
                  <a:pt x="25" y="13225"/>
                </a:lnTo>
                <a:lnTo>
                  <a:pt x="100" y="12100"/>
                </a:lnTo>
                <a:lnTo>
                  <a:pt x="225" y="11025"/>
                </a:lnTo>
                <a:lnTo>
                  <a:pt x="400" y="10000"/>
                </a:lnTo>
                <a:lnTo>
                  <a:pt x="625" y="9025"/>
                </a:lnTo>
                <a:lnTo>
                  <a:pt x="900" y="8100"/>
                </a:lnTo>
                <a:lnTo>
                  <a:pt x="1225" y="7225"/>
                </a:lnTo>
                <a:lnTo>
                  <a:pt x="1600" y="6400"/>
                </a:lnTo>
                <a:lnTo>
                  <a:pt x="2025" y="5625"/>
                </a:lnTo>
                <a:lnTo>
                  <a:pt x="2500" y="4900"/>
                </a:lnTo>
                <a:lnTo>
                  <a:pt x="3025" y="4225"/>
                </a:lnTo>
                <a:lnTo>
                  <a:pt x="3600" y="3600"/>
                </a:lnTo>
                <a:lnTo>
                  <a:pt x="4225" y="3025"/>
                </a:lnTo>
                <a:lnTo>
                  <a:pt x="4900" y="2500"/>
                </a:lnTo>
                <a:lnTo>
                  <a:pt x="5625" y="2025"/>
                </a:lnTo>
                <a:lnTo>
                  <a:pt x="6400" y="1600"/>
                </a:lnTo>
                <a:lnTo>
                  <a:pt x="7225" y="1225"/>
                </a:lnTo>
                <a:lnTo>
                  <a:pt x="8100" y="900"/>
                </a:lnTo>
                <a:lnTo>
                  <a:pt x="9025" y="625"/>
                </a:lnTo>
                <a:lnTo>
                  <a:pt x="10000" y="400"/>
                </a:lnTo>
                <a:lnTo>
                  <a:pt x="11025" y="225"/>
                </a:lnTo>
                <a:lnTo>
                  <a:pt x="12100" y="100"/>
                </a:lnTo>
                <a:lnTo>
                  <a:pt x="13225" y="25"/>
                </a:lnTo>
                <a:lnTo>
                  <a:pt x="14400" y="0"/>
                </a:lnTo>
                <a:close/>
              </a:path>
            </a:pathLst>
          </a:custGeom>
          <a:solidFill>
            <a:srgbClr val="F8F8F8"/>
          </a:solidFill>
          <a:ln w="6985">
            <a:solidFill>
              <a:srgbClr val="666666"/>
            </a:solidFill>
            <a:prstDash val="solid"/>
          </a:ln>
        </p:spPr>
      </p:sp>
      <p:sp>
        <p:nvSpPr>
          <p:cNvPr id="74" name="d_vector_72"/>
          <p:cNvSpPr>
            <a:spLocks noGrp="1"/>
          </p:cNvSpPr>
          <p:nvPr/>
        </p:nvSpPr>
        <p:spPr>
          <a:xfrm>
            <a:off x="3858928" y="4629714"/>
            <a:ext cx="129329" cy="185254"/>
          </a:xfrm>
          <a:custGeom>
            <a:avLst/>
            <a:gdLst/>
            <a:ahLst/>
            <a:cxnLst/>
            <a:pathLst>
              <a:path w="133200" h="190800">
                <a:moveTo>
                  <a:pt x="14400" y="0"/>
                </a:moveTo>
                <a:lnTo>
                  <a:pt x="118800" y="0"/>
                </a:lnTo>
                <a:lnTo>
                  <a:pt x="119975" y="25"/>
                </a:lnTo>
                <a:lnTo>
                  <a:pt x="121100" y="100"/>
                </a:lnTo>
                <a:lnTo>
                  <a:pt x="122175" y="225"/>
                </a:lnTo>
                <a:lnTo>
                  <a:pt x="123200" y="400"/>
                </a:lnTo>
                <a:lnTo>
                  <a:pt x="124175" y="625"/>
                </a:lnTo>
                <a:lnTo>
                  <a:pt x="125100" y="900"/>
                </a:lnTo>
                <a:lnTo>
                  <a:pt x="125975" y="1225"/>
                </a:lnTo>
                <a:lnTo>
                  <a:pt x="126800" y="1600"/>
                </a:lnTo>
                <a:lnTo>
                  <a:pt x="127575" y="2025"/>
                </a:lnTo>
                <a:lnTo>
                  <a:pt x="128300" y="2500"/>
                </a:lnTo>
                <a:lnTo>
                  <a:pt x="128975" y="3025"/>
                </a:lnTo>
                <a:lnTo>
                  <a:pt x="129600" y="3600"/>
                </a:lnTo>
                <a:lnTo>
                  <a:pt x="130175" y="4225"/>
                </a:lnTo>
                <a:lnTo>
                  <a:pt x="130700" y="4900"/>
                </a:lnTo>
                <a:lnTo>
                  <a:pt x="131175" y="5625"/>
                </a:lnTo>
                <a:lnTo>
                  <a:pt x="131600" y="6400"/>
                </a:lnTo>
                <a:lnTo>
                  <a:pt x="131975" y="7225"/>
                </a:lnTo>
                <a:lnTo>
                  <a:pt x="132300" y="8100"/>
                </a:lnTo>
                <a:lnTo>
                  <a:pt x="132575" y="9025"/>
                </a:lnTo>
                <a:lnTo>
                  <a:pt x="132800" y="10000"/>
                </a:lnTo>
                <a:lnTo>
                  <a:pt x="132975" y="11025"/>
                </a:lnTo>
                <a:lnTo>
                  <a:pt x="133100" y="12100"/>
                </a:lnTo>
                <a:lnTo>
                  <a:pt x="133175" y="13225"/>
                </a:lnTo>
                <a:lnTo>
                  <a:pt x="133200" y="14400"/>
                </a:lnTo>
                <a:lnTo>
                  <a:pt x="133200" y="176400"/>
                </a:lnTo>
                <a:lnTo>
                  <a:pt x="133175" y="177575"/>
                </a:lnTo>
                <a:lnTo>
                  <a:pt x="133100" y="178700"/>
                </a:lnTo>
                <a:lnTo>
                  <a:pt x="132975" y="179775"/>
                </a:lnTo>
                <a:lnTo>
                  <a:pt x="132800" y="180800"/>
                </a:lnTo>
                <a:lnTo>
                  <a:pt x="132575" y="181775"/>
                </a:lnTo>
                <a:lnTo>
                  <a:pt x="132300" y="182700"/>
                </a:lnTo>
                <a:lnTo>
                  <a:pt x="131975" y="183575"/>
                </a:lnTo>
                <a:lnTo>
                  <a:pt x="131600" y="184400"/>
                </a:lnTo>
                <a:lnTo>
                  <a:pt x="131175" y="185175"/>
                </a:lnTo>
                <a:lnTo>
                  <a:pt x="130700" y="185900"/>
                </a:lnTo>
                <a:lnTo>
                  <a:pt x="130175" y="186575"/>
                </a:lnTo>
                <a:lnTo>
                  <a:pt x="129600" y="187200"/>
                </a:lnTo>
                <a:lnTo>
                  <a:pt x="128975" y="187775"/>
                </a:lnTo>
                <a:lnTo>
                  <a:pt x="128300" y="188300"/>
                </a:lnTo>
                <a:lnTo>
                  <a:pt x="127575" y="188775"/>
                </a:lnTo>
                <a:lnTo>
                  <a:pt x="126800" y="189200"/>
                </a:lnTo>
                <a:lnTo>
                  <a:pt x="125975" y="189575"/>
                </a:lnTo>
                <a:lnTo>
                  <a:pt x="125100" y="189900"/>
                </a:lnTo>
                <a:lnTo>
                  <a:pt x="124175" y="190175"/>
                </a:lnTo>
                <a:lnTo>
                  <a:pt x="123200" y="190400"/>
                </a:lnTo>
                <a:lnTo>
                  <a:pt x="122175" y="190575"/>
                </a:lnTo>
                <a:lnTo>
                  <a:pt x="121100" y="190700"/>
                </a:lnTo>
                <a:lnTo>
                  <a:pt x="119975" y="190775"/>
                </a:lnTo>
                <a:lnTo>
                  <a:pt x="118800" y="190800"/>
                </a:lnTo>
                <a:lnTo>
                  <a:pt x="14400" y="190800"/>
                </a:lnTo>
                <a:lnTo>
                  <a:pt x="13225" y="190775"/>
                </a:lnTo>
                <a:lnTo>
                  <a:pt x="12100" y="190700"/>
                </a:lnTo>
                <a:lnTo>
                  <a:pt x="11025" y="190575"/>
                </a:lnTo>
                <a:lnTo>
                  <a:pt x="10000" y="190400"/>
                </a:lnTo>
                <a:lnTo>
                  <a:pt x="9025" y="190175"/>
                </a:lnTo>
                <a:lnTo>
                  <a:pt x="8100" y="189900"/>
                </a:lnTo>
                <a:lnTo>
                  <a:pt x="7225" y="189575"/>
                </a:lnTo>
                <a:lnTo>
                  <a:pt x="6400" y="189200"/>
                </a:lnTo>
                <a:lnTo>
                  <a:pt x="5625" y="188775"/>
                </a:lnTo>
                <a:lnTo>
                  <a:pt x="4900" y="188300"/>
                </a:lnTo>
                <a:lnTo>
                  <a:pt x="4225" y="187775"/>
                </a:lnTo>
                <a:lnTo>
                  <a:pt x="3600" y="187200"/>
                </a:lnTo>
                <a:lnTo>
                  <a:pt x="3025" y="186575"/>
                </a:lnTo>
                <a:lnTo>
                  <a:pt x="2500" y="185900"/>
                </a:lnTo>
                <a:lnTo>
                  <a:pt x="2025" y="185175"/>
                </a:lnTo>
                <a:lnTo>
                  <a:pt x="1600" y="184400"/>
                </a:lnTo>
                <a:lnTo>
                  <a:pt x="1225" y="183575"/>
                </a:lnTo>
                <a:lnTo>
                  <a:pt x="900" y="182700"/>
                </a:lnTo>
                <a:lnTo>
                  <a:pt x="625" y="181775"/>
                </a:lnTo>
                <a:lnTo>
                  <a:pt x="400" y="180800"/>
                </a:lnTo>
                <a:lnTo>
                  <a:pt x="225" y="179775"/>
                </a:lnTo>
                <a:lnTo>
                  <a:pt x="100" y="178700"/>
                </a:lnTo>
                <a:lnTo>
                  <a:pt x="25" y="177575"/>
                </a:lnTo>
                <a:lnTo>
                  <a:pt x="0" y="176400"/>
                </a:lnTo>
                <a:lnTo>
                  <a:pt x="0" y="14400"/>
                </a:lnTo>
                <a:lnTo>
                  <a:pt x="25" y="13225"/>
                </a:lnTo>
                <a:lnTo>
                  <a:pt x="100" y="12100"/>
                </a:lnTo>
                <a:lnTo>
                  <a:pt x="225" y="11025"/>
                </a:lnTo>
                <a:lnTo>
                  <a:pt x="400" y="10000"/>
                </a:lnTo>
                <a:lnTo>
                  <a:pt x="625" y="9025"/>
                </a:lnTo>
                <a:lnTo>
                  <a:pt x="900" y="8100"/>
                </a:lnTo>
                <a:lnTo>
                  <a:pt x="1225" y="7225"/>
                </a:lnTo>
                <a:lnTo>
                  <a:pt x="1600" y="6400"/>
                </a:lnTo>
                <a:lnTo>
                  <a:pt x="2025" y="5625"/>
                </a:lnTo>
                <a:lnTo>
                  <a:pt x="2500" y="4900"/>
                </a:lnTo>
                <a:lnTo>
                  <a:pt x="3025" y="4225"/>
                </a:lnTo>
                <a:lnTo>
                  <a:pt x="3600" y="3600"/>
                </a:lnTo>
                <a:lnTo>
                  <a:pt x="4225" y="3025"/>
                </a:lnTo>
                <a:lnTo>
                  <a:pt x="4900" y="2500"/>
                </a:lnTo>
                <a:lnTo>
                  <a:pt x="5625" y="2025"/>
                </a:lnTo>
                <a:lnTo>
                  <a:pt x="6400" y="1600"/>
                </a:lnTo>
                <a:lnTo>
                  <a:pt x="7225" y="1225"/>
                </a:lnTo>
                <a:lnTo>
                  <a:pt x="8100" y="900"/>
                </a:lnTo>
                <a:lnTo>
                  <a:pt x="9025" y="625"/>
                </a:lnTo>
                <a:lnTo>
                  <a:pt x="10000" y="400"/>
                </a:lnTo>
                <a:lnTo>
                  <a:pt x="11025" y="225"/>
                </a:lnTo>
                <a:lnTo>
                  <a:pt x="12100" y="100"/>
                </a:lnTo>
                <a:lnTo>
                  <a:pt x="13225" y="25"/>
                </a:lnTo>
                <a:lnTo>
                  <a:pt x="14400" y="0"/>
                </a:lnTo>
                <a:close/>
              </a:path>
            </a:pathLst>
          </a:custGeom>
          <a:solidFill>
            <a:srgbClr val="F8F8F8"/>
          </a:solidFill>
          <a:ln w="6985">
            <a:solidFill>
              <a:srgbClr val="666666"/>
            </a:solidFill>
            <a:prstDash val="solid"/>
          </a:ln>
        </p:spPr>
      </p:sp>
      <p:pic>
        <p:nvPicPr>
          <p:cNvPr id="328" name="图片 3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991" y="4564653"/>
            <a:ext cx="526775" cy="432074"/>
          </a:xfrm>
          <a:prstGeom prst="rect">
            <a:avLst/>
          </a:prstGeom>
        </p:spPr>
      </p:pic>
      <p:sp>
        <p:nvSpPr>
          <p:cNvPr id="76" name="d_text_31"/>
          <p:cNvSpPr>
            <a:spLocks noGrp="1"/>
          </p:cNvSpPr>
          <p:nvPr/>
        </p:nvSpPr>
        <p:spPr>
          <a:xfrm>
            <a:off x="157338" y="4310689"/>
            <a:ext cx="99984" cy="1603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endParaRPr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7" name="d_text_32"/>
          <p:cNvSpPr>
            <a:spLocks noGrp="1"/>
          </p:cNvSpPr>
          <p:nvPr/>
        </p:nvSpPr>
        <p:spPr>
          <a:xfrm>
            <a:off x="335597" y="4326719"/>
            <a:ext cx="1828240" cy="1282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Neural decoding and ROI associations</a:t>
            </a:r>
            <a:endParaRPr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8" name="d_text_33"/>
          <p:cNvSpPr>
            <a:spLocks noGrp="1"/>
          </p:cNvSpPr>
          <p:nvPr/>
        </p:nvSpPr>
        <p:spPr>
          <a:xfrm>
            <a:off x="309376" y="5010918"/>
            <a:ext cx="763947" cy="99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2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Single-trial beta maps</a:t>
            </a:r>
            <a:endParaRPr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9" name="d_vector_73"/>
          <p:cNvSpPr>
            <a:spLocks noGrp="1"/>
          </p:cNvSpPr>
          <p:nvPr/>
        </p:nvSpPr>
        <p:spPr>
          <a:xfrm>
            <a:off x="1125550" y="4773024"/>
            <a:ext cx="335061" cy="123"/>
          </a:xfrm>
          <a:custGeom>
            <a:avLst/>
            <a:gdLst/>
            <a:ahLst/>
            <a:cxnLst/>
            <a:pathLst>
              <a:path w="345091" h="127">
                <a:moveTo>
                  <a:pt x="0" y="0"/>
                </a:moveTo>
                <a:lnTo>
                  <a:pt x="14974" y="0"/>
                </a:lnTo>
                <a:lnTo>
                  <a:pt x="29896" y="0"/>
                </a:lnTo>
                <a:lnTo>
                  <a:pt x="44767" y="0"/>
                </a:lnTo>
                <a:lnTo>
                  <a:pt x="59586" y="0"/>
                </a:lnTo>
                <a:lnTo>
                  <a:pt x="74353" y="0"/>
                </a:lnTo>
                <a:lnTo>
                  <a:pt x="89068" y="0"/>
                </a:lnTo>
                <a:lnTo>
                  <a:pt x="103732" y="0"/>
                </a:lnTo>
                <a:lnTo>
                  <a:pt x="118343" y="0"/>
                </a:lnTo>
                <a:lnTo>
                  <a:pt x="132903" y="0"/>
                </a:lnTo>
                <a:lnTo>
                  <a:pt x="147412" y="0"/>
                </a:lnTo>
                <a:lnTo>
                  <a:pt x="161868" y="0"/>
                </a:lnTo>
                <a:lnTo>
                  <a:pt x="176273" y="0"/>
                </a:lnTo>
                <a:lnTo>
                  <a:pt x="190626" y="0"/>
                </a:lnTo>
                <a:lnTo>
                  <a:pt x="204927" y="0"/>
                </a:lnTo>
                <a:lnTo>
                  <a:pt x="219176" y="0"/>
                </a:lnTo>
                <a:lnTo>
                  <a:pt x="233374" y="0"/>
                </a:lnTo>
                <a:lnTo>
                  <a:pt x="247520" y="0"/>
                </a:lnTo>
                <a:lnTo>
                  <a:pt x="261614" y="0"/>
                </a:lnTo>
                <a:lnTo>
                  <a:pt x="275656" y="0"/>
                </a:lnTo>
                <a:lnTo>
                  <a:pt x="289647" y="0"/>
                </a:lnTo>
                <a:lnTo>
                  <a:pt x="303585" y="0"/>
                </a:lnTo>
                <a:lnTo>
                  <a:pt x="317472" y="0"/>
                </a:lnTo>
                <a:lnTo>
                  <a:pt x="331308" y="0"/>
                </a:lnTo>
                <a:lnTo>
                  <a:pt x="345091" y="0"/>
                </a:lnTo>
              </a:path>
            </a:pathLst>
          </a:custGeom>
          <a:noFill/>
          <a:ln w="13335">
            <a:solidFill>
              <a:srgbClr val="AFAFAF"/>
            </a:solidFill>
            <a:prstDash val="solid"/>
          </a:ln>
        </p:spPr>
      </p:sp>
      <p:sp>
        <p:nvSpPr>
          <p:cNvPr id="80" name="d_vector_74"/>
          <p:cNvSpPr>
            <a:spLocks noGrp="1"/>
          </p:cNvSpPr>
          <p:nvPr/>
        </p:nvSpPr>
        <p:spPr>
          <a:xfrm>
            <a:off x="1421153" y="4753295"/>
            <a:ext cx="39459" cy="39459"/>
          </a:xfrm>
          <a:custGeom>
            <a:avLst/>
            <a:gdLst/>
            <a:ahLst/>
            <a:cxnLst/>
            <a:pathLst>
              <a:path w="40640" h="40640">
                <a:moveTo>
                  <a:pt x="0" y="0"/>
                </a:moveTo>
                <a:lnTo>
                  <a:pt x="40640" y="2032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AFAFAF"/>
          </a:solidFill>
          <a:ln w="13335">
            <a:solidFill>
              <a:srgbClr val="AFAFAF"/>
            </a:solidFill>
            <a:prstDash val="solid"/>
          </a:ln>
        </p:spPr>
      </p:sp>
      <p:sp>
        <p:nvSpPr>
          <p:cNvPr id="81" name="d_text_34"/>
          <p:cNvSpPr>
            <a:spLocks noGrp="1"/>
          </p:cNvSpPr>
          <p:nvPr/>
        </p:nvSpPr>
        <p:spPr>
          <a:xfrm>
            <a:off x="1868568" y="4646814"/>
            <a:ext cx="705012" cy="11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3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Ridge regression</a:t>
            </a:r>
            <a:endParaRPr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2" name="d_text_35"/>
          <p:cNvSpPr>
            <a:spLocks noGrp="1"/>
          </p:cNvSpPr>
          <p:nvPr/>
        </p:nvSpPr>
        <p:spPr>
          <a:xfrm>
            <a:off x="1817370" y="4794885"/>
            <a:ext cx="862965" cy="996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2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Leave-one-trial-out</a:t>
            </a:r>
            <a:r>
              <a:rPr lang="en-US"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cv</a:t>
            </a:r>
            <a:endParaRPr lang="en-US"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3" name="d_vector_75"/>
          <p:cNvSpPr>
            <a:spLocks noGrp="1"/>
          </p:cNvSpPr>
          <p:nvPr/>
        </p:nvSpPr>
        <p:spPr>
          <a:xfrm>
            <a:off x="2943141" y="4773024"/>
            <a:ext cx="300107" cy="123"/>
          </a:xfrm>
          <a:custGeom>
            <a:avLst/>
            <a:gdLst/>
            <a:ahLst/>
            <a:cxnLst/>
            <a:pathLst>
              <a:path w="309091" h="127">
                <a:moveTo>
                  <a:pt x="0" y="0"/>
                </a:moveTo>
                <a:lnTo>
                  <a:pt x="13474" y="0"/>
                </a:lnTo>
                <a:lnTo>
                  <a:pt x="26896" y="0"/>
                </a:lnTo>
                <a:lnTo>
                  <a:pt x="40267" y="0"/>
                </a:lnTo>
                <a:lnTo>
                  <a:pt x="53586" y="0"/>
                </a:lnTo>
                <a:lnTo>
                  <a:pt x="66853" y="0"/>
                </a:lnTo>
                <a:lnTo>
                  <a:pt x="80068" y="0"/>
                </a:lnTo>
                <a:lnTo>
                  <a:pt x="93232" y="0"/>
                </a:lnTo>
                <a:lnTo>
                  <a:pt x="106343" y="0"/>
                </a:lnTo>
                <a:lnTo>
                  <a:pt x="119403" y="0"/>
                </a:lnTo>
                <a:lnTo>
                  <a:pt x="132412" y="0"/>
                </a:lnTo>
                <a:lnTo>
                  <a:pt x="145368" y="0"/>
                </a:lnTo>
                <a:lnTo>
                  <a:pt x="158273" y="0"/>
                </a:lnTo>
                <a:lnTo>
                  <a:pt x="171126" y="0"/>
                </a:lnTo>
                <a:lnTo>
                  <a:pt x="183927" y="0"/>
                </a:lnTo>
                <a:lnTo>
                  <a:pt x="196676" y="0"/>
                </a:lnTo>
                <a:lnTo>
                  <a:pt x="209374" y="0"/>
                </a:lnTo>
                <a:lnTo>
                  <a:pt x="222020" y="0"/>
                </a:lnTo>
                <a:lnTo>
                  <a:pt x="234614" y="0"/>
                </a:lnTo>
                <a:lnTo>
                  <a:pt x="247156" y="0"/>
                </a:lnTo>
                <a:lnTo>
                  <a:pt x="259647" y="0"/>
                </a:lnTo>
                <a:lnTo>
                  <a:pt x="272085" y="0"/>
                </a:lnTo>
                <a:lnTo>
                  <a:pt x="284472" y="0"/>
                </a:lnTo>
                <a:lnTo>
                  <a:pt x="296808" y="0"/>
                </a:lnTo>
                <a:lnTo>
                  <a:pt x="309091" y="0"/>
                </a:lnTo>
              </a:path>
            </a:pathLst>
          </a:custGeom>
          <a:noFill/>
          <a:ln w="13335">
            <a:solidFill>
              <a:srgbClr val="AFAFAF"/>
            </a:solidFill>
            <a:prstDash val="solid"/>
          </a:ln>
        </p:spPr>
      </p:sp>
      <p:sp>
        <p:nvSpPr>
          <p:cNvPr id="84" name="d_vector_76"/>
          <p:cNvSpPr>
            <a:spLocks noGrp="1"/>
          </p:cNvSpPr>
          <p:nvPr/>
        </p:nvSpPr>
        <p:spPr>
          <a:xfrm>
            <a:off x="3203790" y="4753295"/>
            <a:ext cx="39459" cy="39459"/>
          </a:xfrm>
          <a:custGeom>
            <a:avLst/>
            <a:gdLst/>
            <a:ahLst/>
            <a:cxnLst/>
            <a:pathLst>
              <a:path w="40640" h="40640">
                <a:moveTo>
                  <a:pt x="0" y="0"/>
                </a:moveTo>
                <a:lnTo>
                  <a:pt x="40640" y="2032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AFAFAF"/>
          </a:solidFill>
          <a:ln w="13335">
            <a:solidFill>
              <a:srgbClr val="AFAFAF"/>
            </a:solidFill>
            <a:prstDash val="solid"/>
          </a:ln>
        </p:spPr>
      </p:sp>
      <p:sp>
        <p:nvSpPr>
          <p:cNvPr id="85" name="d_text_36"/>
          <p:cNvSpPr>
            <a:spLocks noGrp="1"/>
          </p:cNvSpPr>
          <p:nvPr/>
        </p:nvSpPr>
        <p:spPr>
          <a:xfrm>
            <a:off x="3440237" y="4667551"/>
            <a:ext cx="68552" cy="1025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4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2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620"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6" name="d_text_37"/>
          <p:cNvSpPr>
            <a:spLocks noGrp="1"/>
          </p:cNvSpPr>
          <p:nvPr/>
        </p:nvSpPr>
        <p:spPr>
          <a:xfrm>
            <a:off x="3594039" y="4667551"/>
            <a:ext cx="68552" cy="1025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4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2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620"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7" name="d_text_38"/>
          <p:cNvSpPr>
            <a:spLocks noGrp="1"/>
          </p:cNvSpPr>
          <p:nvPr/>
        </p:nvSpPr>
        <p:spPr>
          <a:xfrm>
            <a:off x="3747828" y="4667551"/>
            <a:ext cx="68552" cy="1025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4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2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620"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8" name="d_text_39"/>
          <p:cNvSpPr>
            <a:spLocks noGrp="1"/>
          </p:cNvSpPr>
          <p:nvPr/>
        </p:nvSpPr>
        <p:spPr>
          <a:xfrm>
            <a:off x="3901629" y="4667551"/>
            <a:ext cx="68552" cy="1025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4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2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620"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9" name="d_text_40"/>
          <p:cNvSpPr>
            <a:spLocks noGrp="1"/>
          </p:cNvSpPr>
          <p:nvPr/>
        </p:nvSpPr>
        <p:spPr>
          <a:xfrm>
            <a:off x="3396341" y="5009964"/>
            <a:ext cx="657845" cy="99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2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Predicted intention</a:t>
            </a:r>
            <a:endParaRPr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1" name="e_vector_77"/>
          <p:cNvSpPr>
            <a:spLocks noGrp="1"/>
          </p:cNvSpPr>
          <p:nvPr/>
        </p:nvSpPr>
        <p:spPr>
          <a:xfrm>
            <a:off x="4341495" y="141605"/>
            <a:ext cx="2027555" cy="5173980"/>
          </a:xfrm>
          <a:custGeom>
            <a:avLst/>
            <a:gdLst/>
            <a:ahLst/>
            <a:cxnLst/>
            <a:pathLst>
              <a:path w="2088000" h="5328000">
                <a:moveTo>
                  <a:pt x="72000" y="0"/>
                </a:moveTo>
                <a:lnTo>
                  <a:pt x="2016000" y="0"/>
                </a:lnTo>
                <a:lnTo>
                  <a:pt x="2021875" y="125"/>
                </a:lnTo>
                <a:lnTo>
                  <a:pt x="2027500" y="500"/>
                </a:lnTo>
                <a:lnTo>
                  <a:pt x="2032875" y="1125"/>
                </a:lnTo>
                <a:lnTo>
                  <a:pt x="2038000" y="2000"/>
                </a:lnTo>
                <a:lnTo>
                  <a:pt x="2042875" y="3125"/>
                </a:lnTo>
                <a:lnTo>
                  <a:pt x="2047500" y="4500"/>
                </a:lnTo>
                <a:lnTo>
                  <a:pt x="2051875" y="6125"/>
                </a:lnTo>
                <a:lnTo>
                  <a:pt x="2056000" y="8000"/>
                </a:lnTo>
                <a:lnTo>
                  <a:pt x="2059875" y="10125"/>
                </a:lnTo>
                <a:lnTo>
                  <a:pt x="2063500" y="12500"/>
                </a:lnTo>
                <a:lnTo>
                  <a:pt x="2066875" y="15125"/>
                </a:lnTo>
                <a:lnTo>
                  <a:pt x="2070000" y="18000"/>
                </a:lnTo>
                <a:lnTo>
                  <a:pt x="2072875" y="21125"/>
                </a:lnTo>
                <a:lnTo>
                  <a:pt x="2075500" y="24500"/>
                </a:lnTo>
                <a:lnTo>
                  <a:pt x="2077875" y="28125"/>
                </a:lnTo>
                <a:lnTo>
                  <a:pt x="2080000" y="32000"/>
                </a:lnTo>
                <a:lnTo>
                  <a:pt x="2081875" y="36125"/>
                </a:lnTo>
                <a:lnTo>
                  <a:pt x="2083500" y="40500"/>
                </a:lnTo>
                <a:lnTo>
                  <a:pt x="2084875" y="45125"/>
                </a:lnTo>
                <a:lnTo>
                  <a:pt x="2086000" y="50000"/>
                </a:lnTo>
                <a:lnTo>
                  <a:pt x="2086875" y="55125"/>
                </a:lnTo>
                <a:lnTo>
                  <a:pt x="2087500" y="60500"/>
                </a:lnTo>
                <a:lnTo>
                  <a:pt x="2087875" y="66125"/>
                </a:lnTo>
                <a:lnTo>
                  <a:pt x="2088000" y="71999"/>
                </a:lnTo>
                <a:lnTo>
                  <a:pt x="2088000" y="5256000"/>
                </a:lnTo>
                <a:lnTo>
                  <a:pt x="2087875" y="5261875"/>
                </a:lnTo>
                <a:lnTo>
                  <a:pt x="2087500" y="5267500"/>
                </a:lnTo>
                <a:lnTo>
                  <a:pt x="2086875" y="5272875"/>
                </a:lnTo>
                <a:lnTo>
                  <a:pt x="2086000" y="5278000"/>
                </a:lnTo>
                <a:lnTo>
                  <a:pt x="2084875" y="5282875"/>
                </a:lnTo>
                <a:lnTo>
                  <a:pt x="2083500" y="5287500"/>
                </a:lnTo>
                <a:lnTo>
                  <a:pt x="2081875" y="5291875"/>
                </a:lnTo>
                <a:lnTo>
                  <a:pt x="2080000" y="5296000"/>
                </a:lnTo>
                <a:lnTo>
                  <a:pt x="2077875" y="5299875"/>
                </a:lnTo>
                <a:lnTo>
                  <a:pt x="2075500" y="5303500"/>
                </a:lnTo>
                <a:lnTo>
                  <a:pt x="2072875" y="5306875"/>
                </a:lnTo>
                <a:lnTo>
                  <a:pt x="2070000" y="5310000"/>
                </a:lnTo>
                <a:lnTo>
                  <a:pt x="2066875" y="5312875"/>
                </a:lnTo>
                <a:lnTo>
                  <a:pt x="2063500" y="5315500"/>
                </a:lnTo>
                <a:lnTo>
                  <a:pt x="2059875" y="5317875"/>
                </a:lnTo>
                <a:lnTo>
                  <a:pt x="2056000" y="5320000"/>
                </a:lnTo>
                <a:lnTo>
                  <a:pt x="2051875" y="5321875"/>
                </a:lnTo>
                <a:lnTo>
                  <a:pt x="2047500" y="5323500"/>
                </a:lnTo>
                <a:lnTo>
                  <a:pt x="2042875" y="5324875"/>
                </a:lnTo>
                <a:lnTo>
                  <a:pt x="2038000" y="5326000"/>
                </a:lnTo>
                <a:lnTo>
                  <a:pt x="2032875" y="5326875"/>
                </a:lnTo>
                <a:lnTo>
                  <a:pt x="2027500" y="5327500"/>
                </a:lnTo>
                <a:lnTo>
                  <a:pt x="2021875" y="5327875"/>
                </a:lnTo>
                <a:lnTo>
                  <a:pt x="2016000" y="5328000"/>
                </a:lnTo>
                <a:lnTo>
                  <a:pt x="72000" y="5328000"/>
                </a:lnTo>
                <a:lnTo>
                  <a:pt x="66125" y="5327875"/>
                </a:lnTo>
                <a:lnTo>
                  <a:pt x="60500" y="5327500"/>
                </a:lnTo>
                <a:lnTo>
                  <a:pt x="55125" y="5326875"/>
                </a:lnTo>
                <a:lnTo>
                  <a:pt x="50000" y="5326000"/>
                </a:lnTo>
                <a:lnTo>
                  <a:pt x="45125" y="5324875"/>
                </a:lnTo>
                <a:lnTo>
                  <a:pt x="40500" y="5323500"/>
                </a:lnTo>
                <a:lnTo>
                  <a:pt x="36125" y="5321875"/>
                </a:lnTo>
                <a:lnTo>
                  <a:pt x="32000" y="5320000"/>
                </a:lnTo>
                <a:lnTo>
                  <a:pt x="28125" y="5317875"/>
                </a:lnTo>
                <a:lnTo>
                  <a:pt x="24500" y="5315500"/>
                </a:lnTo>
                <a:lnTo>
                  <a:pt x="21125" y="5312875"/>
                </a:lnTo>
                <a:lnTo>
                  <a:pt x="18000" y="5310000"/>
                </a:lnTo>
                <a:lnTo>
                  <a:pt x="15125" y="5306875"/>
                </a:lnTo>
                <a:lnTo>
                  <a:pt x="12500" y="5303500"/>
                </a:lnTo>
                <a:lnTo>
                  <a:pt x="10125" y="5299875"/>
                </a:lnTo>
                <a:lnTo>
                  <a:pt x="8000" y="5296000"/>
                </a:lnTo>
                <a:lnTo>
                  <a:pt x="6125" y="5291875"/>
                </a:lnTo>
                <a:lnTo>
                  <a:pt x="4500" y="5287500"/>
                </a:lnTo>
                <a:lnTo>
                  <a:pt x="3125" y="5282875"/>
                </a:lnTo>
                <a:lnTo>
                  <a:pt x="2000" y="5278000"/>
                </a:lnTo>
                <a:lnTo>
                  <a:pt x="1125" y="5272875"/>
                </a:lnTo>
                <a:lnTo>
                  <a:pt x="500" y="5267500"/>
                </a:lnTo>
                <a:lnTo>
                  <a:pt x="125" y="5261875"/>
                </a:lnTo>
                <a:lnTo>
                  <a:pt x="0" y="5256000"/>
                </a:lnTo>
                <a:lnTo>
                  <a:pt x="0" y="71999"/>
                </a:lnTo>
                <a:lnTo>
                  <a:pt x="125" y="66125"/>
                </a:lnTo>
                <a:lnTo>
                  <a:pt x="500" y="60500"/>
                </a:lnTo>
                <a:lnTo>
                  <a:pt x="1125" y="55125"/>
                </a:lnTo>
                <a:lnTo>
                  <a:pt x="2000" y="50000"/>
                </a:lnTo>
                <a:lnTo>
                  <a:pt x="3125" y="45125"/>
                </a:lnTo>
                <a:lnTo>
                  <a:pt x="4500" y="40500"/>
                </a:lnTo>
                <a:lnTo>
                  <a:pt x="6125" y="36125"/>
                </a:lnTo>
                <a:lnTo>
                  <a:pt x="8000" y="32000"/>
                </a:lnTo>
                <a:lnTo>
                  <a:pt x="10125" y="28125"/>
                </a:lnTo>
                <a:lnTo>
                  <a:pt x="12500" y="24500"/>
                </a:lnTo>
                <a:lnTo>
                  <a:pt x="15125" y="21125"/>
                </a:lnTo>
                <a:lnTo>
                  <a:pt x="18000" y="18000"/>
                </a:lnTo>
                <a:lnTo>
                  <a:pt x="21125" y="15125"/>
                </a:lnTo>
                <a:lnTo>
                  <a:pt x="24500" y="12500"/>
                </a:lnTo>
                <a:lnTo>
                  <a:pt x="28125" y="10125"/>
                </a:lnTo>
                <a:lnTo>
                  <a:pt x="32000" y="8000"/>
                </a:lnTo>
                <a:lnTo>
                  <a:pt x="36125" y="6125"/>
                </a:lnTo>
                <a:lnTo>
                  <a:pt x="40500" y="4500"/>
                </a:lnTo>
                <a:lnTo>
                  <a:pt x="45125" y="3125"/>
                </a:lnTo>
                <a:lnTo>
                  <a:pt x="50000" y="2000"/>
                </a:lnTo>
                <a:lnTo>
                  <a:pt x="55125" y="1125"/>
                </a:lnTo>
                <a:lnTo>
                  <a:pt x="60500" y="500"/>
                </a:lnTo>
                <a:lnTo>
                  <a:pt x="66125" y="125"/>
                </a:lnTo>
                <a:lnTo>
                  <a:pt x="72000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  <a:prstDash val="solid"/>
          </a:ln>
        </p:spPr>
      </p:sp>
      <p:sp>
        <p:nvSpPr>
          <p:cNvPr id="99" name="e_text_42"/>
          <p:cNvSpPr>
            <a:spLocks noGrp="1"/>
          </p:cNvSpPr>
          <p:nvPr/>
        </p:nvSpPr>
        <p:spPr>
          <a:xfrm>
            <a:off x="4386734" y="162098"/>
            <a:ext cx="93240" cy="1603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</a:t>
            </a:r>
            <a:endParaRPr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0" name="e_text_43"/>
          <p:cNvSpPr>
            <a:spLocks noGrp="1"/>
          </p:cNvSpPr>
          <p:nvPr/>
        </p:nvSpPr>
        <p:spPr>
          <a:xfrm>
            <a:off x="4564994" y="178128"/>
            <a:ext cx="1471828" cy="1282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Example prompts and controls</a:t>
            </a:r>
            <a:endParaRPr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1" name="f_vector_91"/>
          <p:cNvSpPr>
            <a:spLocks noGrp="1"/>
          </p:cNvSpPr>
          <p:nvPr/>
        </p:nvSpPr>
        <p:spPr>
          <a:xfrm>
            <a:off x="111760" y="5384800"/>
            <a:ext cx="2132330" cy="1668145"/>
          </a:xfrm>
          <a:custGeom>
            <a:avLst/>
            <a:gdLst/>
            <a:ahLst/>
            <a:cxnLst/>
            <a:pathLst>
              <a:path w="2196000" h="1872000">
                <a:moveTo>
                  <a:pt x="72000" y="0"/>
                </a:moveTo>
                <a:lnTo>
                  <a:pt x="2124000" y="0"/>
                </a:lnTo>
                <a:lnTo>
                  <a:pt x="2129875" y="125"/>
                </a:lnTo>
                <a:lnTo>
                  <a:pt x="2135500" y="500"/>
                </a:lnTo>
                <a:lnTo>
                  <a:pt x="2140875" y="1125"/>
                </a:lnTo>
                <a:lnTo>
                  <a:pt x="2146000" y="2000"/>
                </a:lnTo>
                <a:lnTo>
                  <a:pt x="2150875" y="3125"/>
                </a:lnTo>
                <a:lnTo>
                  <a:pt x="2155500" y="4500"/>
                </a:lnTo>
                <a:lnTo>
                  <a:pt x="2159875" y="6125"/>
                </a:lnTo>
                <a:lnTo>
                  <a:pt x="2164000" y="8000"/>
                </a:lnTo>
                <a:lnTo>
                  <a:pt x="2167875" y="10125"/>
                </a:lnTo>
                <a:lnTo>
                  <a:pt x="2171500" y="12500"/>
                </a:lnTo>
                <a:lnTo>
                  <a:pt x="2174875" y="15125"/>
                </a:lnTo>
                <a:lnTo>
                  <a:pt x="2178000" y="18000"/>
                </a:lnTo>
                <a:lnTo>
                  <a:pt x="2180875" y="21125"/>
                </a:lnTo>
                <a:lnTo>
                  <a:pt x="2183500" y="24500"/>
                </a:lnTo>
                <a:lnTo>
                  <a:pt x="2185875" y="28125"/>
                </a:lnTo>
                <a:lnTo>
                  <a:pt x="2188000" y="32000"/>
                </a:lnTo>
                <a:lnTo>
                  <a:pt x="2189875" y="36125"/>
                </a:lnTo>
                <a:lnTo>
                  <a:pt x="2191500" y="40500"/>
                </a:lnTo>
                <a:lnTo>
                  <a:pt x="2192875" y="45125"/>
                </a:lnTo>
                <a:lnTo>
                  <a:pt x="2194000" y="50000"/>
                </a:lnTo>
                <a:lnTo>
                  <a:pt x="2194875" y="55125"/>
                </a:lnTo>
                <a:lnTo>
                  <a:pt x="2195500" y="60500"/>
                </a:lnTo>
                <a:lnTo>
                  <a:pt x="2195875" y="66125"/>
                </a:lnTo>
                <a:lnTo>
                  <a:pt x="2196000" y="72000"/>
                </a:lnTo>
                <a:lnTo>
                  <a:pt x="2196000" y="1800000"/>
                </a:lnTo>
                <a:lnTo>
                  <a:pt x="2195875" y="1805875"/>
                </a:lnTo>
                <a:lnTo>
                  <a:pt x="2195500" y="1811500"/>
                </a:lnTo>
                <a:lnTo>
                  <a:pt x="2194875" y="1816875"/>
                </a:lnTo>
                <a:lnTo>
                  <a:pt x="2194000" y="1822000"/>
                </a:lnTo>
                <a:lnTo>
                  <a:pt x="2192875" y="1826875"/>
                </a:lnTo>
                <a:lnTo>
                  <a:pt x="2191500" y="1831500"/>
                </a:lnTo>
                <a:lnTo>
                  <a:pt x="2189875" y="1835875"/>
                </a:lnTo>
                <a:lnTo>
                  <a:pt x="2188000" y="1840000"/>
                </a:lnTo>
                <a:lnTo>
                  <a:pt x="2185875" y="1843875"/>
                </a:lnTo>
                <a:lnTo>
                  <a:pt x="2183500" y="1847500"/>
                </a:lnTo>
                <a:lnTo>
                  <a:pt x="2180875" y="1850875"/>
                </a:lnTo>
                <a:lnTo>
                  <a:pt x="2178000" y="1854000"/>
                </a:lnTo>
                <a:lnTo>
                  <a:pt x="2174875" y="1856875"/>
                </a:lnTo>
                <a:lnTo>
                  <a:pt x="2171500" y="1859500"/>
                </a:lnTo>
                <a:lnTo>
                  <a:pt x="2167875" y="1861875"/>
                </a:lnTo>
                <a:lnTo>
                  <a:pt x="2164000" y="1864000"/>
                </a:lnTo>
                <a:lnTo>
                  <a:pt x="2159875" y="1865875"/>
                </a:lnTo>
                <a:lnTo>
                  <a:pt x="2155500" y="1867500"/>
                </a:lnTo>
                <a:lnTo>
                  <a:pt x="2150875" y="1868875"/>
                </a:lnTo>
                <a:lnTo>
                  <a:pt x="2146000" y="1870000"/>
                </a:lnTo>
                <a:lnTo>
                  <a:pt x="2140875" y="1870875"/>
                </a:lnTo>
                <a:lnTo>
                  <a:pt x="2135500" y="1871500"/>
                </a:lnTo>
                <a:lnTo>
                  <a:pt x="2129875" y="1871875"/>
                </a:lnTo>
                <a:lnTo>
                  <a:pt x="2124000" y="1872000"/>
                </a:lnTo>
                <a:lnTo>
                  <a:pt x="72000" y="1872000"/>
                </a:lnTo>
                <a:lnTo>
                  <a:pt x="66125" y="1871875"/>
                </a:lnTo>
                <a:lnTo>
                  <a:pt x="60500" y="1871500"/>
                </a:lnTo>
                <a:lnTo>
                  <a:pt x="55125" y="1870875"/>
                </a:lnTo>
                <a:lnTo>
                  <a:pt x="50000" y="1870000"/>
                </a:lnTo>
                <a:lnTo>
                  <a:pt x="45125" y="1868875"/>
                </a:lnTo>
                <a:lnTo>
                  <a:pt x="40500" y="1867500"/>
                </a:lnTo>
                <a:lnTo>
                  <a:pt x="36125" y="1865875"/>
                </a:lnTo>
                <a:lnTo>
                  <a:pt x="32000" y="1864000"/>
                </a:lnTo>
                <a:lnTo>
                  <a:pt x="28125" y="1861875"/>
                </a:lnTo>
                <a:lnTo>
                  <a:pt x="24500" y="1859500"/>
                </a:lnTo>
                <a:lnTo>
                  <a:pt x="21125" y="1856875"/>
                </a:lnTo>
                <a:lnTo>
                  <a:pt x="18000" y="1854000"/>
                </a:lnTo>
                <a:lnTo>
                  <a:pt x="15125" y="1850875"/>
                </a:lnTo>
                <a:lnTo>
                  <a:pt x="12500" y="1847500"/>
                </a:lnTo>
                <a:lnTo>
                  <a:pt x="10125" y="1843875"/>
                </a:lnTo>
                <a:lnTo>
                  <a:pt x="8000" y="1840000"/>
                </a:lnTo>
                <a:lnTo>
                  <a:pt x="6125" y="1835875"/>
                </a:lnTo>
                <a:lnTo>
                  <a:pt x="4500" y="1831500"/>
                </a:lnTo>
                <a:lnTo>
                  <a:pt x="3125" y="1826875"/>
                </a:lnTo>
                <a:lnTo>
                  <a:pt x="2000" y="1822000"/>
                </a:lnTo>
                <a:lnTo>
                  <a:pt x="1125" y="1816875"/>
                </a:lnTo>
                <a:lnTo>
                  <a:pt x="500" y="1811500"/>
                </a:lnTo>
                <a:lnTo>
                  <a:pt x="125" y="1805875"/>
                </a:lnTo>
                <a:lnTo>
                  <a:pt x="0" y="1800000"/>
                </a:lnTo>
                <a:lnTo>
                  <a:pt x="0" y="72000"/>
                </a:lnTo>
                <a:lnTo>
                  <a:pt x="125" y="66125"/>
                </a:lnTo>
                <a:lnTo>
                  <a:pt x="500" y="60500"/>
                </a:lnTo>
                <a:lnTo>
                  <a:pt x="1125" y="55125"/>
                </a:lnTo>
                <a:lnTo>
                  <a:pt x="2000" y="50000"/>
                </a:lnTo>
                <a:lnTo>
                  <a:pt x="3125" y="45125"/>
                </a:lnTo>
                <a:lnTo>
                  <a:pt x="4500" y="40500"/>
                </a:lnTo>
                <a:lnTo>
                  <a:pt x="6125" y="36125"/>
                </a:lnTo>
                <a:lnTo>
                  <a:pt x="8000" y="32000"/>
                </a:lnTo>
                <a:lnTo>
                  <a:pt x="10125" y="28125"/>
                </a:lnTo>
                <a:lnTo>
                  <a:pt x="12500" y="24500"/>
                </a:lnTo>
                <a:lnTo>
                  <a:pt x="15125" y="21125"/>
                </a:lnTo>
                <a:lnTo>
                  <a:pt x="18000" y="18000"/>
                </a:lnTo>
                <a:lnTo>
                  <a:pt x="21125" y="15125"/>
                </a:lnTo>
                <a:lnTo>
                  <a:pt x="24500" y="12500"/>
                </a:lnTo>
                <a:lnTo>
                  <a:pt x="28125" y="10125"/>
                </a:lnTo>
                <a:lnTo>
                  <a:pt x="32000" y="8000"/>
                </a:lnTo>
                <a:lnTo>
                  <a:pt x="36125" y="6125"/>
                </a:lnTo>
                <a:lnTo>
                  <a:pt x="40500" y="4500"/>
                </a:lnTo>
                <a:lnTo>
                  <a:pt x="45125" y="3125"/>
                </a:lnTo>
                <a:lnTo>
                  <a:pt x="50000" y="2000"/>
                </a:lnTo>
                <a:lnTo>
                  <a:pt x="55125" y="1125"/>
                </a:lnTo>
                <a:lnTo>
                  <a:pt x="60500" y="500"/>
                </a:lnTo>
                <a:lnTo>
                  <a:pt x="66125" y="125"/>
                </a:lnTo>
                <a:lnTo>
                  <a:pt x="72000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  <a:prstDash val="solid"/>
          </a:ln>
        </p:spPr>
      </p:sp>
      <p:sp>
        <p:nvSpPr>
          <p:cNvPr id="137" name="f_text_68"/>
          <p:cNvSpPr>
            <a:spLocks noGrp="1"/>
          </p:cNvSpPr>
          <p:nvPr/>
        </p:nvSpPr>
        <p:spPr>
          <a:xfrm>
            <a:off x="157338" y="5394254"/>
            <a:ext cx="65725" cy="1603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</a:t>
            </a:r>
            <a:endParaRPr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7" name="g_vector_101"/>
          <p:cNvSpPr>
            <a:spLocks noGrp="1"/>
          </p:cNvSpPr>
          <p:nvPr/>
        </p:nvSpPr>
        <p:spPr>
          <a:xfrm>
            <a:off x="2313940" y="5384800"/>
            <a:ext cx="4054475" cy="1668145"/>
          </a:xfrm>
          <a:custGeom>
            <a:avLst/>
            <a:gdLst/>
            <a:ahLst/>
            <a:cxnLst/>
            <a:pathLst>
              <a:path w="4176000" h="1872000">
                <a:moveTo>
                  <a:pt x="72000" y="0"/>
                </a:moveTo>
                <a:lnTo>
                  <a:pt x="4104000" y="0"/>
                </a:lnTo>
                <a:lnTo>
                  <a:pt x="4109875" y="125"/>
                </a:lnTo>
                <a:lnTo>
                  <a:pt x="4115500" y="500"/>
                </a:lnTo>
                <a:lnTo>
                  <a:pt x="4120875" y="1125"/>
                </a:lnTo>
                <a:lnTo>
                  <a:pt x="4126000" y="2000"/>
                </a:lnTo>
                <a:lnTo>
                  <a:pt x="4130875" y="3125"/>
                </a:lnTo>
                <a:lnTo>
                  <a:pt x="4135500" y="4500"/>
                </a:lnTo>
                <a:lnTo>
                  <a:pt x="4139875" y="6125"/>
                </a:lnTo>
                <a:lnTo>
                  <a:pt x="4144000" y="8000"/>
                </a:lnTo>
                <a:lnTo>
                  <a:pt x="4147875" y="10125"/>
                </a:lnTo>
                <a:lnTo>
                  <a:pt x="4151500" y="12500"/>
                </a:lnTo>
                <a:lnTo>
                  <a:pt x="4154875" y="15125"/>
                </a:lnTo>
                <a:lnTo>
                  <a:pt x="4158000" y="18000"/>
                </a:lnTo>
                <a:lnTo>
                  <a:pt x="4160875" y="21125"/>
                </a:lnTo>
                <a:lnTo>
                  <a:pt x="4163500" y="24500"/>
                </a:lnTo>
                <a:lnTo>
                  <a:pt x="4165875" y="28125"/>
                </a:lnTo>
                <a:lnTo>
                  <a:pt x="4168000" y="32000"/>
                </a:lnTo>
                <a:lnTo>
                  <a:pt x="4169875" y="36125"/>
                </a:lnTo>
                <a:lnTo>
                  <a:pt x="4171500" y="40500"/>
                </a:lnTo>
                <a:lnTo>
                  <a:pt x="4172875" y="45125"/>
                </a:lnTo>
                <a:lnTo>
                  <a:pt x="4174000" y="50000"/>
                </a:lnTo>
                <a:lnTo>
                  <a:pt x="4174875" y="55125"/>
                </a:lnTo>
                <a:lnTo>
                  <a:pt x="4175500" y="60500"/>
                </a:lnTo>
                <a:lnTo>
                  <a:pt x="4175875" y="66125"/>
                </a:lnTo>
                <a:lnTo>
                  <a:pt x="4176000" y="72000"/>
                </a:lnTo>
                <a:lnTo>
                  <a:pt x="4176000" y="1800000"/>
                </a:lnTo>
                <a:lnTo>
                  <a:pt x="4175875" y="1805875"/>
                </a:lnTo>
                <a:lnTo>
                  <a:pt x="4175500" y="1811500"/>
                </a:lnTo>
                <a:lnTo>
                  <a:pt x="4174875" y="1816875"/>
                </a:lnTo>
                <a:lnTo>
                  <a:pt x="4174000" y="1822000"/>
                </a:lnTo>
                <a:lnTo>
                  <a:pt x="4172875" y="1826875"/>
                </a:lnTo>
                <a:lnTo>
                  <a:pt x="4171500" y="1831500"/>
                </a:lnTo>
                <a:lnTo>
                  <a:pt x="4169875" y="1835875"/>
                </a:lnTo>
                <a:lnTo>
                  <a:pt x="4168000" y="1840000"/>
                </a:lnTo>
                <a:lnTo>
                  <a:pt x="4165875" y="1843875"/>
                </a:lnTo>
                <a:lnTo>
                  <a:pt x="4163500" y="1847500"/>
                </a:lnTo>
                <a:lnTo>
                  <a:pt x="4160875" y="1850875"/>
                </a:lnTo>
                <a:lnTo>
                  <a:pt x="4158000" y="1854000"/>
                </a:lnTo>
                <a:lnTo>
                  <a:pt x="4154875" y="1856875"/>
                </a:lnTo>
                <a:lnTo>
                  <a:pt x="4151500" y="1859500"/>
                </a:lnTo>
                <a:lnTo>
                  <a:pt x="4147875" y="1861875"/>
                </a:lnTo>
                <a:lnTo>
                  <a:pt x="4144000" y="1864000"/>
                </a:lnTo>
                <a:lnTo>
                  <a:pt x="4139875" y="1865875"/>
                </a:lnTo>
                <a:lnTo>
                  <a:pt x="4135500" y="1867500"/>
                </a:lnTo>
                <a:lnTo>
                  <a:pt x="4130875" y="1868875"/>
                </a:lnTo>
                <a:lnTo>
                  <a:pt x="4126000" y="1870000"/>
                </a:lnTo>
                <a:lnTo>
                  <a:pt x="4120875" y="1870875"/>
                </a:lnTo>
                <a:lnTo>
                  <a:pt x="4115500" y="1871500"/>
                </a:lnTo>
                <a:lnTo>
                  <a:pt x="4109875" y="1871875"/>
                </a:lnTo>
                <a:lnTo>
                  <a:pt x="4104000" y="1872000"/>
                </a:lnTo>
                <a:lnTo>
                  <a:pt x="72000" y="1872000"/>
                </a:lnTo>
                <a:lnTo>
                  <a:pt x="66125" y="1871875"/>
                </a:lnTo>
                <a:lnTo>
                  <a:pt x="60500" y="1871500"/>
                </a:lnTo>
                <a:lnTo>
                  <a:pt x="55125" y="1870875"/>
                </a:lnTo>
                <a:lnTo>
                  <a:pt x="50000" y="1870000"/>
                </a:lnTo>
                <a:lnTo>
                  <a:pt x="45125" y="1868875"/>
                </a:lnTo>
                <a:lnTo>
                  <a:pt x="40500" y="1867500"/>
                </a:lnTo>
                <a:lnTo>
                  <a:pt x="36125" y="1865875"/>
                </a:lnTo>
                <a:lnTo>
                  <a:pt x="32000" y="1864000"/>
                </a:lnTo>
                <a:lnTo>
                  <a:pt x="28125" y="1861875"/>
                </a:lnTo>
                <a:lnTo>
                  <a:pt x="24500" y="1859500"/>
                </a:lnTo>
                <a:lnTo>
                  <a:pt x="21125" y="1856875"/>
                </a:lnTo>
                <a:lnTo>
                  <a:pt x="18000" y="1854000"/>
                </a:lnTo>
                <a:lnTo>
                  <a:pt x="15125" y="1850875"/>
                </a:lnTo>
                <a:lnTo>
                  <a:pt x="12500" y="1847500"/>
                </a:lnTo>
                <a:lnTo>
                  <a:pt x="10125" y="1843875"/>
                </a:lnTo>
                <a:lnTo>
                  <a:pt x="8000" y="1840000"/>
                </a:lnTo>
                <a:lnTo>
                  <a:pt x="6125" y="1835875"/>
                </a:lnTo>
                <a:lnTo>
                  <a:pt x="4500" y="1831500"/>
                </a:lnTo>
                <a:lnTo>
                  <a:pt x="3125" y="1826875"/>
                </a:lnTo>
                <a:lnTo>
                  <a:pt x="2000" y="1822000"/>
                </a:lnTo>
                <a:lnTo>
                  <a:pt x="1125" y="1816875"/>
                </a:lnTo>
                <a:lnTo>
                  <a:pt x="500" y="1811500"/>
                </a:lnTo>
                <a:lnTo>
                  <a:pt x="125" y="1805875"/>
                </a:lnTo>
                <a:lnTo>
                  <a:pt x="0" y="1800000"/>
                </a:lnTo>
                <a:lnTo>
                  <a:pt x="0" y="72000"/>
                </a:lnTo>
                <a:lnTo>
                  <a:pt x="125" y="66125"/>
                </a:lnTo>
                <a:lnTo>
                  <a:pt x="500" y="60500"/>
                </a:lnTo>
                <a:lnTo>
                  <a:pt x="1125" y="55125"/>
                </a:lnTo>
                <a:lnTo>
                  <a:pt x="2000" y="50000"/>
                </a:lnTo>
                <a:lnTo>
                  <a:pt x="3125" y="45125"/>
                </a:lnTo>
                <a:lnTo>
                  <a:pt x="4500" y="40500"/>
                </a:lnTo>
                <a:lnTo>
                  <a:pt x="6125" y="36125"/>
                </a:lnTo>
                <a:lnTo>
                  <a:pt x="8000" y="32000"/>
                </a:lnTo>
                <a:lnTo>
                  <a:pt x="10125" y="28125"/>
                </a:lnTo>
                <a:lnTo>
                  <a:pt x="12500" y="24500"/>
                </a:lnTo>
                <a:lnTo>
                  <a:pt x="15125" y="21125"/>
                </a:lnTo>
                <a:lnTo>
                  <a:pt x="18000" y="18000"/>
                </a:lnTo>
                <a:lnTo>
                  <a:pt x="21125" y="15125"/>
                </a:lnTo>
                <a:lnTo>
                  <a:pt x="24500" y="12500"/>
                </a:lnTo>
                <a:lnTo>
                  <a:pt x="28125" y="10125"/>
                </a:lnTo>
                <a:lnTo>
                  <a:pt x="32000" y="8000"/>
                </a:lnTo>
                <a:lnTo>
                  <a:pt x="36125" y="6125"/>
                </a:lnTo>
                <a:lnTo>
                  <a:pt x="40500" y="4500"/>
                </a:lnTo>
                <a:lnTo>
                  <a:pt x="45125" y="3125"/>
                </a:lnTo>
                <a:lnTo>
                  <a:pt x="50000" y="2000"/>
                </a:lnTo>
                <a:lnTo>
                  <a:pt x="55125" y="1125"/>
                </a:lnTo>
                <a:lnTo>
                  <a:pt x="60500" y="500"/>
                </a:lnTo>
                <a:lnTo>
                  <a:pt x="66125" y="125"/>
                </a:lnTo>
                <a:lnTo>
                  <a:pt x="72000" y="0"/>
                </a:lnTo>
                <a:close/>
              </a:path>
            </a:pathLst>
          </a:custGeom>
          <a:solidFill>
            <a:srgbClr val="EEEEEE"/>
          </a:solidFill>
          <a:ln w="0">
            <a:noFill/>
            <a:prstDash val="solid"/>
          </a:ln>
        </p:spPr>
      </p:sp>
      <p:sp>
        <p:nvSpPr>
          <p:cNvPr id="176" name="g_text_80"/>
          <p:cNvSpPr>
            <a:spLocks noGrp="1"/>
          </p:cNvSpPr>
          <p:nvPr/>
        </p:nvSpPr>
        <p:spPr>
          <a:xfrm>
            <a:off x="2359415" y="5393383"/>
            <a:ext cx="99984" cy="1603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endParaRPr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3" name="a_new_1"/>
          <p:cNvSpPr>
            <a:spLocks noGrp="1"/>
          </p:cNvSpPr>
          <p:nvPr/>
        </p:nvSpPr>
        <p:spPr>
          <a:xfrm>
            <a:off x="335597" y="168846"/>
            <a:ext cx="3705089" cy="146805"/>
          </a:xfrm>
          <a:prstGeom prst="rect">
            <a:avLst/>
          </a:prstGeom>
          <a:noFill/>
          <a:ln w="698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Real-world news </a:t>
            </a:r>
            <a:r>
              <a:rPr lang="en-US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prediction</a:t>
            </a:r>
            <a:endParaRPr lang="en-US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4" name="a_new_2"/>
          <p:cNvSpPr>
            <a:spLocks noGrp="1"/>
          </p:cNvSpPr>
          <p:nvPr/>
        </p:nvSpPr>
        <p:spPr>
          <a:xfrm>
            <a:off x="286424" y="393329"/>
            <a:ext cx="1188425" cy="125833"/>
          </a:xfrm>
          <a:prstGeom prst="rect">
            <a:avLst/>
          </a:prstGeom>
          <a:noFill/>
          <a:ln w="698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Prior click history</a:t>
            </a:r>
            <a:endParaRPr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5" name="a_new_3"/>
          <p:cNvSpPr>
            <a:spLocks noGrp="1"/>
          </p:cNvSpPr>
          <p:nvPr/>
        </p:nvSpPr>
        <p:spPr>
          <a:xfrm>
            <a:off x="1789670" y="393329"/>
            <a:ext cx="978703" cy="125833"/>
          </a:xfrm>
          <a:prstGeom prst="rect">
            <a:avLst/>
          </a:prstGeom>
          <a:noFill/>
          <a:ln w="698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705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ym typeface="+mn-ea"/>
              </a:rPr>
              <a:t>Local Qwen / DeepSeek</a:t>
            </a:r>
            <a:endParaRPr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206" name="a_new_4"/>
          <p:cNvSpPr>
            <a:spLocks noGrp="1"/>
          </p:cNvSpPr>
          <p:nvPr/>
        </p:nvSpPr>
        <p:spPr>
          <a:xfrm>
            <a:off x="2978095" y="393329"/>
            <a:ext cx="1223379" cy="125833"/>
          </a:xfrm>
          <a:prstGeom prst="rect">
            <a:avLst/>
          </a:prstGeom>
          <a:noFill/>
          <a:ln w="698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Ranked candidate news</a:t>
            </a:r>
            <a:endParaRPr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60" name="图片 45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709" y="596060"/>
            <a:ext cx="258657" cy="258657"/>
          </a:xfrm>
          <a:prstGeom prst="rect">
            <a:avLst/>
          </a:prstGeom>
        </p:spPr>
      </p:pic>
      <p:sp>
        <p:nvSpPr>
          <p:cNvPr id="208" name="a_new_5"/>
          <p:cNvSpPr>
            <a:spLocks noGrp="1"/>
          </p:cNvSpPr>
          <p:nvPr/>
        </p:nvSpPr>
        <p:spPr>
          <a:xfrm>
            <a:off x="741060" y="599555"/>
            <a:ext cx="153796" cy="216713"/>
          </a:xfrm>
          <a:custGeom>
            <a:avLst/>
            <a:gdLst/>
            <a:ahLst/>
            <a:cxnLst/>
            <a:pathLst>
              <a:path w="158400" h="223200">
                <a:moveTo>
                  <a:pt x="0" y="0"/>
                </a:moveTo>
                <a:lnTo>
                  <a:pt x="115200" y="0"/>
                </a:lnTo>
                <a:lnTo>
                  <a:pt x="158400" y="43200"/>
                </a:lnTo>
                <a:lnTo>
                  <a:pt x="158400" y="223200"/>
                </a:lnTo>
                <a:lnTo>
                  <a:pt x="0" y="223200"/>
                </a:lnTo>
                <a:close/>
              </a:path>
            </a:pathLst>
          </a:custGeom>
          <a:solidFill>
            <a:srgbClr val="FAFAFA"/>
          </a:solidFill>
          <a:ln w="6985">
            <a:solidFill>
              <a:srgbClr val="434343"/>
            </a:solidFill>
          </a:ln>
        </p:spPr>
      </p:sp>
      <p:sp>
        <p:nvSpPr>
          <p:cNvPr id="209" name="a_new_6"/>
          <p:cNvSpPr>
            <a:spLocks noGrp="1"/>
          </p:cNvSpPr>
          <p:nvPr/>
        </p:nvSpPr>
        <p:spPr>
          <a:xfrm>
            <a:off x="762032" y="676454"/>
            <a:ext cx="111852" cy="0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</p:sp>
      <p:sp>
        <p:nvSpPr>
          <p:cNvPr id="210" name="a_new_7"/>
          <p:cNvSpPr>
            <a:spLocks noGrp="1"/>
          </p:cNvSpPr>
          <p:nvPr/>
        </p:nvSpPr>
        <p:spPr>
          <a:xfrm>
            <a:off x="762032" y="721893"/>
            <a:ext cx="111852" cy="0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</p:sp>
      <p:sp>
        <p:nvSpPr>
          <p:cNvPr id="211" name="a_new_8"/>
          <p:cNvSpPr>
            <a:spLocks noGrp="1"/>
          </p:cNvSpPr>
          <p:nvPr/>
        </p:nvSpPr>
        <p:spPr>
          <a:xfrm>
            <a:off x="762032" y="767333"/>
            <a:ext cx="111852" cy="0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</p:sp>
      <p:sp>
        <p:nvSpPr>
          <p:cNvPr id="212" name="a_new_9"/>
          <p:cNvSpPr>
            <a:spLocks noGrp="1"/>
          </p:cNvSpPr>
          <p:nvPr/>
        </p:nvSpPr>
        <p:spPr>
          <a:xfrm>
            <a:off x="852912" y="774324"/>
            <a:ext cx="83889" cy="83889"/>
          </a:xfrm>
          <a:prstGeom prst="ellipse">
            <a:avLst/>
          </a:prstGeom>
          <a:solidFill>
            <a:srgbClr val="8EAA91"/>
          </a:solidFill>
          <a:ln w="5080">
            <a:solidFill>
              <a:srgbClr val="555555"/>
            </a:solidFill>
          </a:ln>
        </p:spPr>
      </p:sp>
      <p:sp>
        <p:nvSpPr>
          <p:cNvPr id="213" name="a_new_10"/>
          <p:cNvSpPr>
            <a:spLocks noGrp="1"/>
          </p:cNvSpPr>
          <p:nvPr/>
        </p:nvSpPr>
        <p:spPr>
          <a:xfrm>
            <a:off x="870389" y="812773"/>
            <a:ext cx="19225" cy="15729"/>
          </a:xfrm>
          <a:prstGeom prst="line">
            <a:avLst/>
          </a:prstGeom>
          <a:noFill/>
          <a:ln w="8890">
            <a:solidFill>
              <a:srgbClr val="FFFFFF"/>
            </a:solidFill>
          </a:ln>
        </p:spPr>
      </p:sp>
      <p:sp>
        <p:nvSpPr>
          <p:cNvPr id="214" name="a_new_11"/>
          <p:cNvSpPr>
            <a:spLocks noGrp="1"/>
          </p:cNvSpPr>
          <p:nvPr/>
        </p:nvSpPr>
        <p:spPr>
          <a:xfrm flipV="1">
            <a:off x="889613" y="795296"/>
            <a:ext cx="27963" cy="33206"/>
          </a:xfrm>
          <a:prstGeom prst="line">
            <a:avLst/>
          </a:prstGeom>
          <a:noFill/>
          <a:ln w="8890">
            <a:solidFill>
              <a:srgbClr val="FFFFFF"/>
            </a:solidFill>
          </a:ln>
        </p:spPr>
      </p:sp>
      <p:sp>
        <p:nvSpPr>
          <p:cNvPr id="215" name="a_new_12"/>
          <p:cNvSpPr>
            <a:spLocks noGrp="1"/>
          </p:cNvSpPr>
          <p:nvPr/>
        </p:nvSpPr>
        <p:spPr>
          <a:xfrm>
            <a:off x="929810" y="599555"/>
            <a:ext cx="153796" cy="216713"/>
          </a:xfrm>
          <a:custGeom>
            <a:avLst/>
            <a:gdLst/>
            <a:ahLst/>
            <a:cxnLst/>
            <a:pathLst>
              <a:path w="158400" h="223200">
                <a:moveTo>
                  <a:pt x="0" y="0"/>
                </a:moveTo>
                <a:lnTo>
                  <a:pt x="115200" y="0"/>
                </a:lnTo>
                <a:lnTo>
                  <a:pt x="158400" y="43200"/>
                </a:lnTo>
                <a:lnTo>
                  <a:pt x="158400" y="223200"/>
                </a:lnTo>
                <a:lnTo>
                  <a:pt x="0" y="223200"/>
                </a:lnTo>
                <a:close/>
              </a:path>
            </a:pathLst>
          </a:custGeom>
          <a:solidFill>
            <a:srgbClr val="FAFAFA"/>
          </a:solidFill>
          <a:ln w="6985">
            <a:solidFill>
              <a:srgbClr val="434343"/>
            </a:solidFill>
          </a:ln>
        </p:spPr>
      </p:sp>
      <p:sp>
        <p:nvSpPr>
          <p:cNvPr id="216" name="a_new_13"/>
          <p:cNvSpPr>
            <a:spLocks noGrp="1"/>
          </p:cNvSpPr>
          <p:nvPr/>
        </p:nvSpPr>
        <p:spPr>
          <a:xfrm>
            <a:off x="950782" y="676454"/>
            <a:ext cx="111852" cy="0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</p:sp>
      <p:sp>
        <p:nvSpPr>
          <p:cNvPr id="217" name="a_new_14"/>
          <p:cNvSpPr>
            <a:spLocks noGrp="1"/>
          </p:cNvSpPr>
          <p:nvPr/>
        </p:nvSpPr>
        <p:spPr>
          <a:xfrm>
            <a:off x="950782" y="721893"/>
            <a:ext cx="111852" cy="0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</p:sp>
      <p:sp>
        <p:nvSpPr>
          <p:cNvPr id="218" name="a_new_15"/>
          <p:cNvSpPr>
            <a:spLocks noGrp="1"/>
          </p:cNvSpPr>
          <p:nvPr/>
        </p:nvSpPr>
        <p:spPr>
          <a:xfrm>
            <a:off x="950782" y="767333"/>
            <a:ext cx="111852" cy="0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</p:sp>
      <p:sp>
        <p:nvSpPr>
          <p:cNvPr id="219" name="a_new_16"/>
          <p:cNvSpPr>
            <a:spLocks noGrp="1"/>
          </p:cNvSpPr>
          <p:nvPr/>
        </p:nvSpPr>
        <p:spPr>
          <a:xfrm>
            <a:off x="1118560" y="599555"/>
            <a:ext cx="153796" cy="216713"/>
          </a:xfrm>
          <a:custGeom>
            <a:avLst/>
            <a:gdLst/>
            <a:ahLst/>
            <a:cxnLst/>
            <a:pathLst>
              <a:path w="158400" h="223200">
                <a:moveTo>
                  <a:pt x="0" y="0"/>
                </a:moveTo>
                <a:lnTo>
                  <a:pt x="115200" y="0"/>
                </a:lnTo>
                <a:lnTo>
                  <a:pt x="158400" y="43200"/>
                </a:lnTo>
                <a:lnTo>
                  <a:pt x="158400" y="223200"/>
                </a:lnTo>
                <a:lnTo>
                  <a:pt x="0" y="223200"/>
                </a:lnTo>
                <a:close/>
              </a:path>
            </a:pathLst>
          </a:custGeom>
          <a:solidFill>
            <a:srgbClr val="FAFAFA"/>
          </a:solidFill>
          <a:ln w="6985">
            <a:solidFill>
              <a:srgbClr val="434343"/>
            </a:solidFill>
          </a:ln>
        </p:spPr>
      </p:sp>
      <p:sp>
        <p:nvSpPr>
          <p:cNvPr id="220" name="a_new_17"/>
          <p:cNvSpPr>
            <a:spLocks noGrp="1"/>
          </p:cNvSpPr>
          <p:nvPr/>
        </p:nvSpPr>
        <p:spPr>
          <a:xfrm>
            <a:off x="1139532" y="676454"/>
            <a:ext cx="111852" cy="0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</p:sp>
      <p:sp>
        <p:nvSpPr>
          <p:cNvPr id="221" name="a_new_18"/>
          <p:cNvSpPr>
            <a:spLocks noGrp="1"/>
          </p:cNvSpPr>
          <p:nvPr/>
        </p:nvSpPr>
        <p:spPr>
          <a:xfrm>
            <a:off x="1139532" y="721893"/>
            <a:ext cx="111852" cy="0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</p:sp>
      <p:sp>
        <p:nvSpPr>
          <p:cNvPr id="222" name="a_new_19"/>
          <p:cNvSpPr>
            <a:spLocks noGrp="1"/>
          </p:cNvSpPr>
          <p:nvPr/>
        </p:nvSpPr>
        <p:spPr>
          <a:xfrm>
            <a:off x="1139532" y="767333"/>
            <a:ext cx="111852" cy="0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</p:sp>
      <p:sp>
        <p:nvSpPr>
          <p:cNvPr id="223" name="a_new_20"/>
          <p:cNvSpPr>
            <a:spLocks noGrp="1"/>
          </p:cNvSpPr>
          <p:nvPr/>
        </p:nvSpPr>
        <p:spPr>
          <a:xfrm>
            <a:off x="1230411" y="774324"/>
            <a:ext cx="83889" cy="83889"/>
          </a:xfrm>
          <a:prstGeom prst="ellipse">
            <a:avLst/>
          </a:prstGeom>
          <a:solidFill>
            <a:srgbClr val="8EAA91"/>
          </a:solidFill>
          <a:ln w="5080">
            <a:solidFill>
              <a:srgbClr val="555555"/>
            </a:solidFill>
          </a:ln>
        </p:spPr>
      </p:sp>
      <p:sp>
        <p:nvSpPr>
          <p:cNvPr id="224" name="a_new_21"/>
          <p:cNvSpPr>
            <a:spLocks noGrp="1"/>
          </p:cNvSpPr>
          <p:nvPr/>
        </p:nvSpPr>
        <p:spPr>
          <a:xfrm>
            <a:off x="1247888" y="812773"/>
            <a:ext cx="19225" cy="15729"/>
          </a:xfrm>
          <a:prstGeom prst="line">
            <a:avLst/>
          </a:prstGeom>
          <a:noFill/>
          <a:ln w="8890">
            <a:solidFill>
              <a:srgbClr val="FFFFFF"/>
            </a:solidFill>
          </a:ln>
        </p:spPr>
      </p:sp>
      <p:sp>
        <p:nvSpPr>
          <p:cNvPr id="225" name="a_new_22"/>
          <p:cNvSpPr>
            <a:spLocks noGrp="1"/>
          </p:cNvSpPr>
          <p:nvPr/>
        </p:nvSpPr>
        <p:spPr>
          <a:xfrm flipV="1">
            <a:off x="1267113" y="795296"/>
            <a:ext cx="27963" cy="33206"/>
          </a:xfrm>
          <a:prstGeom prst="line">
            <a:avLst/>
          </a:prstGeom>
          <a:noFill/>
          <a:ln w="8890">
            <a:solidFill>
              <a:srgbClr val="FFFFFF"/>
            </a:solidFill>
          </a:ln>
        </p:spPr>
      </p:sp>
      <p:sp>
        <p:nvSpPr>
          <p:cNvPr id="226" name="a_new_23"/>
          <p:cNvSpPr>
            <a:spLocks noGrp="1"/>
          </p:cNvSpPr>
          <p:nvPr/>
        </p:nvSpPr>
        <p:spPr>
          <a:xfrm>
            <a:off x="1445377" y="709660"/>
            <a:ext cx="3495" cy="3495"/>
          </a:xfrm>
          <a:prstGeom prst="rect">
            <a:avLst/>
          </a:prstGeom>
          <a:noFill/>
          <a:ln w="6985">
            <a:noFill/>
          </a:ln>
        </p:spPr>
      </p:sp>
      <p:sp>
        <p:nvSpPr>
          <p:cNvPr id="227" name="a_new_24"/>
          <p:cNvSpPr>
            <a:spLocks noGrp="1"/>
          </p:cNvSpPr>
          <p:nvPr/>
        </p:nvSpPr>
        <p:spPr>
          <a:xfrm>
            <a:off x="1731997" y="709660"/>
            <a:ext cx="3495" cy="3495"/>
          </a:xfrm>
          <a:prstGeom prst="rect">
            <a:avLst/>
          </a:prstGeom>
          <a:noFill/>
          <a:ln w="6985">
            <a:noFill/>
          </a:ln>
        </p:spPr>
      </p:sp>
      <p:cxnSp>
        <p:nvCxnSpPr>
          <p:cNvPr id="481" name="直接箭头连接符 480"/>
          <p:cNvCxnSpPr>
            <a:stCxn id="226" idx="3"/>
            <a:endCxn id="227" idx="1"/>
          </p:cNvCxnSpPr>
          <p:nvPr/>
        </p:nvCxnSpPr>
        <p:spPr>
          <a:xfrm>
            <a:off x="1448872" y="711407"/>
            <a:ext cx="283125" cy="0"/>
          </a:xfrm>
          <a:prstGeom prst="straightConnector1">
            <a:avLst/>
          </a:prstGeom>
          <a:ln w="13335">
            <a:solidFill>
              <a:srgbClr val="AFAFAF"/>
            </a:solidFill>
            <a:tailEnd type="triangle" w="med" len="med"/>
          </a:ln>
        </p:spPr>
      </p:cxnSp>
      <p:pic>
        <p:nvPicPr>
          <p:cNvPr id="482" name="图片 48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20418" y="578583"/>
            <a:ext cx="276790" cy="279629"/>
          </a:xfrm>
          <a:prstGeom prst="rect">
            <a:avLst/>
          </a:prstGeom>
        </p:spPr>
      </p:pic>
      <p:pic>
        <p:nvPicPr>
          <p:cNvPr id="483" name="图片 48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86012" y="584040"/>
            <a:ext cx="279629" cy="268717"/>
          </a:xfrm>
          <a:prstGeom prst="rect">
            <a:avLst/>
          </a:prstGeom>
        </p:spPr>
      </p:pic>
      <p:sp>
        <p:nvSpPr>
          <p:cNvPr id="231" name="a_new_25"/>
          <p:cNvSpPr>
            <a:spLocks noGrp="1"/>
          </p:cNvSpPr>
          <p:nvPr/>
        </p:nvSpPr>
        <p:spPr>
          <a:xfrm>
            <a:off x="2721186" y="709660"/>
            <a:ext cx="3495" cy="3495"/>
          </a:xfrm>
          <a:prstGeom prst="rect">
            <a:avLst/>
          </a:prstGeom>
          <a:noFill/>
          <a:ln w="6985">
            <a:noFill/>
          </a:ln>
        </p:spPr>
      </p:sp>
      <p:sp>
        <p:nvSpPr>
          <p:cNvPr id="232" name="a_new_26"/>
          <p:cNvSpPr>
            <a:spLocks noGrp="1"/>
          </p:cNvSpPr>
          <p:nvPr/>
        </p:nvSpPr>
        <p:spPr>
          <a:xfrm>
            <a:off x="3011301" y="709660"/>
            <a:ext cx="3495" cy="3495"/>
          </a:xfrm>
          <a:prstGeom prst="rect">
            <a:avLst/>
          </a:prstGeom>
          <a:noFill/>
          <a:ln w="6985">
            <a:noFill/>
          </a:ln>
        </p:spPr>
      </p:sp>
      <p:cxnSp>
        <p:nvCxnSpPr>
          <p:cNvPr id="486" name="直接箭头连接符 485"/>
          <p:cNvCxnSpPr>
            <a:stCxn id="231" idx="3"/>
            <a:endCxn id="232" idx="1"/>
          </p:cNvCxnSpPr>
          <p:nvPr/>
        </p:nvCxnSpPr>
        <p:spPr>
          <a:xfrm>
            <a:off x="2724681" y="711407"/>
            <a:ext cx="286620" cy="0"/>
          </a:xfrm>
          <a:prstGeom prst="straightConnector1">
            <a:avLst/>
          </a:prstGeom>
          <a:ln w="13335">
            <a:solidFill>
              <a:srgbClr val="AFAFAF"/>
            </a:solidFill>
            <a:tailEnd type="triangle" w="med" len="med"/>
          </a:ln>
        </p:spPr>
      </p:cxnSp>
      <p:sp>
        <p:nvSpPr>
          <p:cNvPr id="234" name="a_new_27"/>
          <p:cNvSpPr>
            <a:spLocks noGrp="1"/>
          </p:cNvSpPr>
          <p:nvPr/>
        </p:nvSpPr>
        <p:spPr>
          <a:xfrm>
            <a:off x="3222771" y="596060"/>
            <a:ext cx="181759" cy="251666"/>
          </a:xfrm>
          <a:custGeom>
            <a:avLst/>
            <a:gdLst/>
            <a:ahLst/>
            <a:cxnLst/>
            <a:pathLst>
              <a:path w="187200" h="259200">
                <a:moveTo>
                  <a:pt x="0" y="0"/>
                </a:moveTo>
                <a:lnTo>
                  <a:pt x="144000" y="0"/>
                </a:lnTo>
                <a:lnTo>
                  <a:pt x="187200" y="43200"/>
                </a:lnTo>
                <a:lnTo>
                  <a:pt x="187200" y="259200"/>
                </a:lnTo>
                <a:lnTo>
                  <a:pt x="0" y="259200"/>
                </a:lnTo>
                <a:close/>
              </a:path>
            </a:pathLst>
          </a:custGeom>
          <a:solidFill>
            <a:srgbClr val="FAFAFA"/>
          </a:solidFill>
          <a:ln w="6985">
            <a:solidFill>
              <a:srgbClr val="434343"/>
            </a:solidFill>
          </a:ln>
        </p:spPr>
      </p:sp>
      <p:sp>
        <p:nvSpPr>
          <p:cNvPr id="235" name="a_new_28"/>
          <p:cNvSpPr>
            <a:spLocks noGrp="1"/>
          </p:cNvSpPr>
          <p:nvPr/>
        </p:nvSpPr>
        <p:spPr>
          <a:xfrm>
            <a:off x="3222771" y="620528"/>
            <a:ext cx="181759" cy="101366"/>
          </a:xfrm>
          <a:prstGeom prst="rect">
            <a:avLst/>
          </a:prstGeom>
          <a:noFill/>
          <a:ln w="698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68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6" name="a_new_29"/>
          <p:cNvSpPr>
            <a:spLocks noGrp="1"/>
          </p:cNvSpPr>
          <p:nvPr/>
        </p:nvSpPr>
        <p:spPr>
          <a:xfrm>
            <a:off x="3243743" y="749856"/>
            <a:ext cx="139815" cy="0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</p:sp>
      <p:sp>
        <p:nvSpPr>
          <p:cNvPr id="237" name="a_new_30"/>
          <p:cNvSpPr>
            <a:spLocks noGrp="1"/>
          </p:cNvSpPr>
          <p:nvPr/>
        </p:nvSpPr>
        <p:spPr>
          <a:xfrm>
            <a:off x="3243743" y="791801"/>
            <a:ext cx="139815" cy="0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</p:sp>
      <p:sp>
        <p:nvSpPr>
          <p:cNvPr id="238" name="a_new_31"/>
          <p:cNvSpPr>
            <a:spLocks noGrp="1"/>
          </p:cNvSpPr>
          <p:nvPr/>
        </p:nvSpPr>
        <p:spPr>
          <a:xfrm>
            <a:off x="3502400" y="596060"/>
            <a:ext cx="181759" cy="251666"/>
          </a:xfrm>
          <a:custGeom>
            <a:avLst/>
            <a:gdLst/>
            <a:ahLst/>
            <a:cxnLst/>
            <a:pathLst>
              <a:path w="187200" h="259200">
                <a:moveTo>
                  <a:pt x="0" y="0"/>
                </a:moveTo>
                <a:lnTo>
                  <a:pt x="144000" y="0"/>
                </a:lnTo>
                <a:lnTo>
                  <a:pt x="187200" y="43200"/>
                </a:lnTo>
                <a:lnTo>
                  <a:pt x="187200" y="259200"/>
                </a:lnTo>
                <a:lnTo>
                  <a:pt x="0" y="259200"/>
                </a:lnTo>
                <a:close/>
              </a:path>
            </a:pathLst>
          </a:custGeom>
          <a:solidFill>
            <a:srgbClr val="FAFAFA"/>
          </a:solidFill>
          <a:ln w="6985">
            <a:solidFill>
              <a:srgbClr val="434343"/>
            </a:solidFill>
          </a:ln>
        </p:spPr>
      </p:sp>
      <p:sp>
        <p:nvSpPr>
          <p:cNvPr id="239" name="a_new_32"/>
          <p:cNvSpPr>
            <a:spLocks noGrp="1"/>
          </p:cNvSpPr>
          <p:nvPr/>
        </p:nvSpPr>
        <p:spPr>
          <a:xfrm>
            <a:off x="3502400" y="620528"/>
            <a:ext cx="181759" cy="101366"/>
          </a:xfrm>
          <a:prstGeom prst="rect">
            <a:avLst/>
          </a:prstGeom>
          <a:noFill/>
          <a:ln w="698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68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0" name="a_new_33"/>
          <p:cNvSpPr>
            <a:spLocks noGrp="1"/>
          </p:cNvSpPr>
          <p:nvPr/>
        </p:nvSpPr>
        <p:spPr>
          <a:xfrm>
            <a:off x="3523372" y="749856"/>
            <a:ext cx="139815" cy="0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</p:sp>
      <p:sp>
        <p:nvSpPr>
          <p:cNvPr id="241" name="a_new_34"/>
          <p:cNvSpPr>
            <a:spLocks noGrp="1"/>
          </p:cNvSpPr>
          <p:nvPr/>
        </p:nvSpPr>
        <p:spPr>
          <a:xfrm>
            <a:off x="3523372" y="791801"/>
            <a:ext cx="139815" cy="0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</p:sp>
      <p:sp>
        <p:nvSpPr>
          <p:cNvPr id="242" name="a_new_35"/>
          <p:cNvSpPr>
            <a:spLocks noGrp="1"/>
          </p:cNvSpPr>
          <p:nvPr/>
        </p:nvSpPr>
        <p:spPr>
          <a:xfrm>
            <a:off x="3782030" y="596060"/>
            <a:ext cx="181759" cy="251666"/>
          </a:xfrm>
          <a:custGeom>
            <a:avLst/>
            <a:gdLst/>
            <a:ahLst/>
            <a:cxnLst/>
            <a:pathLst>
              <a:path w="187200" h="259200">
                <a:moveTo>
                  <a:pt x="0" y="0"/>
                </a:moveTo>
                <a:lnTo>
                  <a:pt x="144000" y="0"/>
                </a:lnTo>
                <a:lnTo>
                  <a:pt x="187200" y="43200"/>
                </a:lnTo>
                <a:lnTo>
                  <a:pt x="187200" y="259200"/>
                </a:lnTo>
                <a:lnTo>
                  <a:pt x="0" y="259200"/>
                </a:lnTo>
                <a:close/>
              </a:path>
            </a:pathLst>
          </a:custGeom>
          <a:solidFill>
            <a:srgbClr val="FAFAFA"/>
          </a:solidFill>
          <a:ln w="6985">
            <a:solidFill>
              <a:srgbClr val="434343"/>
            </a:solidFill>
          </a:ln>
        </p:spPr>
      </p:sp>
      <p:sp>
        <p:nvSpPr>
          <p:cNvPr id="243" name="a_new_36"/>
          <p:cNvSpPr>
            <a:spLocks noGrp="1"/>
          </p:cNvSpPr>
          <p:nvPr/>
        </p:nvSpPr>
        <p:spPr>
          <a:xfrm>
            <a:off x="3782030" y="620528"/>
            <a:ext cx="181759" cy="101366"/>
          </a:xfrm>
          <a:prstGeom prst="rect">
            <a:avLst/>
          </a:prstGeom>
          <a:noFill/>
          <a:ln w="698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68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4" name="a_new_37"/>
          <p:cNvSpPr>
            <a:spLocks noGrp="1"/>
          </p:cNvSpPr>
          <p:nvPr/>
        </p:nvSpPr>
        <p:spPr>
          <a:xfrm>
            <a:off x="3803002" y="749856"/>
            <a:ext cx="139815" cy="0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</p:sp>
      <p:sp>
        <p:nvSpPr>
          <p:cNvPr id="245" name="a_new_38"/>
          <p:cNvSpPr>
            <a:spLocks noGrp="1"/>
          </p:cNvSpPr>
          <p:nvPr/>
        </p:nvSpPr>
        <p:spPr>
          <a:xfrm>
            <a:off x="3803002" y="791801"/>
            <a:ext cx="139815" cy="0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</p:sp>
      <p:sp>
        <p:nvSpPr>
          <p:cNvPr id="246" name="a_new_39"/>
          <p:cNvSpPr>
            <a:spLocks noGrp="1"/>
          </p:cNvSpPr>
          <p:nvPr/>
        </p:nvSpPr>
        <p:spPr>
          <a:xfrm>
            <a:off x="339093" y="889671"/>
            <a:ext cx="1223379" cy="115347"/>
          </a:xfrm>
          <a:prstGeom prst="rect">
            <a:avLst/>
          </a:prstGeom>
          <a:noFill/>
          <a:ln w="698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5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1,000 users</a:t>
            </a:r>
            <a:endParaRPr sz="68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7" name="a_new_40"/>
          <p:cNvSpPr>
            <a:spLocks noGrp="1"/>
          </p:cNvSpPr>
          <p:nvPr/>
        </p:nvSpPr>
        <p:spPr>
          <a:xfrm>
            <a:off x="181801" y="1019000"/>
            <a:ext cx="1537962" cy="97870"/>
          </a:xfrm>
          <a:prstGeom prst="rect">
            <a:avLst/>
          </a:prstGeom>
          <a:noFill/>
          <a:ln w="698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>
                <a:solidFill>
                  <a:srgbClr val="5555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3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History before target impressions</a:t>
            </a:r>
            <a:endParaRPr sz="63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8" name="a_new_41"/>
          <p:cNvSpPr>
            <a:spLocks noGrp="1"/>
          </p:cNvSpPr>
          <p:nvPr/>
        </p:nvSpPr>
        <p:spPr>
          <a:xfrm>
            <a:off x="1789670" y="949092"/>
            <a:ext cx="978703" cy="94375"/>
          </a:xfrm>
          <a:prstGeom prst="rect">
            <a:avLst/>
          </a:prstGeom>
          <a:noFill/>
          <a:ln w="698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67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ym typeface="+mn-ea"/>
              </a:rPr>
              <a:t>Candidates from</a:t>
            </a:r>
            <a:endParaRPr sz="68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9" name="a_new_42"/>
          <p:cNvSpPr>
            <a:spLocks noGrp="1"/>
          </p:cNvSpPr>
          <p:nvPr/>
        </p:nvSpPr>
        <p:spPr>
          <a:xfrm>
            <a:off x="2259797" y="926372"/>
            <a:ext cx="3495" cy="3495"/>
          </a:xfrm>
          <a:prstGeom prst="rect">
            <a:avLst/>
          </a:prstGeom>
          <a:noFill/>
          <a:ln w="6985">
            <a:noFill/>
          </a:ln>
        </p:spPr>
      </p:sp>
      <p:sp>
        <p:nvSpPr>
          <p:cNvPr id="250" name="a_new_43"/>
          <p:cNvSpPr>
            <a:spLocks noGrp="1"/>
          </p:cNvSpPr>
          <p:nvPr/>
        </p:nvSpPr>
        <p:spPr>
          <a:xfrm>
            <a:off x="2259797" y="866951"/>
            <a:ext cx="3495" cy="3495"/>
          </a:xfrm>
          <a:prstGeom prst="rect">
            <a:avLst/>
          </a:prstGeom>
          <a:noFill/>
          <a:ln w="6985">
            <a:noFill/>
          </a:ln>
        </p:spPr>
      </p:sp>
      <p:cxnSp>
        <p:nvCxnSpPr>
          <p:cNvPr id="504" name="直接箭头连接符 503"/>
          <p:cNvCxnSpPr>
            <a:stCxn id="249" idx="0"/>
          </p:cNvCxnSpPr>
          <p:nvPr/>
        </p:nvCxnSpPr>
        <p:spPr>
          <a:xfrm flipH="1" flipV="1">
            <a:off x="2260928" y="805530"/>
            <a:ext cx="617" cy="120843"/>
          </a:xfrm>
          <a:prstGeom prst="straightConnector1">
            <a:avLst/>
          </a:prstGeom>
          <a:ln w="13335">
            <a:solidFill>
              <a:srgbClr val="AFAFAF"/>
            </a:solidFill>
            <a:tailEnd type="triangle" w="med" len="med"/>
          </a:ln>
        </p:spPr>
      </p:cxnSp>
      <p:sp>
        <p:nvSpPr>
          <p:cNvPr id="252" name="a_new_44"/>
          <p:cNvSpPr>
            <a:spLocks noGrp="1"/>
          </p:cNvSpPr>
          <p:nvPr/>
        </p:nvSpPr>
        <p:spPr>
          <a:xfrm>
            <a:off x="1649933" y="1043428"/>
            <a:ext cx="1258366" cy="94331"/>
          </a:xfrm>
          <a:prstGeom prst="rect">
            <a:avLst/>
          </a:prstGeom>
          <a:noFill/>
          <a:ln w="698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3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3,000 target impressions</a:t>
            </a:r>
            <a:endParaRPr sz="63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3" name="a_new_45"/>
          <p:cNvSpPr>
            <a:spLocks noGrp="1"/>
          </p:cNvSpPr>
          <p:nvPr/>
        </p:nvSpPr>
        <p:spPr>
          <a:xfrm>
            <a:off x="2943141" y="952588"/>
            <a:ext cx="1258332" cy="129329"/>
          </a:xfrm>
          <a:prstGeom prst="rect">
            <a:avLst/>
          </a:prstGeom>
          <a:noFill/>
          <a:ln w="698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4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8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nDCG@5 / MAP / AUC</a:t>
            </a:r>
            <a:endParaRPr sz="68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b_vector_41"/>
          <p:cNvSpPr>
            <a:spLocks noGrp="1"/>
          </p:cNvSpPr>
          <p:nvPr/>
        </p:nvSpPr>
        <p:spPr>
          <a:xfrm>
            <a:off x="2015544" y="1506453"/>
            <a:ext cx="665867" cy="407536"/>
          </a:xfrm>
          <a:custGeom>
            <a:avLst/>
            <a:gdLst/>
            <a:ahLst/>
            <a:cxnLst/>
            <a:pathLst>
              <a:path w="288000" h="342000">
                <a:moveTo>
                  <a:pt x="0" y="259200"/>
                </a:moveTo>
                <a:lnTo>
                  <a:pt x="288000" y="0"/>
                </a:lnTo>
                <a:lnTo>
                  <a:pt x="288000" y="342000"/>
                </a:lnTo>
                <a:lnTo>
                  <a:pt x="0" y="259200"/>
                </a:lnTo>
                <a:close/>
              </a:path>
            </a:pathLst>
          </a:custGeom>
          <a:solidFill>
            <a:srgbClr val="DDDDDD"/>
          </a:solidFill>
          <a:ln w="0">
            <a:noFill/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3"/>
          <a:srcRect b="30041"/>
          <a:stretch>
            <a:fillRect/>
          </a:stretch>
        </p:blipFill>
        <p:spPr>
          <a:xfrm>
            <a:off x="3320151" y="4546014"/>
            <a:ext cx="896455" cy="419250"/>
          </a:xfrm>
          <a:prstGeom prst="rect">
            <a:avLst/>
          </a:prstGeom>
        </p:spPr>
      </p:pic>
      <p:sp>
        <p:nvSpPr>
          <p:cNvPr id="135" name="d_edit_line_9"/>
          <p:cNvSpPr>
            <a:spLocks noGrp="1"/>
          </p:cNvSpPr>
          <p:nvPr/>
        </p:nvSpPr>
        <p:spPr>
          <a:xfrm>
            <a:off x="216000" y="5169845"/>
            <a:ext cx="3996000" cy="360"/>
          </a:xfrm>
          <a:custGeom>
            <a:avLst/>
            <a:gdLst/>
            <a:ahLst/>
            <a:cxnLst/>
            <a:pathLst>
              <a:path w="3996000" h="360">
                <a:moveTo>
                  <a:pt x="0" y="0"/>
                </a:moveTo>
                <a:lnTo>
                  <a:pt x="3996000" y="0"/>
                </a:lnTo>
              </a:path>
            </a:pathLst>
          </a:custGeom>
          <a:noFill/>
          <a:ln w="5715">
            <a:solidFill>
              <a:srgbClr val="D0D0D0"/>
            </a:solidFill>
          </a:ln>
        </p:spPr>
      </p:sp>
      <p:sp>
        <p:nvSpPr>
          <p:cNvPr id="136" name="d_edit_text_10"/>
          <p:cNvSpPr>
            <a:spLocks noGrp="1"/>
          </p:cNvSpPr>
          <p:nvPr/>
        </p:nvSpPr>
        <p:spPr>
          <a:xfrm>
            <a:off x="216000" y="5198645"/>
            <a:ext cx="79200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5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ROI association:</a:t>
            </a:r>
            <a:endParaRPr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1" name="d_edit_text_11"/>
          <p:cNvSpPr>
            <a:spLocks noGrp="1"/>
          </p:cNvSpPr>
          <p:nvPr/>
        </p:nvSpPr>
        <p:spPr>
          <a:xfrm>
            <a:off x="1026000" y="5198645"/>
            <a:ext cx="3204000" cy="10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5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ROI mean activity and measured reading intention</a:t>
            </a:r>
            <a:endParaRPr sz="700"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6" name="e_edit_box_0"/>
          <p:cNvSpPr>
            <a:spLocks noGrp="1"/>
          </p:cNvSpPr>
          <p:nvPr/>
        </p:nvSpPr>
        <p:spPr>
          <a:xfrm>
            <a:off x="4393125" y="618545"/>
            <a:ext cx="1872000" cy="1368000"/>
          </a:xfrm>
          <a:custGeom>
            <a:avLst/>
            <a:gdLst/>
            <a:ahLst/>
            <a:cxnLst/>
            <a:pathLst>
              <a:path w="1872000" h="1368000">
                <a:moveTo>
                  <a:pt x="72000" y="0"/>
                </a:moveTo>
                <a:lnTo>
                  <a:pt x="1800000" y="0"/>
                </a:lnTo>
                <a:lnTo>
                  <a:pt x="1805875" y="120"/>
                </a:lnTo>
                <a:lnTo>
                  <a:pt x="1811500" y="481"/>
                </a:lnTo>
                <a:lnTo>
                  <a:pt x="1816875" y="1082"/>
                </a:lnTo>
                <a:lnTo>
                  <a:pt x="1822000" y="1924"/>
                </a:lnTo>
                <a:lnTo>
                  <a:pt x="1826875" y="3006"/>
                </a:lnTo>
                <a:lnTo>
                  <a:pt x="1831500" y="4329"/>
                </a:lnTo>
                <a:lnTo>
                  <a:pt x="1835875" y="5892"/>
                </a:lnTo>
                <a:lnTo>
                  <a:pt x="1840000" y="7696"/>
                </a:lnTo>
                <a:lnTo>
                  <a:pt x="1843875" y="9741"/>
                </a:lnTo>
                <a:lnTo>
                  <a:pt x="1847500" y="12025"/>
                </a:lnTo>
                <a:lnTo>
                  <a:pt x="1850875" y="14551"/>
                </a:lnTo>
                <a:lnTo>
                  <a:pt x="1854000" y="17317"/>
                </a:lnTo>
                <a:lnTo>
                  <a:pt x="1856875" y="20323"/>
                </a:lnTo>
                <a:lnTo>
                  <a:pt x="1859500" y="23570"/>
                </a:lnTo>
                <a:lnTo>
                  <a:pt x="1861875" y="27057"/>
                </a:lnTo>
                <a:lnTo>
                  <a:pt x="1864000" y="30785"/>
                </a:lnTo>
                <a:lnTo>
                  <a:pt x="1865875" y="34753"/>
                </a:lnTo>
                <a:lnTo>
                  <a:pt x="1867500" y="38962"/>
                </a:lnTo>
                <a:lnTo>
                  <a:pt x="1868875" y="43412"/>
                </a:lnTo>
                <a:lnTo>
                  <a:pt x="1870000" y="48101"/>
                </a:lnTo>
                <a:lnTo>
                  <a:pt x="1870875" y="53032"/>
                </a:lnTo>
                <a:lnTo>
                  <a:pt x="1871500" y="58203"/>
                </a:lnTo>
                <a:lnTo>
                  <a:pt x="1871875" y="63614"/>
                </a:lnTo>
                <a:lnTo>
                  <a:pt x="1872000" y="69266"/>
                </a:lnTo>
                <a:lnTo>
                  <a:pt x="1872000" y="1298734"/>
                </a:lnTo>
                <a:lnTo>
                  <a:pt x="1871875" y="1304386"/>
                </a:lnTo>
                <a:lnTo>
                  <a:pt x="1871500" y="1309797"/>
                </a:lnTo>
                <a:lnTo>
                  <a:pt x="1870875" y="1314968"/>
                </a:lnTo>
                <a:lnTo>
                  <a:pt x="1870000" y="1319899"/>
                </a:lnTo>
                <a:lnTo>
                  <a:pt x="1868875" y="1324588"/>
                </a:lnTo>
                <a:lnTo>
                  <a:pt x="1867500" y="1329038"/>
                </a:lnTo>
                <a:lnTo>
                  <a:pt x="1865875" y="1333247"/>
                </a:lnTo>
                <a:lnTo>
                  <a:pt x="1864000" y="1337215"/>
                </a:lnTo>
                <a:lnTo>
                  <a:pt x="1861875" y="1340943"/>
                </a:lnTo>
                <a:lnTo>
                  <a:pt x="1859500" y="1344430"/>
                </a:lnTo>
                <a:lnTo>
                  <a:pt x="1856875" y="1347677"/>
                </a:lnTo>
                <a:lnTo>
                  <a:pt x="1854000" y="1350683"/>
                </a:lnTo>
                <a:lnTo>
                  <a:pt x="1850875" y="1353449"/>
                </a:lnTo>
                <a:lnTo>
                  <a:pt x="1847500" y="1355975"/>
                </a:lnTo>
                <a:lnTo>
                  <a:pt x="1843875" y="1358259"/>
                </a:lnTo>
                <a:lnTo>
                  <a:pt x="1840000" y="1360304"/>
                </a:lnTo>
                <a:lnTo>
                  <a:pt x="1835875" y="1362108"/>
                </a:lnTo>
                <a:lnTo>
                  <a:pt x="1831500" y="1363671"/>
                </a:lnTo>
                <a:lnTo>
                  <a:pt x="1826875" y="1364994"/>
                </a:lnTo>
                <a:lnTo>
                  <a:pt x="1822000" y="1366076"/>
                </a:lnTo>
                <a:lnTo>
                  <a:pt x="1816875" y="1366918"/>
                </a:lnTo>
                <a:lnTo>
                  <a:pt x="1811500" y="1367519"/>
                </a:lnTo>
                <a:lnTo>
                  <a:pt x="1805875" y="1367880"/>
                </a:lnTo>
                <a:lnTo>
                  <a:pt x="1800000" y="1368000"/>
                </a:lnTo>
                <a:lnTo>
                  <a:pt x="72000" y="1368000"/>
                </a:lnTo>
                <a:lnTo>
                  <a:pt x="66125" y="1367880"/>
                </a:lnTo>
                <a:lnTo>
                  <a:pt x="60500" y="1367519"/>
                </a:lnTo>
                <a:lnTo>
                  <a:pt x="55125" y="1366918"/>
                </a:lnTo>
                <a:lnTo>
                  <a:pt x="50000" y="1366076"/>
                </a:lnTo>
                <a:lnTo>
                  <a:pt x="45125" y="1364994"/>
                </a:lnTo>
                <a:lnTo>
                  <a:pt x="40500" y="1363671"/>
                </a:lnTo>
                <a:lnTo>
                  <a:pt x="36125" y="1362108"/>
                </a:lnTo>
                <a:lnTo>
                  <a:pt x="32000" y="1360304"/>
                </a:lnTo>
                <a:lnTo>
                  <a:pt x="28125" y="1358259"/>
                </a:lnTo>
                <a:lnTo>
                  <a:pt x="24500" y="1355975"/>
                </a:lnTo>
                <a:lnTo>
                  <a:pt x="21125" y="1353449"/>
                </a:lnTo>
                <a:lnTo>
                  <a:pt x="18000" y="1350683"/>
                </a:lnTo>
                <a:lnTo>
                  <a:pt x="15125" y="1347677"/>
                </a:lnTo>
                <a:lnTo>
                  <a:pt x="12500" y="1344430"/>
                </a:lnTo>
                <a:lnTo>
                  <a:pt x="10125" y="1340943"/>
                </a:lnTo>
                <a:lnTo>
                  <a:pt x="8000" y="1337215"/>
                </a:lnTo>
                <a:lnTo>
                  <a:pt x="6125" y="1333247"/>
                </a:lnTo>
                <a:lnTo>
                  <a:pt x="4500" y="1329038"/>
                </a:lnTo>
                <a:lnTo>
                  <a:pt x="3125" y="1324588"/>
                </a:lnTo>
                <a:lnTo>
                  <a:pt x="2000" y="1319899"/>
                </a:lnTo>
                <a:lnTo>
                  <a:pt x="1125" y="1314968"/>
                </a:lnTo>
                <a:lnTo>
                  <a:pt x="500" y="1309797"/>
                </a:lnTo>
                <a:lnTo>
                  <a:pt x="125" y="1304386"/>
                </a:lnTo>
                <a:lnTo>
                  <a:pt x="0" y="1298734"/>
                </a:lnTo>
                <a:lnTo>
                  <a:pt x="0" y="69266"/>
                </a:lnTo>
                <a:lnTo>
                  <a:pt x="125" y="63614"/>
                </a:lnTo>
                <a:lnTo>
                  <a:pt x="500" y="58203"/>
                </a:lnTo>
                <a:lnTo>
                  <a:pt x="1125" y="53032"/>
                </a:lnTo>
                <a:lnTo>
                  <a:pt x="2000" y="48101"/>
                </a:lnTo>
                <a:lnTo>
                  <a:pt x="3125" y="43412"/>
                </a:lnTo>
                <a:lnTo>
                  <a:pt x="4500" y="38962"/>
                </a:lnTo>
                <a:lnTo>
                  <a:pt x="6125" y="34753"/>
                </a:lnTo>
                <a:lnTo>
                  <a:pt x="8000" y="30785"/>
                </a:lnTo>
                <a:lnTo>
                  <a:pt x="10125" y="27057"/>
                </a:lnTo>
                <a:lnTo>
                  <a:pt x="12500" y="23570"/>
                </a:lnTo>
                <a:lnTo>
                  <a:pt x="15125" y="20323"/>
                </a:lnTo>
                <a:lnTo>
                  <a:pt x="18000" y="17317"/>
                </a:lnTo>
                <a:lnTo>
                  <a:pt x="21125" y="14551"/>
                </a:lnTo>
                <a:lnTo>
                  <a:pt x="24500" y="12025"/>
                </a:lnTo>
                <a:lnTo>
                  <a:pt x="28125" y="9741"/>
                </a:lnTo>
                <a:lnTo>
                  <a:pt x="32000" y="7696"/>
                </a:lnTo>
                <a:lnTo>
                  <a:pt x="36125" y="5892"/>
                </a:lnTo>
                <a:lnTo>
                  <a:pt x="40500" y="4329"/>
                </a:lnTo>
                <a:lnTo>
                  <a:pt x="45125" y="3006"/>
                </a:lnTo>
                <a:lnTo>
                  <a:pt x="50000" y="1924"/>
                </a:lnTo>
                <a:lnTo>
                  <a:pt x="55125" y="1082"/>
                </a:lnTo>
                <a:lnTo>
                  <a:pt x="60500" y="481"/>
                </a:lnTo>
                <a:lnTo>
                  <a:pt x="66125" y="120"/>
                </a:lnTo>
                <a:lnTo>
                  <a:pt x="72000" y="0"/>
                </a:lnTo>
                <a:close/>
              </a:path>
            </a:pathLst>
          </a:custGeom>
          <a:solidFill>
            <a:srgbClr val="F5E9DF"/>
          </a:solidFill>
          <a:ln w="8255">
            <a:solidFill>
              <a:srgbClr val="BCAFA4"/>
            </a:solidFill>
          </a:ln>
        </p:spPr>
      </p:sp>
      <p:sp>
        <p:nvSpPr>
          <p:cNvPr id="477" name="e_edit_box_1"/>
          <p:cNvSpPr>
            <a:spLocks noGrp="1"/>
          </p:cNvSpPr>
          <p:nvPr/>
        </p:nvSpPr>
        <p:spPr>
          <a:xfrm>
            <a:off x="4465125" y="708545"/>
            <a:ext cx="1728000" cy="1008000"/>
          </a:xfrm>
          <a:custGeom>
            <a:avLst/>
            <a:gdLst/>
            <a:ahLst/>
            <a:cxnLst/>
            <a:pathLst>
              <a:path w="1728000" h="1008000">
                <a:moveTo>
                  <a:pt x="57600" y="0"/>
                </a:moveTo>
                <a:lnTo>
                  <a:pt x="1670400" y="0"/>
                </a:lnTo>
                <a:lnTo>
                  <a:pt x="1675100" y="104"/>
                </a:lnTo>
                <a:lnTo>
                  <a:pt x="1679600" y="415"/>
                </a:lnTo>
                <a:lnTo>
                  <a:pt x="1683900" y="933"/>
                </a:lnTo>
                <a:lnTo>
                  <a:pt x="1688000" y="1659"/>
                </a:lnTo>
                <a:lnTo>
                  <a:pt x="1691900" y="2593"/>
                </a:lnTo>
                <a:lnTo>
                  <a:pt x="1695600" y="3733"/>
                </a:lnTo>
                <a:lnTo>
                  <a:pt x="1699100" y="5081"/>
                </a:lnTo>
                <a:lnTo>
                  <a:pt x="1702400" y="6637"/>
                </a:lnTo>
                <a:lnTo>
                  <a:pt x="1705500" y="8400"/>
                </a:lnTo>
                <a:lnTo>
                  <a:pt x="1708400" y="10370"/>
                </a:lnTo>
                <a:lnTo>
                  <a:pt x="1711100" y="12548"/>
                </a:lnTo>
                <a:lnTo>
                  <a:pt x="1713600" y="14933"/>
                </a:lnTo>
                <a:lnTo>
                  <a:pt x="1715900" y="17526"/>
                </a:lnTo>
                <a:lnTo>
                  <a:pt x="1718000" y="20326"/>
                </a:lnTo>
                <a:lnTo>
                  <a:pt x="1719900" y="23333"/>
                </a:lnTo>
                <a:lnTo>
                  <a:pt x="1721600" y="26548"/>
                </a:lnTo>
                <a:lnTo>
                  <a:pt x="1723100" y="29970"/>
                </a:lnTo>
                <a:lnTo>
                  <a:pt x="1724400" y="33600"/>
                </a:lnTo>
                <a:lnTo>
                  <a:pt x="1725500" y="37437"/>
                </a:lnTo>
                <a:lnTo>
                  <a:pt x="1726400" y="41481"/>
                </a:lnTo>
                <a:lnTo>
                  <a:pt x="1727100" y="45733"/>
                </a:lnTo>
                <a:lnTo>
                  <a:pt x="1727600" y="50192"/>
                </a:lnTo>
                <a:lnTo>
                  <a:pt x="1727900" y="54859"/>
                </a:lnTo>
                <a:lnTo>
                  <a:pt x="1728000" y="59733"/>
                </a:lnTo>
                <a:lnTo>
                  <a:pt x="1728000" y="948267"/>
                </a:lnTo>
                <a:lnTo>
                  <a:pt x="1727900" y="953141"/>
                </a:lnTo>
                <a:lnTo>
                  <a:pt x="1727600" y="957807"/>
                </a:lnTo>
                <a:lnTo>
                  <a:pt x="1727100" y="962267"/>
                </a:lnTo>
                <a:lnTo>
                  <a:pt x="1726400" y="966519"/>
                </a:lnTo>
                <a:lnTo>
                  <a:pt x="1725500" y="970563"/>
                </a:lnTo>
                <a:lnTo>
                  <a:pt x="1724400" y="974400"/>
                </a:lnTo>
                <a:lnTo>
                  <a:pt x="1723100" y="978030"/>
                </a:lnTo>
                <a:lnTo>
                  <a:pt x="1721600" y="981452"/>
                </a:lnTo>
                <a:lnTo>
                  <a:pt x="1719900" y="984667"/>
                </a:lnTo>
                <a:lnTo>
                  <a:pt x="1718000" y="987674"/>
                </a:lnTo>
                <a:lnTo>
                  <a:pt x="1715900" y="990474"/>
                </a:lnTo>
                <a:lnTo>
                  <a:pt x="1713600" y="993067"/>
                </a:lnTo>
                <a:lnTo>
                  <a:pt x="1711100" y="995452"/>
                </a:lnTo>
                <a:lnTo>
                  <a:pt x="1708400" y="997630"/>
                </a:lnTo>
                <a:lnTo>
                  <a:pt x="1705500" y="999600"/>
                </a:lnTo>
                <a:lnTo>
                  <a:pt x="1702400" y="1001363"/>
                </a:lnTo>
                <a:lnTo>
                  <a:pt x="1699100" y="1002919"/>
                </a:lnTo>
                <a:lnTo>
                  <a:pt x="1695600" y="1004267"/>
                </a:lnTo>
                <a:lnTo>
                  <a:pt x="1691900" y="1005407"/>
                </a:lnTo>
                <a:lnTo>
                  <a:pt x="1688000" y="1006341"/>
                </a:lnTo>
                <a:lnTo>
                  <a:pt x="1683900" y="1007067"/>
                </a:lnTo>
                <a:lnTo>
                  <a:pt x="1679600" y="1007585"/>
                </a:lnTo>
                <a:lnTo>
                  <a:pt x="1675100" y="1007896"/>
                </a:lnTo>
                <a:lnTo>
                  <a:pt x="1670400" y="1008000"/>
                </a:lnTo>
                <a:lnTo>
                  <a:pt x="57600" y="1008000"/>
                </a:lnTo>
                <a:lnTo>
                  <a:pt x="52900" y="1007896"/>
                </a:lnTo>
                <a:lnTo>
                  <a:pt x="48400" y="1007585"/>
                </a:lnTo>
                <a:lnTo>
                  <a:pt x="44100" y="1007067"/>
                </a:lnTo>
                <a:lnTo>
                  <a:pt x="40000" y="1006341"/>
                </a:lnTo>
                <a:lnTo>
                  <a:pt x="36100" y="1005407"/>
                </a:lnTo>
                <a:lnTo>
                  <a:pt x="32400" y="1004267"/>
                </a:lnTo>
                <a:lnTo>
                  <a:pt x="28900" y="1002919"/>
                </a:lnTo>
                <a:lnTo>
                  <a:pt x="25600" y="1001363"/>
                </a:lnTo>
                <a:lnTo>
                  <a:pt x="22500" y="999600"/>
                </a:lnTo>
                <a:lnTo>
                  <a:pt x="19600" y="997630"/>
                </a:lnTo>
                <a:lnTo>
                  <a:pt x="16900" y="995452"/>
                </a:lnTo>
                <a:lnTo>
                  <a:pt x="14400" y="993067"/>
                </a:lnTo>
                <a:lnTo>
                  <a:pt x="12100" y="990474"/>
                </a:lnTo>
                <a:lnTo>
                  <a:pt x="10000" y="987674"/>
                </a:lnTo>
                <a:lnTo>
                  <a:pt x="8100" y="984667"/>
                </a:lnTo>
                <a:lnTo>
                  <a:pt x="6400" y="981452"/>
                </a:lnTo>
                <a:lnTo>
                  <a:pt x="4900" y="978030"/>
                </a:lnTo>
                <a:lnTo>
                  <a:pt x="3600" y="974400"/>
                </a:lnTo>
                <a:lnTo>
                  <a:pt x="2500" y="970563"/>
                </a:lnTo>
                <a:lnTo>
                  <a:pt x="1600" y="966519"/>
                </a:lnTo>
                <a:lnTo>
                  <a:pt x="900" y="962267"/>
                </a:lnTo>
                <a:lnTo>
                  <a:pt x="400" y="957807"/>
                </a:lnTo>
                <a:lnTo>
                  <a:pt x="100" y="953141"/>
                </a:lnTo>
                <a:lnTo>
                  <a:pt x="0" y="948267"/>
                </a:lnTo>
                <a:lnTo>
                  <a:pt x="0" y="59733"/>
                </a:lnTo>
                <a:lnTo>
                  <a:pt x="100" y="54859"/>
                </a:lnTo>
                <a:lnTo>
                  <a:pt x="400" y="50192"/>
                </a:lnTo>
                <a:lnTo>
                  <a:pt x="900" y="45733"/>
                </a:lnTo>
                <a:lnTo>
                  <a:pt x="1600" y="41481"/>
                </a:lnTo>
                <a:lnTo>
                  <a:pt x="2500" y="37437"/>
                </a:lnTo>
                <a:lnTo>
                  <a:pt x="3600" y="33600"/>
                </a:lnTo>
                <a:lnTo>
                  <a:pt x="4900" y="29970"/>
                </a:lnTo>
                <a:lnTo>
                  <a:pt x="6400" y="26548"/>
                </a:lnTo>
                <a:lnTo>
                  <a:pt x="8100" y="23333"/>
                </a:lnTo>
                <a:lnTo>
                  <a:pt x="10000" y="20326"/>
                </a:lnTo>
                <a:lnTo>
                  <a:pt x="12100" y="17526"/>
                </a:lnTo>
                <a:lnTo>
                  <a:pt x="14400" y="14933"/>
                </a:lnTo>
                <a:lnTo>
                  <a:pt x="16900" y="12548"/>
                </a:lnTo>
                <a:lnTo>
                  <a:pt x="19600" y="10370"/>
                </a:lnTo>
                <a:lnTo>
                  <a:pt x="22500" y="8400"/>
                </a:lnTo>
                <a:lnTo>
                  <a:pt x="25600" y="6637"/>
                </a:lnTo>
                <a:lnTo>
                  <a:pt x="28900" y="5081"/>
                </a:lnTo>
                <a:lnTo>
                  <a:pt x="32400" y="3733"/>
                </a:lnTo>
                <a:lnTo>
                  <a:pt x="36100" y="2593"/>
                </a:lnTo>
                <a:lnTo>
                  <a:pt x="40000" y="1659"/>
                </a:lnTo>
                <a:lnTo>
                  <a:pt x="44100" y="933"/>
                </a:lnTo>
                <a:lnTo>
                  <a:pt x="48400" y="415"/>
                </a:lnTo>
                <a:lnTo>
                  <a:pt x="52900" y="104"/>
                </a:lnTo>
                <a:lnTo>
                  <a:pt x="57600" y="0"/>
                </a:lnTo>
                <a:close/>
              </a:path>
            </a:pathLst>
          </a:custGeom>
          <a:solidFill>
            <a:srgbClr val="FFFFFF"/>
          </a:solidFill>
          <a:ln w="6985">
            <a:solidFill>
              <a:srgbClr val="C8BDB4"/>
            </a:solidFill>
          </a:ln>
        </p:spPr>
      </p:sp>
      <p:sp>
        <p:nvSpPr>
          <p:cNvPr id="478" name="e_edit_box_2"/>
          <p:cNvSpPr>
            <a:spLocks noGrp="1"/>
          </p:cNvSpPr>
          <p:nvPr/>
        </p:nvSpPr>
        <p:spPr>
          <a:xfrm>
            <a:off x="4392930" y="2310765"/>
            <a:ext cx="1871980" cy="1607820"/>
          </a:xfrm>
          <a:custGeom>
            <a:avLst/>
            <a:gdLst/>
            <a:ahLst/>
            <a:cxnLst/>
            <a:pathLst>
              <a:path w="1872000" h="1692000">
                <a:moveTo>
                  <a:pt x="72000" y="0"/>
                </a:moveTo>
                <a:lnTo>
                  <a:pt x="1800000" y="0"/>
                </a:lnTo>
                <a:lnTo>
                  <a:pt x="1805875" y="111"/>
                </a:lnTo>
                <a:lnTo>
                  <a:pt x="1811500" y="443"/>
                </a:lnTo>
                <a:lnTo>
                  <a:pt x="1816875" y="998"/>
                </a:lnTo>
                <a:lnTo>
                  <a:pt x="1822000" y="1774"/>
                </a:lnTo>
                <a:lnTo>
                  <a:pt x="1826875" y="2771"/>
                </a:lnTo>
                <a:lnTo>
                  <a:pt x="1831500" y="3991"/>
                </a:lnTo>
                <a:lnTo>
                  <a:pt x="1835875" y="5432"/>
                </a:lnTo>
                <a:lnTo>
                  <a:pt x="1840000" y="7094"/>
                </a:lnTo>
                <a:lnTo>
                  <a:pt x="1843875" y="8979"/>
                </a:lnTo>
                <a:lnTo>
                  <a:pt x="1847500" y="11085"/>
                </a:lnTo>
                <a:lnTo>
                  <a:pt x="1850875" y="13413"/>
                </a:lnTo>
                <a:lnTo>
                  <a:pt x="1854000" y="15962"/>
                </a:lnTo>
                <a:lnTo>
                  <a:pt x="1856875" y="18733"/>
                </a:lnTo>
                <a:lnTo>
                  <a:pt x="1859500" y="21726"/>
                </a:lnTo>
                <a:lnTo>
                  <a:pt x="1861875" y="24941"/>
                </a:lnTo>
                <a:lnTo>
                  <a:pt x="1864000" y="28377"/>
                </a:lnTo>
                <a:lnTo>
                  <a:pt x="1865875" y="32035"/>
                </a:lnTo>
                <a:lnTo>
                  <a:pt x="1867500" y="35915"/>
                </a:lnTo>
                <a:lnTo>
                  <a:pt x="1868875" y="40016"/>
                </a:lnTo>
                <a:lnTo>
                  <a:pt x="1870000" y="44339"/>
                </a:lnTo>
                <a:lnTo>
                  <a:pt x="1870875" y="48884"/>
                </a:lnTo>
                <a:lnTo>
                  <a:pt x="1871500" y="53651"/>
                </a:lnTo>
                <a:lnTo>
                  <a:pt x="1871875" y="58639"/>
                </a:lnTo>
                <a:lnTo>
                  <a:pt x="1872000" y="63849"/>
                </a:lnTo>
                <a:lnTo>
                  <a:pt x="1872000" y="1628151"/>
                </a:lnTo>
                <a:lnTo>
                  <a:pt x="1871875" y="1633361"/>
                </a:lnTo>
                <a:lnTo>
                  <a:pt x="1871500" y="1638349"/>
                </a:lnTo>
                <a:lnTo>
                  <a:pt x="1870875" y="1643116"/>
                </a:lnTo>
                <a:lnTo>
                  <a:pt x="1870000" y="1647661"/>
                </a:lnTo>
                <a:lnTo>
                  <a:pt x="1868875" y="1651984"/>
                </a:lnTo>
                <a:lnTo>
                  <a:pt x="1867500" y="1656085"/>
                </a:lnTo>
                <a:lnTo>
                  <a:pt x="1865875" y="1659965"/>
                </a:lnTo>
                <a:lnTo>
                  <a:pt x="1864000" y="1663623"/>
                </a:lnTo>
                <a:lnTo>
                  <a:pt x="1861875" y="1667059"/>
                </a:lnTo>
                <a:lnTo>
                  <a:pt x="1859500" y="1670274"/>
                </a:lnTo>
                <a:lnTo>
                  <a:pt x="1856875" y="1673267"/>
                </a:lnTo>
                <a:lnTo>
                  <a:pt x="1854000" y="1676038"/>
                </a:lnTo>
                <a:lnTo>
                  <a:pt x="1850875" y="1678587"/>
                </a:lnTo>
                <a:lnTo>
                  <a:pt x="1847500" y="1680915"/>
                </a:lnTo>
                <a:lnTo>
                  <a:pt x="1843875" y="1683021"/>
                </a:lnTo>
                <a:lnTo>
                  <a:pt x="1840000" y="1684906"/>
                </a:lnTo>
                <a:lnTo>
                  <a:pt x="1835875" y="1686568"/>
                </a:lnTo>
                <a:lnTo>
                  <a:pt x="1831500" y="1688009"/>
                </a:lnTo>
                <a:lnTo>
                  <a:pt x="1826875" y="1689229"/>
                </a:lnTo>
                <a:lnTo>
                  <a:pt x="1822000" y="1690226"/>
                </a:lnTo>
                <a:lnTo>
                  <a:pt x="1816875" y="1691002"/>
                </a:lnTo>
                <a:lnTo>
                  <a:pt x="1811500" y="1691557"/>
                </a:lnTo>
                <a:lnTo>
                  <a:pt x="1805875" y="1691889"/>
                </a:lnTo>
                <a:lnTo>
                  <a:pt x="1800000" y="1692000"/>
                </a:lnTo>
                <a:lnTo>
                  <a:pt x="72000" y="1692000"/>
                </a:lnTo>
                <a:lnTo>
                  <a:pt x="66125" y="1691889"/>
                </a:lnTo>
                <a:lnTo>
                  <a:pt x="60500" y="1691557"/>
                </a:lnTo>
                <a:lnTo>
                  <a:pt x="55125" y="1691002"/>
                </a:lnTo>
                <a:lnTo>
                  <a:pt x="50000" y="1690226"/>
                </a:lnTo>
                <a:lnTo>
                  <a:pt x="45125" y="1689229"/>
                </a:lnTo>
                <a:lnTo>
                  <a:pt x="40500" y="1688009"/>
                </a:lnTo>
                <a:lnTo>
                  <a:pt x="36125" y="1686568"/>
                </a:lnTo>
                <a:lnTo>
                  <a:pt x="32000" y="1684906"/>
                </a:lnTo>
                <a:lnTo>
                  <a:pt x="28125" y="1683021"/>
                </a:lnTo>
                <a:lnTo>
                  <a:pt x="24500" y="1680915"/>
                </a:lnTo>
                <a:lnTo>
                  <a:pt x="21125" y="1678587"/>
                </a:lnTo>
                <a:lnTo>
                  <a:pt x="18000" y="1676038"/>
                </a:lnTo>
                <a:lnTo>
                  <a:pt x="15125" y="1673267"/>
                </a:lnTo>
                <a:lnTo>
                  <a:pt x="12500" y="1670274"/>
                </a:lnTo>
                <a:lnTo>
                  <a:pt x="10125" y="1667059"/>
                </a:lnTo>
                <a:lnTo>
                  <a:pt x="8000" y="1663623"/>
                </a:lnTo>
                <a:lnTo>
                  <a:pt x="6125" y="1659965"/>
                </a:lnTo>
                <a:lnTo>
                  <a:pt x="4500" y="1656085"/>
                </a:lnTo>
                <a:lnTo>
                  <a:pt x="3125" y="1651984"/>
                </a:lnTo>
                <a:lnTo>
                  <a:pt x="2000" y="1647661"/>
                </a:lnTo>
                <a:lnTo>
                  <a:pt x="1125" y="1643116"/>
                </a:lnTo>
                <a:lnTo>
                  <a:pt x="500" y="1638349"/>
                </a:lnTo>
                <a:lnTo>
                  <a:pt x="125" y="1633361"/>
                </a:lnTo>
                <a:lnTo>
                  <a:pt x="0" y="1628151"/>
                </a:lnTo>
                <a:lnTo>
                  <a:pt x="0" y="63849"/>
                </a:lnTo>
                <a:lnTo>
                  <a:pt x="125" y="58639"/>
                </a:lnTo>
                <a:lnTo>
                  <a:pt x="500" y="53651"/>
                </a:lnTo>
                <a:lnTo>
                  <a:pt x="1125" y="48884"/>
                </a:lnTo>
                <a:lnTo>
                  <a:pt x="2000" y="44339"/>
                </a:lnTo>
                <a:lnTo>
                  <a:pt x="3125" y="40016"/>
                </a:lnTo>
                <a:lnTo>
                  <a:pt x="4500" y="35915"/>
                </a:lnTo>
                <a:lnTo>
                  <a:pt x="6125" y="32035"/>
                </a:lnTo>
                <a:lnTo>
                  <a:pt x="8000" y="28377"/>
                </a:lnTo>
                <a:lnTo>
                  <a:pt x="10125" y="24941"/>
                </a:lnTo>
                <a:lnTo>
                  <a:pt x="12500" y="21726"/>
                </a:lnTo>
                <a:lnTo>
                  <a:pt x="15125" y="18733"/>
                </a:lnTo>
                <a:lnTo>
                  <a:pt x="18000" y="15962"/>
                </a:lnTo>
                <a:lnTo>
                  <a:pt x="21125" y="13413"/>
                </a:lnTo>
                <a:lnTo>
                  <a:pt x="24500" y="11085"/>
                </a:lnTo>
                <a:lnTo>
                  <a:pt x="28125" y="8979"/>
                </a:lnTo>
                <a:lnTo>
                  <a:pt x="32000" y="7094"/>
                </a:lnTo>
                <a:lnTo>
                  <a:pt x="36125" y="5432"/>
                </a:lnTo>
                <a:lnTo>
                  <a:pt x="40500" y="3991"/>
                </a:lnTo>
                <a:lnTo>
                  <a:pt x="45125" y="2771"/>
                </a:lnTo>
                <a:lnTo>
                  <a:pt x="50000" y="1774"/>
                </a:lnTo>
                <a:lnTo>
                  <a:pt x="55125" y="998"/>
                </a:lnTo>
                <a:lnTo>
                  <a:pt x="60500" y="443"/>
                </a:lnTo>
                <a:lnTo>
                  <a:pt x="66125" y="111"/>
                </a:lnTo>
                <a:lnTo>
                  <a:pt x="72000" y="0"/>
                </a:lnTo>
                <a:close/>
              </a:path>
            </a:pathLst>
          </a:custGeom>
          <a:solidFill>
            <a:srgbClr val="E9ECE3"/>
          </a:solidFill>
          <a:ln w="8255">
            <a:solidFill>
              <a:srgbClr val="AAB19E"/>
            </a:solidFill>
          </a:ln>
        </p:spPr>
      </p:sp>
      <p:sp>
        <p:nvSpPr>
          <p:cNvPr id="479" name="e_edit_box_3"/>
          <p:cNvSpPr>
            <a:spLocks noGrp="1"/>
          </p:cNvSpPr>
          <p:nvPr/>
        </p:nvSpPr>
        <p:spPr>
          <a:xfrm>
            <a:off x="4465125" y="2400545"/>
            <a:ext cx="1728000" cy="1260000"/>
          </a:xfrm>
          <a:custGeom>
            <a:avLst/>
            <a:gdLst/>
            <a:ahLst/>
            <a:cxnLst/>
            <a:pathLst>
              <a:path w="1728000" h="1260000">
                <a:moveTo>
                  <a:pt x="57600" y="0"/>
                </a:moveTo>
                <a:lnTo>
                  <a:pt x="1670400" y="0"/>
                </a:lnTo>
                <a:lnTo>
                  <a:pt x="1675100" y="87"/>
                </a:lnTo>
                <a:lnTo>
                  <a:pt x="1679600" y="350"/>
                </a:lnTo>
                <a:lnTo>
                  <a:pt x="1683900" y="787"/>
                </a:lnTo>
                <a:lnTo>
                  <a:pt x="1688000" y="1400"/>
                </a:lnTo>
                <a:lnTo>
                  <a:pt x="1691900" y="2187"/>
                </a:lnTo>
                <a:lnTo>
                  <a:pt x="1695600" y="3150"/>
                </a:lnTo>
                <a:lnTo>
                  <a:pt x="1699100" y="4287"/>
                </a:lnTo>
                <a:lnTo>
                  <a:pt x="1702400" y="5600"/>
                </a:lnTo>
                <a:lnTo>
                  <a:pt x="1705500" y="7087"/>
                </a:lnTo>
                <a:lnTo>
                  <a:pt x="1708400" y="8750"/>
                </a:lnTo>
                <a:lnTo>
                  <a:pt x="1711100" y="10587"/>
                </a:lnTo>
                <a:lnTo>
                  <a:pt x="1713600" y="12600"/>
                </a:lnTo>
                <a:lnTo>
                  <a:pt x="1715900" y="14787"/>
                </a:lnTo>
                <a:lnTo>
                  <a:pt x="1718000" y="17150"/>
                </a:lnTo>
                <a:lnTo>
                  <a:pt x="1719900" y="19687"/>
                </a:lnTo>
                <a:lnTo>
                  <a:pt x="1721600" y="22400"/>
                </a:lnTo>
                <a:lnTo>
                  <a:pt x="1723100" y="25287"/>
                </a:lnTo>
                <a:lnTo>
                  <a:pt x="1724400" y="28350"/>
                </a:lnTo>
                <a:lnTo>
                  <a:pt x="1725500" y="31587"/>
                </a:lnTo>
                <a:lnTo>
                  <a:pt x="1726400" y="35000"/>
                </a:lnTo>
                <a:lnTo>
                  <a:pt x="1727100" y="38587"/>
                </a:lnTo>
                <a:lnTo>
                  <a:pt x="1727600" y="42350"/>
                </a:lnTo>
                <a:lnTo>
                  <a:pt x="1727900" y="46287"/>
                </a:lnTo>
                <a:lnTo>
                  <a:pt x="1728000" y="50400"/>
                </a:lnTo>
                <a:lnTo>
                  <a:pt x="1728000" y="1209600"/>
                </a:lnTo>
                <a:lnTo>
                  <a:pt x="1727900" y="1213713"/>
                </a:lnTo>
                <a:lnTo>
                  <a:pt x="1727600" y="1217650"/>
                </a:lnTo>
                <a:lnTo>
                  <a:pt x="1727100" y="1221413"/>
                </a:lnTo>
                <a:lnTo>
                  <a:pt x="1726400" y="1225000"/>
                </a:lnTo>
                <a:lnTo>
                  <a:pt x="1725500" y="1228413"/>
                </a:lnTo>
                <a:lnTo>
                  <a:pt x="1724400" y="1231650"/>
                </a:lnTo>
                <a:lnTo>
                  <a:pt x="1723100" y="1234713"/>
                </a:lnTo>
                <a:lnTo>
                  <a:pt x="1721600" y="1237600"/>
                </a:lnTo>
                <a:lnTo>
                  <a:pt x="1719900" y="1240313"/>
                </a:lnTo>
                <a:lnTo>
                  <a:pt x="1718000" y="1242850"/>
                </a:lnTo>
                <a:lnTo>
                  <a:pt x="1715900" y="1245213"/>
                </a:lnTo>
                <a:lnTo>
                  <a:pt x="1713600" y="1247400"/>
                </a:lnTo>
                <a:lnTo>
                  <a:pt x="1711100" y="1249413"/>
                </a:lnTo>
                <a:lnTo>
                  <a:pt x="1708400" y="1251250"/>
                </a:lnTo>
                <a:lnTo>
                  <a:pt x="1705500" y="1252913"/>
                </a:lnTo>
                <a:lnTo>
                  <a:pt x="1702400" y="1254400"/>
                </a:lnTo>
                <a:lnTo>
                  <a:pt x="1699100" y="1255713"/>
                </a:lnTo>
                <a:lnTo>
                  <a:pt x="1695600" y="1256850"/>
                </a:lnTo>
                <a:lnTo>
                  <a:pt x="1691900" y="1257813"/>
                </a:lnTo>
                <a:lnTo>
                  <a:pt x="1688000" y="1258600"/>
                </a:lnTo>
                <a:lnTo>
                  <a:pt x="1683900" y="1259213"/>
                </a:lnTo>
                <a:lnTo>
                  <a:pt x="1679600" y="1259650"/>
                </a:lnTo>
                <a:lnTo>
                  <a:pt x="1675100" y="1259913"/>
                </a:lnTo>
                <a:lnTo>
                  <a:pt x="1670400" y="1260000"/>
                </a:lnTo>
                <a:lnTo>
                  <a:pt x="57600" y="1260000"/>
                </a:lnTo>
                <a:lnTo>
                  <a:pt x="52900" y="1259913"/>
                </a:lnTo>
                <a:lnTo>
                  <a:pt x="48400" y="1259650"/>
                </a:lnTo>
                <a:lnTo>
                  <a:pt x="44100" y="1259213"/>
                </a:lnTo>
                <a:lnTo>
                  <a:pt x="40000" y="1258600"/>
                </a:lnTo>
                <a:lnTo>
                  <a:pt x="36100" y="1257813"/>
                </a:lnTo>
                <a:lnTo>
                  <a:pt x="32400" y="1256850"/>
                </a:lnTo>
                <a:lnTo>
                  <a:pt x="28900" y="1255713"/>
                </a:lnTo>
                <a:lnTo>
                  <a:pt x="25600" y="1254400"/>
                </a:lnTo>
                <a:lnTo>
                  <a:pt x="22500" y="1252913"/>
                </a:lnTo>
                <a:lnTo>
                  <a:pt x="19600" y="1251250"/>
                </a:lnTo>
                <a:lnTo>
                  <a:pt x="16900" y="1249413"/>
                </a:lnTo>
                <a:lnTo>
                  <a:pt x="14400" y="1247400"/>
                </a:lnTo>
                <a:lnTo>
                  <a:pt x="12100" y="1245213"/>
                </a:lnTo>
                <a:lnTo>
                  <a:pt x="10000" y="1242850"/>
                </a:lnTo>
                <a:lnTo>
                  <a:pt x="8100" y="1240313"/>
                </a:lnTo>
                <a:lnTo>
                  <a:pt x="6400" y="1237600"/>
                </a:lnTo>
                <a:lnTo>
                  <a:pt x="4900" y="1234713"/>
                </a:lnTo>
                <a:lnTo>
                  <a:pt x="3600" y="1231650"/>
                </a:lnTo>
                <a:lnTo>
                  <a:pt x="2500" y="1228413"/>
                </a:lnTo>
                <a:lnTo>
                  <a:pt x="1600" y="1225000"/>
                </a:lnTo>
                <a:lnTo>
                  <a:pt x="900" y="1221413"/>
                </a:lnTo>
                <a:lnTo>
                  <a:pt x="400" y="1217650"/>
                </a:lnTo>
                <a:lnTo>
                  <a:pt x="100" y="1213713"/>
                </a:lnTo>
                <a:lnTo>
                  <a:pt x="0" y="1209600"/>
                </a:lnTo>
                <a:lnTo>
                  <a:pt x="0" y="50400"/>
                </a:lnTo>
                <a:lnTo>
                  <a:pt x="100" y="46287"/>
                </a:lnTo>
                <a:lnTo>
                  <a:pt x="400" y="42350"/>
                </a:lnTo>
                <a:lnTo>
                  <a:pt x="900" y="38587"/>
                </a:lnTo>
                <a:lnTo>
                  <a:pt x="1600" y="35000"/>
                </a:lnTo>
                <a:lnTo>
                  <a:pt x="2500" y="31587"/>
                </a:lnTo>
                <a:lnTo>
                  <a:pt x="3600" y="28350"/>
                </a:lnTo>
                <a:lnTo>
                  <a:pt x="4900" y="25287"/>
                </a:lnTo>
                <a:lnTo>
                  <a:pt x="6400" y="22400"/>
                </a:lnTo>
                <a:lnTo>
                  <a:pt x="8100" y="19687"/>
                </a:lnTo>
                <a:lnTo>
                  <a:pt x="10000" y="17150"/>
                </a:lnTo>
                <a:lnTo>
                  <a:pt x="12100" y="14787"/>
                </a:lnTo>
                <a:lnTo>
                  <a:pt x="14400" y="12600"/>
                </a:lnTo>
                <a:lnTo>
                  <a:pt x="16900" y="10587"/>
                </a:lnTo>
                <a:lnTo>
                  <a:pt x="19600" y="8750"/>
                </a:lnTo>
                <a:lnTo>
                  <a:pt x="22500" y="7087"/>
                </a:lnTo>
                <a:lnTo>
                  <a:pt x="25600" y="5600"/>
                </a:lnTo>
                <a:lnTo>
                  <a:pt x="28900" y="4287"/>
                </a:lnTo>
                <a:lnTo>
                  <a:pt x="32400" y="3150"/>
                </a:lnTo>
                <a:lnTo>
                  <a:pt x="36100" y="2187"/>
                </a:lnTo>
                <a:lnTo>
                  <a:pt x="40000" y="1400"/>
                </a:lnTo>
                <a:lnTo>
                  <a:pt x="44100" y="787"/>
                </a:lnTo>
                <a:lnTo>
                  <a:pt x="48400" y="350"/>
                </a:lnTo>
                <a:lnTo>
                  <a:pt x="52900" y="87"/>
                </a:lnTo>
                <a:lnTo>
                  <a:pt x="57600" y="0"/>
                </a:lnTo>
                <a:close/>
              </a:path>
            </a:pathLst>
          </a:custGeom>
          <a:solidFill>
            <a:srgbClr val="FFFFFF"/>
          </a:solidFill>
          <a:ln w="6985">
            <a:solidFill>
              <a:srgbClr val="B5BDA8"/>
            </a:solidFill>
          </a:ln>
        </p:spPr>
      </p:sp>
      <p:sp>
        <p:nvSpPr>
          <p:cNvPr id="480" name="e_edit_box_4"/>
          <p:cNvSpPr>
            <a:spLocks noGrp="1"/>
          </p:cNvSpPr>
          <p:nvPr/>
        </p:nvSpPr>
        <p:spPr>
          <a:xfrm>
            <a:off x="4392930" y="4290695"/>
            <a:ext cx="1871980" cy="847725"/>
          </a:xfrm>
          <a:custGeom>
            <a:avLst/>
            <a:gdLst/>
            <a:ahLst/>
            <a:cxnLst/>
            <a:pathLst>
              <a:path w="1872000" h="972000">
                <a:moveTo>
                  <a:pt x="72000" y="0"/>
                </a:moveTo>
                <a:lnTo>
                  <a:pt x="1800000" y="0"/>
                </a:lnTo>
                <a:lnTo>
                  <a:pt x="1805875" y="169"/>
                </a:lnTo>
                <a:lnTo>
                  <a:pt x="1811500" y="675"/>
                </a:lnTo>
                <a:lnTo>
                  <a:pt x="1816875" y="1519"/>
                </a:lnTo>
                <a:lnTo>
                  <a:pt x="1822000" y="2700"/>
                </a:lnTo>
                <a:lnTo>
                  <a:pt x="1826875" y="4219"/>
                </a:lnTo>
                <a:lnTo>
                  <a:pt x="1831500" y="6075"/>
                </a:lnTo>
                <a:lnTo>
                  <a:pt x="1835875" y="8269"/>
                </a:lnTo>
                <a:lnTo>
                  <a:pt x="1840000" y="10800"/>
                </a:lnTo>
                <a:lnTo>
                  <a:pt x="1843875" y="13669"/>
                </a:lnTo>
                <a:lnTo>
                  <a:pt x="1847500" y="16875"/>
                </a:lnTo>
                <a:lnTo>
                  <a:pt x="1850875" y="20419"/>
                </a:lnTo>
                <a:lnTo>
                  <a:pt x="1854000" y="24300"/>
                </a:lnTo>
                <a:lnTo>
                  <a:pt x="1856875" y="28519"/>
                </a:lnTo>
                <a:lnTo>
                  <a:pt x="1859500" y="33075"/>
                </a:lnTo>
                <a:lnTo>
                  <a:pt x="1861875" y="37969"/>
                </a:lnTo>
                <a:lnTo>
                  <a:pt x="1864000" y="43200"/>
                </a:lnTo>
                <a:lnTo>
                  <a:pt x="1865875" y="48769"/>
                </a:lnTo>
                <a:lnTo>
                  <a:pt x="1867500" y="54675"/>
                </a:lnTo>
                <a:lnTo>
                  <a:pt x="1868875" y="60919"/>
                </a:lnTo>
                <a:lnTo>
                  <a:pt x="1870000" y="67500"/>
                </a:lnTo>
                <a:lnTo>
                  <a:pt x="1870875" y="74419"/>
                </a:lnTo>
                <a:lnTo>
                  <a:pt x="1871500" y="81675"/>
                </a:lnTo>
                <a:lnTo>
                  <a:pt x="1871875" y="89269"/>
                </a:lnTo>
                <a:lnTo>
                  <a:pt x="1872000" y="97200"/>
                </a:lnTo>
                <a:lnTo>
                  <a:pt x="1872000" y="874800"/>
                </a:lnTo>
                <a:lnTo>
                  <a:pt x="1871875" y="882731"/>
                </a:lnTo>
                <a:lnTo>
                  <a:pt x="1871500" y="890325"/>
                </a:lnTo>
                <a:lnTo>
                  <a:pt x="1870875" y="897581"/>
                </a:lnTo>
                <a:lnTo>
                  <a:pt x="1870000" y="904500"/>
                </a:lnTo>
                <a:lnTo>
                  <a:pt x="1868875" y="911081"/>
                </a:lnTo>
                <a:lnTo>
                  <a:pt x="1867500" y="917325"/>
                </a:lnTo>
                <a:lnTo>
                  <a:pt x="1865875" y="923231"/>
                </a:lnTo>
                <a:lnTo>
                  <a:pt x="1864000" y="928800"/>
                </a:lnTo>
                <a:lnTo>
                  <a:pt x="1861875" y="934031"/>
                </a:lnTo>
                <a:lnTo>
                  <a:pt x="1859500" y="938925"/>
                </a:lnTo>
                <a:lnTo>
                  <a:pt x="1856875" y="943481"/>
                </a:lnTo>
                <a:lnTo>
                  <a:pt x="1854000" y="947700"/>
                </a:lnTo>
                <a:lnTo>
                  <a:pt x="1850875" y="951581"/>
                </a:lnTo>
                <a:lnTo>
                  <a:pt x="1847500" y="955125"/>
                </a:lnTo>
                <a:lnTo>
                  <a:pt x="1843875" y="958331"/>
                </a:lnTo>
                <a:lnTo>
                  <a:pt x="1840000" y="961200"/>
                </a:lnTo>
                <a:lnTo>
                  <a:pt x="1835875" y="963731"/>
                </a:lnTo>
                <a:lnTo>
                  <a:pt x="1831500" y="965925"/>
                </a:lnTo>
                <a:lnTo>
                  <a:pt x="1826875" y="967781"/>
                </a:lnTo>
                <a:lnTo>
                  <a:pt x="1822000" y="969300"/>
                </a:lnTo>
                <a:lnTo>
                  <a:pt x="1816875" y="970481"/>
                </a:lnTo>
                <a:lnTo>
                  <a:pt x="1811500" y="971325"/>
                </a:lnTo>
                <a:lnTo>
                  <a:pt x="1805875" y="971831"/>
                </a:lnTo>
                <a:lnTo>
                  <a:pt x="1800000" y="972000"/>
                </a:lnTo>
                <a:lnTo>
                  <a:pt x="72000" y="972000"/>
                </a:lnTo>
                <a:lnTo>
                  <a:pt x="66125" y="971831"/>
                </a:lnTo>
                <a:lnTo>
                  <a:pt x="60500" y="971325"/>
                </a:lnTo>
                <a:lnTo>
                  <a:pt x="55125" y="970481"/>
                </a:lnTo>
                <a:lnTo>
                  <a:pt x="50000" y="969300"/>
                </a:lnTo>
                <a:lnTo>
                  <a:pt x="45125" y="967781"/>
                </a:lnTo>
                <a:lnTo>
                  <a:pt x="40500" y="965925"/>
                </a:lnTo>
                <a:lnTo>
                  <a:pt x="36125" y="963731"/>
                </a:lnTo>
                <a:lnTo>
                  <a:pt x="32000" y="961200"/>
                </a:lnTo>
                <a:lnTo>
                  <a:pt x="28125" y="958331"/>
                </a:lnTo>
                <a:lnTo>
                  <a:pt x="24500" y="955125"/>
                </a:lnTo>
                <a:lnTo>
                  <a:pt x="21125" y="951581"/>
                </a:lnTo>
                <a:lnTo>
                  <a:pt x="18000" y="947700"/>
                </a:lnTo>
                <a:lnTo>
                  <a:pt x="15125" y="943481"/>
                </a:lnTo>
                <a:lnTo>
                  <a:pt x="12500" y="938925"/>
                </a:lnTo>
                <a:lnTo>
                  <a:pt x="10125" y="934031"/>
                </a:lnTo>
                <a:lnTo>
                  <a:pt x="8000" y="928800"/>
                </a:lnTo>
                <a:lnTo>
                  <a:pt x="6125" y="923231"/>
                </a:lnTo>
                <a:lnTo>
                  <a:pt x="4500" y="917325"/>
                </a:lnTo>
                <a:lnTo>
                  <a:pt x="3125" y="911081"/>
                </a:lnTo>
                <a:lnTo>
                  <a:pt x="2000" y="904500"/>
                </a:lnTo>
                <a:lnTo>
                  <a:pt x="1125" y="897581"/>
                </a:lnTo>
                <a:lnTo>
                  <a:pt x="500" y="890325"/>
                </a:lnTo>
                <a:lnTo>
                  <a:pt x="125" y="882731"/>
                </a:lnTo>
                <a:lnTo>
                  <a:pt x="0" y="874800"/>
                </a:lnTo>
                <a:lnTo>
                  <a:pt x="0" y="97200"/>
                </a:lnTo>
                <a:lnTo>
                  <a:pt x="125" y="89269"/>
                </a:lnTo>
                <a:lnTo>
                  <a:pt x="500" y="81675"/>
                </a:lnTo>
                <a:lnTo>
                  <a:pt x="1125" y="74419"/>
                </a:lnTo>
                <a:lnTo>
                  <a:pt x="2000" y="67500"/>
                </a:lnTo>
                <a:lnTo>
                  <a:pt x="3125" y="60919"/>
                </a:lnTo>
                <a:lnTo>
                  <a:pt x="4500" y="54675"/>
                </a:lnTo>
                <a:lnTo>
                  <a:pt x="6125" y="48769"/>
                </a:lnTo>
                <a:lnTo>
                  <a:pt x="8000" y="43200"/>
                </a:lnTo>
                <a:lnTo>
                  <a:pt x="10125" y="37969"/>
                </a:lnTo>
                <a:lnTo>
                  <a:pt x="12500" y="33075"/>
                </a:lnTo>
                <a:lnTo>
                  <a:pt x="15125" y="28519"/>
                </a:lnTo>
                <a:lnTo>
                  <a:pt x="18000" y="24300"/>
                </a:lnTo>
                <a:lnTo>
                  <a:pt x="21125" y="20419"/>
                </a:lnTo>
                <a:lnTo>
                  <a:pt x="24500" y="16875"/>
                </a:lnTo>
                <a:lnTo>
                  <a:pt x="28125" y="13669"/>
                </a:lnTo>
                <a:lnTo>
                  <a:pt x="32000" y="10800"/>
                </a:lnTo>
                <a:lnTo>
                  <a:pt x="36125" y="8269"/>
                </a:lnTo>
                <a:lnTo>
                  <a:pt x="40500" y="6075"/>
                </a:lnTo>
                <a:lnTo>
                  <a:pt x="45125" y="4219"/>
                </a:lnTo>
                <a:lnTo>
                  <a:pt x="50000" y="2700"/>
                </a:lnTo>
                <a:lnTo>
                  <a:pt x="55125" y="1519"/>
                </a:lnTo>
                <a:lnTo>
                  <a:pt x="60500" y="675"/>
                </a:lnTo>
                <a:lnTo>
                  <a:pt x="66125" y="169"/>
                </a:lnTo>
                <a:lnTo>
                  <a:pt x="72000" y="0"/>
                </a:lnTo>
                <a:close/>
              </a:path>
            </a:pathLst>
          </a:custGeom>
          <a:solidFill>
            <a:srgbClr val="E7EAF0"/>
          </a:solidFill>
          <a:ln w="8255">
            <a:solidFill>
              <a:srgbClr val="B5BAC4"/>
            </a:solidFill>
          </a:ln>
        </p:spPr>
      </p:sp>
      <p:sp>
        <p:nvSpPr>
          <p:cNvPr id="174" name="e_edit_text_5"/>
          <p:cNvSpPr>
            <a:spLocks noGrp="1"/>
          </p:cNvSpPr>
          <p:nvPr/>
        </p:nvSpPr>
        <p:spPr>
          <a:xfrm>
            <a:off x="4465125" y="438545"/>
            <a:ext cx="1728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Article-only prompt</a:t>
            </a:r>
            <a:r>
              <a:rPr lang="en-US"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lang="en-US"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5" name="e_edit_text_6"/>
          <p:cNvSpPr>
            <a:spLocks noGrp="1"/>
          </p:cNvSpPr>
          <p:nvPr/>
        </p:nvSpPr>
        <p:spPr>
          <a:xfrm>
            <a:off x="4537125" y="762545"/>
            <a:ext cx="1584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50" b="1">
                <a:solidFill>
                  <a:srgbClr val="64554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64554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Input</a:t>
            </a:r>
            <a:endParaRPr sz="700" b="1">
              <a:solidFill>
                <a:srgbClr val="64554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7" name="e_edit_text_7"/>
          <p:cNvSpPr>
            <a:spLocks noGrp="1"/>
          </p:cNvSpPr>
          <p:nvPr/>
        </p:nvSpPr>
        <p:spPr>
          <a:xfrm>
            <a:off x="4537125" y="906545"/>
            <a:ext cx="1584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[Target title + summary]</a:t>
            </a:r>
            <a:endParaRPr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4" name="e_edit_text_8"/>
          <p:cNvSpPr>
            <a:spLocks noGrp="1"/>
          </p:cNvSpPr>
          <p:nvPr/>
        </p:nvSpPr>
        <p:spPr>
          <a:xfrm>
            <a:off x="4537125" y="1086545"/>
            <a:ext cx="1584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50" b="1">
                <a:solidFill>
                  <a:srgbClr val="64554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64554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Instruction</a:t>
            </a:r>
            <a:endParaRPr sz="700" b="1">
              <a:solidFill>
                <a:srgbClr val="64554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5" name="e_edit_text_9"/>
          <p:cNvSpPr>
            <a:spLocks noGrp="1"/>
          </p:cNvSpPr>
          <p:nvPr/>
        </p:nvSpPr>
        <p:spPr>
          <a:xfrm>
            <a:off x="4537125" y="1230545"/>
            <a:ext cx="1584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How likely is an average</a:t>
            </a:r>
            <a:r>
              <a:rPr lang="en-US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>
                <a:sym typeface="+mn-ea"/>
              </a:rPr>
              <a:t>reader to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 read </a:t>
            </a:r>
            <a:endParaRPr lang="en-US"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228" name="e_edit_text_10"/>
          <p:cNvSpPr>
            <a:spLocks noGrp="1"/>
          </p:cNvSpPr>
          <p:nvPr/>
        </p:nvSpPr>
        <p:spPr>
          <a:xfrm>
            <a:off x="4537125" y="1374545"/>
            <a:ext cx="1584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full</a:t>
            </a:r>
            <a:r>
              <a:rPr lang="en-US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>
                <a:sym typeface="+mn-ea"/>
              </a:rPr>
              <a:t>article?</a:t>
            </a:r>
            <a:endParaRPr lang="en-US"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7" name="e_edit_text_11"/>
          <p:cNvSpPr>
            <a:spLocks noGrp="1"/>
          </p:cNvSpPr>
          <p:nvPr/>
        </p:nvSpPr>
        <p:spPr>
          <a:xfrm>
            <a:off x="4537125" y="1518545"/>
            <a:ext cx="1584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Rating: 1–4.</a:t>
            </a:r>
            <a:endParaRPr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8" name="e_edit_text_12"/>
          <p:cNvSpPr>
            <a:spLocks noGrp="1"/>
          </p:cNvSpPr>
          <p:nvPr/>
        </p:nvSpPr>
        <p:spPr>
          <a:xfrm>
            <a:off x="4537125" y="1806545"/>
            <a:ext cx="1656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Output: General reading intention</a:t>
            </a:r>
            <a:endParaRPr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9" name="e_edit_text_13"/>
          <p:cNvSpPr>
            <a:spLocks noGrp="1"/>
          </p:cNvSpPr>
          <p:nvPr/>
        </p:nvSpPr>
        <p:spPr>
          <a:xfrm>
            <a:off x="4465125" y="2130545"/>
            <a:ext cx="1728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Personalized prompt</a:t>
            </a:r>
            <a:r>
              <a:rPr lang="en-US"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lang="en-US"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0" name="e_edit_text_14"/>
          <p:cNvSpPr>
            <a:spLocks noGrp="1"/>
          </p:cNvSpPr>
          <p:nvPr/>
        </p:nvSpPr>
        <p:spPr>
          <a:xfrm>
            <a:off x="4537125" y="2454545"/>
            <a:ext cx="1584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50" b="1">
                <a:solidFill>
                  <a:srgbClr val="52604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52604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Input</a:t>
            </a:r>
            <a:endParaRPr sz="700" b="1">
              <a:solidFill>
                <a:srgbClr val="52604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1" name="e_edit_text_15"/>
          <p:cNvSpPr>
            <a:spLocks noGrp="1"/>
          </p:cNvSpPr>
          <p:nvPr/>
        </p:nvSpPr>
        <p:spPr>
          <a:xfrm>
            <a:off x="4537125" y="2598545"/>
            <a:ext cx="1584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1">
                <a:solidFill>
                  <a:srgbClr val="52604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</a:t>
            </a:r>
            <a:r>
              <a:rPr lang="en-US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ews history]</a:t>
            </a:r>
            <a:endParaRPr b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2" name="e_edit_text_16"/>
          <p:cNvSpPr>
            <a:spLocks noGrp="1"/>
          </p:cNvSpPr>
          <p:nvPr/>
        </p:nvSpPr>
        <p:spPr>
          <a:xfrm>
            <a:off x="4537125" y="2742545"/>
            <a:ext cx="1584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News 1: r1; News 2: r2; …</a:t>
            </a:r>
            <a:endParaRPr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3" name="e_edit_text_17"/>
          <p:cNvSpPr>
            <a:spLocks noGrp="1"/>
          </p:cNvSpPr>
          <p:nvPr/>
        </p:nvSpPr>
        <p:spPr>
          <a:xfrm>
            <a:off x="4537125" y="2886545"/>
            <a:ext cx="1584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[Target title + summary]</a:t>
            </a:r>
            <a:endParaRPr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4" name="e_edit_text_18"/>
          <p:cNvSpPr>
            <a:spLocks noGrp="1"/>
          </p:cNvSpPr>
          <p:nvPr/>
        </p:nvSpPr>
        <p:spPr>
          <a:xfrm>
            <a:off x="4537125" y="3066545"/>
            <a:ext cx="1584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50" b="1">
                <a:solidFill>
                  <a:srgbClr val="52604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52604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Instruction</a:t>
            </a:r>
            <a:endParaRPr sz="700" b="1">
              <a:solidFill>
                <a:srgbClr val="52604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5" name="e_edit_text_19"/>
          <p:cNvSpPr>
            <a:spLocks noGrp="1"/>
          </p:cNvSpPr>
          <p:nvPr/>
        </p:nvSpPr>
        <p:spPr>
          <a:xfrm>
            <a:off x="4537760" y="3210545"/>
            <a:ext cx="1584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Given this participant’s</a:t>
            </a:r>
            <a:r>
              <a:rPr lang="en-US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>
                <a:sym typeface="+mn-ea"/>
              </a:rPr>
              <a:t>history, predict </a:t>
            </a:r>
            <a:endParaRPr lang="en-US"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6" name="e_edit_text_20"/>
          <p:cNvSpPr>
            <a:spLocks noGrp="1"/>
          </p:cNvSpPr>
          <p:nvPr/>
        </p:nvSpPr>
        <p:spPr>
          <a:xfrm>
            <a:off x="4537125" y="3354545"/>
            <a:ext cx="1584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7" name="e_edit_text_21"/>
          <p:cNvSpPr>
            <a:spLocks noGrp="1"/>
          </p:cNvSpPr>
          <p:nvPr/>
        </p:nvSpPr>
        <p:spPr>
          <a:xfrm>
            <a:off x="4537760" y="3461715"/>
            <a:ext cx="1584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>
                <a:sym typeface="+mn-ea"/>
              </a:rPr>
              <a:t>Rating: 1–4.</a:t>
            </a:r>
            <a:endParaRPr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498" name="e_edit_text_22"/>
          <p:cNvSpPr>
            <a:spLocks noGrp="1"/>
          </p:cNvSpPr>
          <p:nvPr/>
        </p:nvSpPr>
        <p:spPr>
          <a:xfrm>
            <a:off x="4500930" y="3743365"/>
            <a:ext cx="1656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Output: Individual reading intention</a:t>
            </a:r>
            <a:endParaRPr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9" name="e_edit_text_23"/>
          <p:cNvSpPr>
            <a:spLocks noGrp="1"/>
          </p:cNvSpPr>
          <p:nvPr/>
        </p:nvSpPr>
        <p:spPr>
          <a:xfrm>
            <a:off x="4465125" y="4092790"/>
            <a:ext cx="1728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History-score shuffle</a:t>
            </a:r>
            <a:endParaRPr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0" name="e_edit_text_24"/>
          <p:cNvSpPr>
            <a:spLocks noGrp="1"/>
          </p:cNvSpPr>
          <p:nvPr/>
        </p:nvSpPr>
        <p:spPr>
          <a:xfrm>
            <a:off x="4465370" y="4355590"/>
            <a:ext cx="1584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50" b="0">
                <a:solidFill>
                  <a:srgbClr val="55555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0">
                <a:solidFill>
                  <a:srgbClr val="5555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Personalized history</a:t>
            </a:r>
            <a:r>
              <a:rPr lang="en-US" b="0">
                <a:solidFill>
                  <a:srgbClr val="5555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zh-CN" altLang="en-US" b="0">
                <a:solidFill>
                  <a:srgbClr val="5555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＆</a:t>
            </a:r>
            <a:r>
              <a:rPr lang="en-US" altLang="zh-CN" b="0">
                <a:solidFill>
                  <a:srgbClr val="55555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>
                <a:sym typeface="+mn-ea"/>
              </a:rPr>
              <a:t>shuffled rating</a:t>
            </a:r>
            <a:r>
              <a:rPr lang="en-US">
                <a:sym typeface="+mn-ea"/>
              </a:rPr>
              <a:t> intention</a:t>
            </a:r>
            <a:endParaRPr lang="en-US">
              <a:sym typeface="+mn-ea"/>
            </a:endParaRPr>
          </a:p>
        </p:txBody>
      </p:sp>
      <p:sp>
        <p:nvSpPr>
          <p:cNvPr id="501" name="e_edit_text_25"/>
          <p:cNvSpPr>
            <a:spLocks noGrp="1"/>
          </p:cNvSpPr>
          <p:nvPr/>
        </p:nvSpPr>
        <p:spPr>
          <a:xfrm>
            <a:off x="4501125" y="4506790"/>
            <a:ext cx="540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5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History item</a:t>
            </a:r>
            <a:endParaRPr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2" name="e_edit_text_26"/>
          <p:cNvSpPr>
            <a:spLocks noGrp="1"/>
          </p:cNvSpPr>
          <p:nvPr/>
        </p:nvSpPr>
        <p:spPr>
          <a:xfrm>
            <a:off x="5149125" y="4506790"/>
            <a:ext cx="468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5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Original</a:t>
            </a:r>
            <a:endParaRPr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3" name="e_edit_text_27"/>
          <p:cNvSpPr>
            <a:spLocks noGrp="1"/>
          </p:cNvSpPr>
          <p:nvPr/>
        </p:nvSpPr>
        <p:spPr>
          <a:xfrm>
            <a:off x="5725125" y="4506790"/>
            <a:ext cx="468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5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Shuffled</a:t>
            </a:r>
            <a:endParaRPr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9" name="e_edit_text_28"/>
          <p:cNvSpPr>
            <a:spLocks noGrp="1"/>
          </p:cNvSpPr>
          <p:nvPr/>
        </p:nvSpPr>
        <p:spPr>
          <a:xfrm>
            <a:off x="4501125" y="4668790"/>
            <a:ext cx="540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N₁</a:t>
            </a:r>
            <a:endParaRPr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5" name="e_edit_text_29"/>
          <p:cNvSpPr>
            <a:spLocks noGrp="1"/>
          </p:cNvSpPr>
          <p:nvPr/>
        </p:nvSpPr>
        <p:spPr>
          <a:xfrm>
            <a:off x="5149125" y="4644660"/>
            <a:ext cx="360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r₁</a:t>
            </a:r>
            <a:endParaRPr sz="10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6" name="e_edit_text_30"/>
          <p:cNvSpPr>
            <a:spLocks noGrp="1"/>
          </p:cNvSpPr>
          <p:nvPr/>
        </p:nvSpPr>
        <p:spPr>
          <a:xfrm>
            <a:off x="5725125" y="4644660"/>
            <a:ext cx="360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00" b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r₂</a:t>
            </a:r>
            <a:endParaRPr sz="1000" b="1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7" name="e_edit_text_31"/>
          <p:cNvSpPr>
            <a:spLocks noGrp="1"/>
          </p:cNvSpPr>
          <p:nvPr/>
        </p:nvSpPr>
        <p:spPr>
          <a:xfrm>
            <a:off x="4501125" y="4812790"/>
            <a:ext cx="540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N₂</a:t>
            </a:r>
            <a:endParaRPr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8" name="e_edit_text_32"/>
          <p:cNvSpPr>
            <a:spLocks noGrp="1"/>
          </p:cNvSpPr>
          <p:nvPr/>
        </p:nvSpPr>
        <p:spPr>
          <a:xfrm>
            <a:off x="5149125" y="4788660"/>
            <a:ext cx="360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00" b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r₂</a:t>
            </a:r>
            <a:endParaRPr sz="1000" b="1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9" name="e_edit_text_33"/>
          <p:cNvSpPr>
            <a:spLocks noGrp="1"/>
          </p:cNvSpPr>
          <p:nvPr/>
        </p:nvSpPr>
        <p:spPr>
          <a:xfrm>
            <a:off x="5725125" y="4788660"/>
            <a:ext cx="360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00" b="1">
                <a:solidFill>
                  <a:schemeClr val="accent2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r₃</a:t>
            </a:r>
            <a:endParaRPr sz="1000" b="1">
              <a:solidFill>
                <a:schemeClr val="accent2">
                  <a:lumMod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0" name="e_edit_text_34"/>
          <p:cNvSpPr>
            <a:spLocks noGrp="1"/>
          </p:cNvSpPr>
          <p:nvPr/>
        </p:nvSpPr>
        <p:spPr>
          <a:xfrm>
            <a:off x="4501125" y="4956790"/>
            <a:ext cx="540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N₃</a:t>
            </a:r>
            <a:endParaRPr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1" name="e_edit_text_35"/>
          <p:cNvSpPr>
            <a:spLocks noGrp="1"/>
          </p:cNvSpPr>
          <p:nvPr/>
        </p:nvSpPr>
        <p:spPr>
          <a:xfrm>
            <a:off x="5149125" y="4932660"/>
            <a:ext cx="360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00" b="1">
                <a:solidFill>
                  <a:schemeClr val="accent2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r₃</a:t>
            </a:r>
            <a:endParaRPr sz="1000" b="1">
              <a:solidFill>
                <a:schemeClr val="accent2">
                  <a:lumMod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2" name="e_edit_text_36"/>
          <p:cNvSpPr>
            <a:spLocks noGrp="1"/>
          </p:cNvSpPr>
          <p:nvPr/>
        </p:nvSpPr>
        <p:spPr>
          <a:xfrm>
            <a:off x="5725125" y="4932660"/>
            <a:ext cx="360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r₁</a:t>
            </a:r>
            <a:endParaRPr sz="10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0" name="e_edit_text_21"/>
          <p:cNvSpPr>
            <a:spLocks noGrp="1"/>
          </p:cNvSpPr>
          <p:nvPr/>
        </p:nvSpPr>
        <p:spPr>
          <a:xfrm>
            <a:off x="4537760" y="3335985"/>
            <a:ext cx="1584000" cy="12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>
                <a:sym typeface="+mn-ea"/>
              </a:rPr>
              <a:t>their</a:t>
            </a:r>
            <a:r>
              <a:rPr lang="en-US">
                <a:sym typeface="+mn-ea"/>
              </a:rPr>
              <a:t> </a:t>
            </a:r>
            <a:r>
              <a:rPr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reading intention.</a:t>
            </a:r>
            <a:endParaRPr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255" name="组合 254"/>
          <p:cNvGrpSpPr/>
          <p:nvPr/>
        </p:nvGrpSpPr>
        <p:grpSpPr>
          <a:xfrm>
            <a:off x="3297022" y="3623945"/>
            <a:ext cx="396875" cy="316230"/>
            <a:chOff x="5199" y="5707"/>
            <a:chExt cx="625" cy="498"/>
          </a:xfrm>
        </p:grpSpPr>
        <p:pic>
          <p:nvPicPr>
            <p:cNvPr id="251" name="图片 25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9" y="5724"/>
              <a:ext cx="555" cy="466"/>
            </a:xfrm>
            <a:prstGeom prst="rect">
              <a:avLst/>
            </a:prstGeom>
          </p:spPr>
        </p:pic>
        <p:pic>
          <p:nvPicPr>
            <p:cNvPr id="302" name="图片 301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298" y="5707"/>
              <a:ext cx="527" cy="499"/>
            </a:xfrm>
            <a:prstGeom prst="rect">
              <a:avLst/>
            </a:prstGeom>
          </p:spPr>
        </p:pic>
      </p:grpSp>
      <p:sp>
        <p:nvSpPr>
          <p:cNvPr id="269" name="b_text_11"/>
          <p:cNvSpPr>
            <a:spLocks noGrp="1"/>
          </p:cNvSpPr>
          <p:nvPr/>
        </p:nvSpPr>
        <p:spPr>
          <a:xfrm>
            <a:off x="2637155" y="1356995"/>
            <a:ext cx="739140" cy="1162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6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68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Title + summary</a:t>
            </a:r>
            <a:endParaRPr lang="en-US" altLang="zh-CN" sz="68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1711325" y="3414395"/>
            <a:ext cx="1057910" cy="141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sz="700" b="1">
                <a:solidFill>
                  <a:srgbClr val="4444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S</a:t>
            </a:r>
            <a:r>
              <a:rPr sz="700" b="1">
                <a:solidFill>
                  <a:srgbClr val="4444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ix model families</a:t>
            </a:r>
            <a:endParaRPr lang="zh-CN" altLang="en-US" sz="700" b="1">
              <a:solidFill>
                <a:srgbClr val="444444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1711325" y="4005580"/>
            <a:ext cx="1057910" cy="141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sz="700" b="1">
                <a:solidFill>
                  <a:srgbClr val="4444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S</a:t>
            </a:r>
            <a:r>
              <a:rPr sz="700" b="1">
                <a:solidFill>
                  <a:srgbClr val="4444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ix model families</a:t>
            </a:r>
            <a:endParaRPr lang="zh-CN" altLang="en-US" sz="700" b="1">
              <a:solidFill>
                <a:srgbClr val="444444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1001" name="rsa_v4_1"/>
          <p:cNvSpPr>
            <a:spLocks noGrp="1"/>
          </p:cNvSpPr>
          <p:nvPr/>
        </p:nvSpPr>
        <p:spPr>
          <a:xfrm>
            <a:off x="335585" y="5407762"/>
            <a:ext cx="1865376" cy="14630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Behavior–model–brain RSA</a:t>
            </a:r>
            <a:endParaRPr sz="8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02" name="rsa_v4_2"/>
          <p:cNvSpPr>
            <a:spLocks noGrp="1"/>
          </p:cNvSpPr>
          <p:nvPr/>
        </p:nvSpPr>
        <p:spPr>
          <a:xfrm>
            <a:off x="758952" y="5632704"/>
            <a:ext cx="731520" cy="14630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Behavior</a:t>
            </a:r>
            <a:endParaRPr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04" name="rsa_v4_4"/>
          <p:cNvSpPr>
            <a:spLocks noGrp="1"/>
          </p:cNvSpPr>
          <p:nvPr/>
        </p:nvSpPr>
        <p:spPr>
          <a:xfrm>
            <a:off x="969264" y="5827522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05" name="rsa_v4_5"/>
          <p:cNvSpPr>
            <a:spLocks noGrp="1"/>
          </p:cNvSpPr>
          <p:nvPr/>
        </p:nvSpPr>
        <p:spPr>
          <a:xfrm>
            <a:off x="1031443" y="5827522"/>
            <a:ext cx="62179" cy="62179"/>
          </a:xfrm>
          <a:prstGeom prst="rect">
            <a:avLst/>
          </a:prstGeom>
          <a:solidFill>
            <a:srgbClr val="C09E86"/>
          </a:solidFill>
          <a:ln w="6191">
            <a:solidFill>
              <a:srgbClr val="FFFFFF"/>
            </a:solidFill>
          </a:ln>
        </p:spPr>
      </p:sp>
      <p:sp>
        <p:nvSpPr>
          <p:cNvPr id="1006" name="rsa_v4_6"/>
          <p:cNvSpPr>
            <a:spLocks noGrp="1"/>
          </p:cNvSpPr>
          <p:nvPr/>
        </p:nvSpPr>
        <p:spPr>
          <a:xfrm>
            <a:off x="1093622" y="5827522"/>
            <a:ext cx="62179" cy="62179"/>
          </a:xfrm>
          <a:prstGeom prst="rect">
            <a:avLst/>
          </a:prstGeom>
          <a:solidFill>
            <a:srgbClr val="DDCCC0"/>
          </a:solidFill>
          <a:ln w="6191">
            <a:solidFill>
              <a:srgbClr val="FFFFFF"/>
            </a:solidFill>
          </a:ln>
        </p:spPr>
      </p:sp>
      <p:sp>
        <p:nvSpPr>
          <p:cNvPr id="1007" name="rsa_v4_7"/>
          <p:cNvSpPr>
            <a:spLocks noGrp="1"/>
          </p:cNvSpPr>
          <p:nvPr/>
        </p:nvSpPr>
        <p:spPr>
          <a:xfrm>
            <a:off x="1155802" y="5827522"/>
            <a:ext cx="62179" cy="62179"/>
          </a:xfrm>
          <a:prstGeom prst="rect">
            <a:avLst/>
          </a:prstGeom>
          <a:solidFill>
            <a:srgbClr val="A26F4A"/>
          </a:solidFill>
          <a:ln w="6191">
            <a:solidFill>
              <a:srgbClr val="FFFFFF"/>
            </a:solidFill>
          </a:ln>
        </p:spPr>
      </p:sp>
      <p:sp>
        <p:nvSpPr>
          <p:cNvPr id="1008" name="rsa_v4_8"/>
          <p:cNvSpPr>
            <a:spLocks noGrp="1"/>
          </p:cNvSpPr>
          <p:nvPr/>
        </p:nvSpPr>
        <p:spPr>
          <a:xfrm>
            <a:off x="1217981" y="5827522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09" name="rsa_v4_9"/>
          <p:cNvSpPr>
            <a:spLocks noGrp="1"/>
          </p:cNvSpPr>
          <p:nvPr/>
        </p:nvSpPr>
        <p:spPr>
          <a:xfrm>
            <a:off x="969264" y="5889701"/>
            <a:ext cx="62179" cy="62179"/>
          </a:xfrm>
          <a:prstGeom prst="rect">
            <a:avLst/>
          </a:prstGeom>
          <a:solidFill>
            <a:srgbClr val="C09E86"/>
          </a:solidFill>
          <a:ln w="6191">
            <a:solidFill>
              <a:srgbClr val="FFFFFF"/>
            </a:solidFill>
          </a:ln>
        </p:spPr>
      </p:sp>
      <p:sp>
        <p:nvSpPr>
          <p:cNvPr id="1010" name="rsa_v4_10"/>
          <p:cNvSpPr>
            <a:spLocks noGrp="1"/>
          </p:cNvSpPr>
          <p:nvPr/>
        </p:nvSpPr>
        <p:spPr>
          <a:xfrm>
            <a:off x="1031443" y="5889701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11" name="rsa_v4_11"/>
          <p:cNvSpPr>
            <a:spLocks noGrp="1"/>
          </p:cNvSpPr>
          <p:nvPr/>
        </p:nvSpPr>
        <p:spPr>
          <a:xfrm>
            <a:off x="1093622" y="5889701"/>
            <a:ext cx="62179" cy="62179"/>
          </a:xfrm>
          <a:prstGeom prst="rect">
            <a:avLst/>
          </a:prstGeom>
          <a:solidFill>
            <a:srgbClr val="DDCCC0"/>
          </a:solidFill>
          <a:ln w="6191">
            <a:solidFill>
              <a:srgbClr val="FFFFFF"/>
            </a:solidFill>
          </a:ln>
        </p:spPr>
      </p:sp>
      <p:sp>
        <p:nvSpPr>
          <p:cNvPr id="1012" name="rsa_v4_12"/>
          <p:cNvSpPr>
            <a:spLocks noGrp="1"/>
          </p:cNvSpPr>
          <p:nvPr/>
        </p:nvSpPr>
        <p:spPr>
          <a:xfrm>
            <a:off x="1155802" y="5889701"/>
            <a:ext cx="62179" cy="62179"/>
          </a:xfrm>
          <a:prstGeom prst="rect">
            <a:avLst/>
          </a:prstGeom>
          <a:solidFill>
            <a:srgbClr val="DCCBBE"/>
          </a:solidFill>
          <a:ln w="6191">
            <a:solidFill>
              <a:srgbClr val="FFFFFF"/>
            </a:solidFill>
          </a:ln>
        </p:spPr>
      </p:sp>
      <p:sp>
        <p:nvSpPr>
          <p:cNvPr id="1013" name="rsa_v4_13"/>
          <p:cNvSpPr>
            <a:spLocks noGrp="1"/>
          </p:cNvSpPr>
          <p:nvPr/>
        </p:nvSpPr>
        <p:spPr>
          <a:xfrm>
            <a:off x="1217981" y="5889701"/>
            <a:ext cx="62179" cy="62179"/>
          </a:xfrm>
          <a:prstGeom prst="rect">
            <a:avLst/>
          </a:prstGeom>
          <a:solidFill>
            <a:srgbClr val="C09E86"/>
          </a:solidFill>
          <a:ln w="6191">
            <a:solidFill>
              <a:srgbClr val="FFFFFF"/>
            </a:solidFill>
          </a:ln>
        </p:spPr>
      </p:sp>
      <p:sp>
        <p:nvSpPr>
          <p:cNvPr id="1014" name="rsa_v4_14"/>
          <p:cNvSpPr>
            <a:spLocks noGrp="1"/>
          </p:cNvSpPr>
          <p:nvPr/>
        </p:nvSpPr>
        <p:spPr>
          <a:xfrm>
            <a:off x="969264" y="5951880"/>
            <a:ext cx="62179" cy="62179"/>
          </a:xfrm>
          <a:prstGeom prst="rect">
            <a:avLst/>
          </a:prstGeom>
          <a:solidFill>
            <a:srgbClr val="DDCCC0"/>
          </a:solidFill>
          <a:ln w="6191">
            <a:solidFill>
              <a:srgbClr val="FFFFFF"/>
            </a:solidFill>
          </a:ln>
        </p:spPr>
      </p:sp>
      <p:sp>
        <p:nvSpPr>
          <p:cNvPr id="1015" name="rsa_v4_15"/>
          <p:cNvSpPr>
            <a:spLocks noGrp="1"/>
          </p:cNvSpPr>
          <p:nvPr/>
        </p:nvSpPr>
        <p:spPr>
          <a:xfrm>
            <a:off x="1031443" y="5951880"/>
            <a:ext cx="62179" cy="62179"/>
          </a:xfrm>
          <a:prstGeom prst="rect">
            <a:avLst/>
          </a:prstGeom>
          <a:solidFill>
            <a:srgbClr val="DDCCC0"/>
          </a:solidFill>
          <a:ln w="6191">
            <a:solidFill>
              <a:srgbClr val="FFFFFF"/>
            </a:solidFill>
          </a:ln>
        </p:spPr>
      </p:sp>
      <p:sp>
        <p:nvSpPr>
          <p:cNvPr id="1016" name="rsa_v4_16"/>
          <p:cNvSpPr>
            <a:spLocks noGrp="1"/>
          </p:cNvSpPr>
          <p:nvPr/>
        </p:nvSpPr>
        <p:spPr>
          <a:xfrm>
            <a:off x="1093622" y="5951880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17" name="rsa_v4_17"/>
          <p:cNvSpPr>
            <a:spLocks noGrp="1"/>
          </p:cNvSpPr>
          <p:nvPr/>
        </p:nvSpPr>
        <p:spPr>
          <a:xfrm>
            <a:off x="1155802" y="5951880"/>
            <a:ext cx="62179" cy="62179"/>
          </a:xfrm>
          <a:prstGeom prst="rect">
            <a:avLst/>
          </a:prstGeom>
          <a:solidFill>
            <a:srgbClr val="BF9D84"/>
          </a:solidFill>
          <a:ln w="6191">
            <a:solidFill>
              <a:srgbClr val="FFFFFF"/>
            </a:solidFill>
          </a:ln>
        </p:spPr>
      </p:sp>
      <p:sp>
        <p:nvSpPr>
          <p:cNvPr id="1018" name="rsa_v4_18"/>
          <p:cNvSpPr>
            <a:spLocks noGrp="1"/>
          </p:cNvSpPr>
          <p:nvPr/>
        </p:nvSpPr>
        <p:spPr>
          <a:xfrm>
            <a:off x="1217981" y="5951880"/>
            <a:ext cx="62179" cy="62179"/>
          </a:xfrm>
          <a:prstGeom prst="rect">
            <a:avLst/>
          </a:prstGeom>
          <a:solidFill>
            <a:srgbClr val="DDCCC0"/>
          </a:solidFill>
          <a:ln w="6191">
            <a:solidFill>
              <a:srgbClr val="FFFFFF"/>
            </a:solidFill>
          </a:ln>
        </p:spPr>
      </p:sp>
      <p:sp>
        <p:nvSpPr>
          <p:cNvPr id="1019" name="rsa_v4_19"/>
          <p:cNvSpPr>
            <a:spLocks noGrp="1"/>
          </p:cNvSpPr>
          <p:nvPr/>
        </p:nvSpPr>
        <p:spPr>
          <a:xfrm>
            <a:off x="969264" y="6014060"/>
            <a:ext cx="62179" cy="62179"/>
          </a:xfrm>
          <a:prstGeom prst="rect">
            <a:avLst/>
          </a:prstGeom>
          <a:solidFill>
            <a:srgbClr val="A26F4A"/>
          </a:solidFill>
          <a:ln w="6191">
            <a:solidFill>
              <a:srgbClr val="FFFFFF"/>
            </a:solidFill>
          </a:ln>
        </p:spPr>
      </p:sp>
      <p:sp>
        <p:nvSpPr>
          <p:cNvPr id="1020" name="rsa_v4_20"/>
          <p:cNvSpPr>
            <a:spLocks noGrp="1"/>
          </p:cNvSpPr>
          <p:nvPr/>
        </p:nvSpPr>
        <p:spPr>
          <a:xfrm>
            <a:off x="1031443" y="6014060"/>
            <a:ext cx="62179" cy="62179"/>
          </a:xfrm>
          <a:prstGeom prst="rect">
            <a:avLst/>
          </a:prstGeom>
          <a:solidFill>
            <a:srgbClr val="DCCBBE"/>
          </a:solidFill>
          <a:ln w="6191">
            <a:solidFill>
              <a:srgbClr val="FFFFFF"/>
            </a:solidFill>
          </a:ln>
        </p:spPr>
      </p:sp>
      <p:sp>
        <p:nvSpPr>
          <p:cNvPr id="1021" name="rsa_v4_21"/>
          <p:cNvSpPr>
            <a:spLocks noGrp="1"/>
          </p:cNvSpPr>
          <p:nvPr/>
        </p:nvSpPr>
        <p:spPr>
          <a:xfrm>
            <a:off x="1093622" y="6014060"/>
            <a:ext cx="62179" cy="62179"/>
          </a:xfrm>
          <a:prstGeom prst="rect">
            <a:avLst/>
          </a:prstGeom>
          <a:solidFill>
            <a:srgbClr val="BF9D84"/>
          </a:solidFill>
          <a:ln w="6191">
            <a:solidFill>
              <a:srgbClr val="FFFFFF"/>
            </a:solidFill>
          </a:ln>
        </p:spPr>
      </p:sp>
      <p:sp>
        <p:nvSpPr>
          <p:cNvPr id="1022" name="rsa_v4_22"/>
          <p:cNvSpPr>
            <a:spLocks noGrp="1"/>
          </p:cNvSpPr>
          <p:nvPr/>
        </p:nvSpPr>
        <p:spPr>
          <a:xfrm>
            <a:off x="1155802" y="6014060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23" name="rsa_v4_23"/>
          <p:cNvSpPr>
            <a:spLocks noGrp="1"/>
          </p:cNvSpPr>
          <p:nvPr/>
        </p:nvSpPr>
        <p:spPr>
          <a:xfrm>
            <a:off x="1217981" y="6014060"/>
            <a:ext cx="62179" cy="62179"/>
          </a:xfrm>
          <a:prstGeom prst="rect">
            <a:avLst/>
          </a:prstGeom>
          <a:solidFill>
            <a:srgbClr val="A26F4A"/>
          </a:solidFill>
          <a:ln w="6191">
            <a:solidFill>
              <a:srgbClr val="FFFFFF"/>
            </a:solidFill>
          </a:ln>
        </p:spPr>
      </p:sp>
      <p:sp>
        <p:nvSpPr>
          <p:cNvPr id="1024" name="rsa_v4_24"/>
          <p:cNvSpPr>
            <a:spLocks noGrp="1"/>
          </p:cNvSpPr>
          <p:nvPr/>
        </p:nvSpPr>
        <p:spPr>
          <a:xfrm>
            <a:off x="969264" y="6076239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25" name="rsa_v4_25"/>
          <p:cNvSpPr>
            <a:spLocks noGrp="1"/>
          </p:cNvSpPr>
          <p:nvPr/>
        </p:nvSpPr>
        <p:spPr>
          <a:xfrm>
            <a:off x="1031443" y="6076239"/>
            <a:ext cx="62179" cy="62179"/>
          </a:xfrm>
          <a:prstGeom prst="rect">
            <a:avLst/>
          </a:prstGeom>
          <a:solidFill>
            <a:srgbClr val="C09E86"/>
          </a:solidFill>
          <a:ln w="6191">
            <a:solidFill>
              <a:srgbClr val="FFFFFF"/>
            </a:solidFill>
          </a:ln>
        </p:spPr>
      </p:sp>
      <p:sp>
        <p:nvSpPr>
          <p:cNvPr id="1026" name="rsa_v4_26"/>
          <p:cNvSpPr>
            <a:spLocks noGrp="1"/>
          </p:cNvSpPr>
          <p:nvPr/>
        </p:nvSpPr>
        <p:spPr>
          <a:xfrm>
            <a:off x="1093622" y="6076239"/>
            <a:ext cx="62179" cy="62179"/>
          </a:xfrm>
          <a:prstGeom prst="rect">
            <a:avLst/>
          </a:prstGeom>
          <a:solidFill>
            <a:srgbClr val="DDCCC0"/>
          </a:solidFill>
          <a:ln w="6191">
            <a:solidFill>
              <a:srgbClr val="FFFFFF"/>
            </a:solidFill>
          </a:ln>
        </p:spPr>
      </p:sp>
      <p:sp>
        <p:nvSpPr>
          <p:cNvPr id="1027" name="rsa_v4_27"/>
          <p:cNvSpPr>
            <a:spLocks noGrp="1"/>
          </p:cNvSpPr>
          <p:nvPr/>
        </p:nvSpPr>
        <p:spPr>
          <a:xfrm>
            <a:off x="1155802" y="6076239"/>
            <a:ext cx="62179" cy="62179"/>
          </a:xfrm>
          <a:prstGeom prst="rect">
            <a:avLst/>
          </a:prstGeom>
          <a:solidFill>
            <a:srgbClr val="A26F4A"/>
          </a:solidFill>
          <a:ln w="6191">
            <a:solidFill>
              <a:srgbClr val="FFFFFF"/>
            </a:solidFill>
          </a:ln>
        </p:spPr>
      </p:sp>
      <p:sp>
        <p:nvSpPr>
          <p:cNvPr id="1028" name="rsa_v4_28"/>
          <p:cNvSpPr>
            <a:spLocks noGrp="1"/>
          </p:cNvSpPr>
          <p:nvPr/>
        </p:nvSpPr>
        <p:spPr>
          <a:xfrm>
            <a:off x="1217981" y="6076239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29" name="rsa_v4_29"/>
          <p:cNvSpPr>
            <a:spLocks noGrp="1"/>
          </p:cNvSpPr>
          <p:nvPr/>
        </p:nvSpPr>
        <p:spPr>
          <a:xfrm>
            <a:off x="438912" y="6348730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30" name="rsa_v4_30"/>
          <p:cNvSpPr>
            <a:spLocks noGrp="1"/>
          </p:cNvSpPr>
          <p:nvPr/>
        </p:nvSpPr>
        <p:spPr>
          <a:xfrm>
            <a:off x="501091" y="6348730"/>
            <a:ext cx="62179" cy="62179"/>
          </a:xfrm>
          <a:prstGeom prst="rect">
            <a:avLst/>
          </a:prstGeom>
          <a:solidFill>
            <a:srgbClr val="E1E7EB"/>
          </a:solidFill>
          <a:ln w="6191">
            <a:solidFill>
              <a:srgbClr val="FFFFFF"/>
            </a:solidFill>
          </a:ln>
        </p:spPr>
      </p:sp>
      <p:sp>
        <p:nvSpPr>
          <p:cNvPr id="1031" name="rsa_v4_31"/>
          <p:cNvSpPr>
            <a:spLocks noGrp="1"/>
          </p:cNvSpPr>
          <p:nvPr/>
        </p:nvSpPr>
        <p:spPr>
          <a:xfrm>
            <a:off x="563270" y="6348730"/>
            <a:ext cx="62179" cy="62179"/>
          </a:xfrm>
          <a:prstGeom prst="rect">
            <a:avLst/>
          </a:prstGeom>
          <a:solidFill>
            <a:srgbClr val="AFC0CD"/>
          </a:solidFill>
          <a:ln w="6191">
            <a:solidFill>
              <a:srgbClr val="FFFFFF"/>
            </a:solidFill>
          </a:ln>
        </p:spPr>
      </p:sp>
      <p:sp>
        <p:nvSpPr>
          <p:cNvPr id="1032" name="rsa_v4_32"/>
          <p:cNvSpPr>
            <a:spLocks noGrp="1"/>
          </p:cNvSpPr>
          <p:nvPr/>
        </p:nvSpPr>
        <p:spPr>
          <a:xfrm>
            <a:off x="625450" y="6348730"/>
            <a:ext cx="62179" cy="62179"/>
          </a:xfrm>
          <a:prstGeom prst="rect">
            <a:avLst/>
          </a:prstGeom>
          <a:solidFill>
            <a:srgbClr val="86A0B5"/>
          </a:solidFill>
          <a:ln w="6191">
            <a:solidFill>
              <a:srgbClr val="FFFFFF"/>
            </a:solidFill>
          </a:ln>
        </p:spPr>
      </p:sp>
      <p:sp>
        <p:nvSpPr>
          <p:cNvPr id="1033" name="rsa_v4_33"/>
          <p:cNvSpPr>
            <a:spLocks noGrp="1"/>
          </p:cNvSpPr>
          <p:nvPr/>
        </p:nvSpPr>
        <p:spPr>
          <a:xfrm>
            <a:off x="687629" y="6348730"/>
            <a:ext cx="62179" cy="62179"/>
          </a:xfrm>
          <a:prstGeom prst="rect">
            <a:avLst/>
          </a:prstGeom>
          <a:solidFill>
            <a:srgbClr val="5D819D"/>
          </a:solidFill>
          <a:ln w="6191">
            <a:solidFill>
              <a:srgbClr val="FFFFFF"/>
            </a:solidFill>
          </a:ln>
        </p:spPr>
      </p:sp>
      <p:sp>
        <p:nvSpPr>
          <p:cNvPr id="1034" name="rsa_v4_34"/>
          <p:cNvSpPr>
            <a:spLocks noGrp="1"/>
          </p:cNvSpPr>
          <p:nvPr/>
        </p:nvSpPr>
        <p:spPr>
          <a:xfrm>
            <a:off x="438912" y="6410909"/>
            <a:ext cx="62179" cy="62179"/>
          </a:xfrm>
          <a:prstGeom prst="rect">
            <a:avLst/>
          </a:prstGeom>
          <a:solidFill>
            <a:srgbClr val="E1E7EB"/>
          </a:solidFill>
          <a:ln w="6191">
            <a:solidFill>
              <a:srgbClr val="FFFFFF"/>
            </a:solidFill>
          </a:ln>
        </p:spPr>
      </p:sp>
      <p:sp>
        <p:nvSpPr>
          <p:cNvPr id="1035" name="rsa_v4_35"/>
          <p:cNvSpPr>
            <a:spLocks noGrp="1"/>
          </p:cNvSpPr>
          <p:nvPr/>
        </p:nvSpPr>
        <p:spPr>
          <a:xfrm>
            <a:off x="501091" y="6410909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36" name="rsa_v4_36"/>
          <p:cNvSpPr>
            <a:spLocks noGrp="1"/>
          </p:cNvSpPr>
          <p:nvPr/>
        </p:nvSpPr>
        <p:spPr>
          <a:xfrm>
            <a:off x="563270" y="6410909"/>
            <a:ext cx="62179" cy="62179"/>
          </a:xfrm>
          <a:prstGeom prst="rect">
            <a:avLst/>
          </a:prstGeom>
          <a:solidFill>
            <a:srgbClr val="C8D3DC"/>
          </a:solidFill>
          <a:ln w="6191">
            <a:solidFill>
              <a:srgbClr val="FFFFFF"/>
            </a:solidFill>
          </a:ln>
        </p:spPr>
      </p:sp>
      <p:sp>
        <p:nvSpPr>
          <p:cNvPr id="1037" name="rsa_v4_37"/>
          <p:cNvSpPr>
            <a:spLocks noGrp="1"/>
          </p:cNvSpPr>
          <p:nvPr/>
        </p:nvSpPr>
        <p:spPr>
          <a:xfrm>
            <a:off x="625450" y="6410909"/>
            <a:ext cx="62179" cy="62179"/>
          </a:xfrm>
          <a:prstGeom prst="rect">
            <a:avLst/>
          </a:prstGeom>
          <a:solidFill>
            <a:srgbClr val="9FB4C4"/>
          </a:solidFill>
          <a:ln w="6191">
            <a:solidFill>
              <a:srgbClr val="FFFFFF"/>
            </a:solidFill>
          </a:ln>
        </p:spPr>
      </p:sp>
      <p:sp>
        <p:nvSpPr>
          <p:cNvPr id="1038" name="rsa_v4_38"/>
          <p:cNvSpPr>
            <a:spLocks noGrp="1"/>
          </p:cNvSpPr>
          <p:nvPr/>
        </p:nvSpPr>
        <p:spPr>
          <a:xfrm>
            <a:off x="687629" y="6410909"/>
            <a:ext cx="62179" cy="62179"/>
          </a:xfrm>
          <a:prstGeom prst="rect">
            <a:avLst/>
          </a:prstGeom>
          <a:solidFill>
            <a:srgbClr val="7694AC"/>
          </a:solidFill>
          <a:ln w="6191">
            <a:solidFill>
              <a:srgbClr val="FFFFFF"/>
            </a:solidFill>
          </a:ln>
        </p:spPr>
      </p:sp>
      <p:sp>
        <p:nvSpPr>
          <p:cNvPr id="1039" name="rsa_v4_39"/>
          <p:cNvSpPr>
            <a:spLocks noGrp="1"/>
          </p:cNvSpPr>
          <p:nvPr/>
        </p:nvSpPr>
        <p:spPr>
          <a:xfrm>
            <a:off x="438912" y="6473088"/>
            <a:ext cx="62179" cy="62179"/>
          </a:xfrm>
          <a:prstGeom prst="rect">
            <a:avLst/>
          </a:prstGeom>
          <a:solidFill>
            <a:srgbClr val="AFC0CD"/>
          </a:solidFill>
          <a:ln w="6191">
            <a:solidFill>
              <a:srgbClr val="FFFFFF"/>
            </a:solidFill>
          </a:ln>
        </p:spPr>
      </p:sp>
      <p:sp>
        <p:nvSpPr>
          <p:cNvPr id="1040" name="rsa_v4_40"/>
          <p:cNvSpPr>
            <a:spLocks noGrp="1"/>
          </p:cNvSpPr>
          <p:nvPr/>
        </p:nvSpPr>
        <p:spPr>
          <a:xfrm>
            <a:off x="501091" y="6473088"/>
            <a:ext cx="62179" cy="62179"/>
          </a:xfrm>
          <a:prstGeom prst="rect">
            <a:avLst/>
          </a:prstGeom>
          <a:solidFill>
            <a:srgbClr val="C8D3DC"/>
          </a:solidFill>
          <a:ln w="6191">
            <a:solidFill>
              <a:srgbClr val="FFFFFF"/>
            </a:solidFill>
          </a:ln>
        </p:spPr>
      </p:sp>
      <p:sp>
        <p:nvSpPr>
          <p:cNvPr id="1041" name="rsa_v4_41"/>
          <p:cNvSpPr>
            <a:spLocks noGrp="1"/>
          </p:cNvSpPr>
          <p:nvPr/>
        </p:nvSpPr>
        <p:spPr>
          <a:xfrm>
            <a:off x="563270" y="6473088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42" name="rsa_v4_42"/>
          <p:cNvSpPr>
            <a:spLocks noGrp="1"/>
          </p:cNvSpPr>
          <p:nvPr/>
        </p:nvSpPr>
        <p:spPr>
          <a:xfrm>
            <a:off x="625450" y="6473088"/>
            <a:ext cx="62179" cy="62179"/>
          </a:xfrm>
          <a:prstGeom prst="rect">
            <a:avLst/>
          </a:prstGeom>
          <a:solidFill>
            <a:srgbClr val="D1DBE2"/>
          </a:solidFill>
          <a:ln w="6191">
            <a:solidFill>
              <a:srgbClr val="FFFFFF"/>
            </a:solidFill>
          </a:ln>
        </p:spPr>
      </p:sp>
      <p:sp>
        <p:nvSpPr>
          <p:cNvPr id="1043" name="rsa_v4_43"/>
          <p:cNvSpPr>
            <a:spLocks noGrp="1"/>
          </p:cNvSpPr>
          <p:nvPr/>
        </p:nvSpPr>
        <p:spPr>
          <a:xfrm>
            <a:off x="687629" y="6473088"/>
            <a:ext cx="62179" cy="62179"/>
          </a:xfrm>
          <a:prstGeom prst="rect">
            <a:avLst/>
          </a:prstGeom>
          <a:solidFill>
            <a:srgbClr val="A8BBCA"/>
          </a:solidFill>
          <a:ln w="6191">
            <a:solidFill>
              <a:srgbClr val="FFFFFF"/>
            </a:solidFill>
          </a:ln>
        </p:spPr>
      </p:sp>
      <p:sp>
        <p:nvSpPr>
          <p:cNvPr id="1044" name="rsa_v4_44"/>
          <p:cNvSpPr>
            <a:spLocks noGrp="1"/>
          </p:cNvSpPr>
          <p:nvPr/>
        </p:nvSpPr>
        <p:spPr>
          <a:xfrm>
            <a:off x="438912" y="6535268"/>
            <a:ext cx="62179" cy="62179"/>
          </a:xfrm>
          <a:prstGeom prst="rect">
            <a:avLst/>
          </a:prstGeom>
          <a:solidFill>
            <a:srgbClr val="86A0B5"/>
          </a:solidFill>
          <a:ln w="6191">
            <a:solidFill>
              <a:srgbClr val="FFFFFF"/>
            </a:solidFill>
          </a:ln>
        </p:spPr>
      </p:sp>
      <p:sp>
        <p:nvSpPr>
          <p:cNvPr id="1045" name="rsa_v4_45"/>
          <p:cNvSpPr>
            <a:spLocks noGrp="1"/>
          </p:cNvSpPr>
          <p:nvPr/>
        </p:nvSpPr>
        <p:spPr>
          <a:xfrm>
            <a:off x="501091" y="6535268"/>
            <a:ext cx="62179" cy="62179"/>
          </a:xfrm>
          <a:prstGeom prst="rect">
            <a:avLst/>
          </a:prstGeom>
          <a:solidFill>
            <a:srgbClr val="9FB4C4"/>
          </a:solidFill>
          <a:ln w="6191">
            <a:solidFill>
              <a:srgbClr val="FFFFFF"/>
            </a:solidFill>
          </a:ln>
        </p:spPr>
      </p:sp>
      <p:sp>
        <p:nvSpPr>
          <p:cNvPr id="1046" name="rsa_v4_46"/>
          <p:cNvSpPr>
            <a:spLocks noGrp="1"/>
          </p:cNvSpPr>
          <p:nvPr/>
        </p:nvSpPr>
        <p:spPr>
          <a:xfrm>
            <a:off x="563270" y="6535268"/>
            <a:ext cx="62179" cy="62179"/>
          </a:xfrm>
          <a:prstGeom prst="rect">
            <a:avLst/>
          </a:prstGeom>
          <a:solidFill>
            <a:srgbClr val="D1DBE2"/>
          </a:solidFill>
          <a:ln w="6191">
            <a:solidFill>
              <a:srgbClr val="FFFFFF"/>
            </a:solidFill>
          </a:ln>
        </p:spPr>
      </p:sp>
      <p:sp>
        <p:nvSpPr>
          <p:cNvPr id="1047" name="rsa_v4_47"/>
          <p:cNvSpPr>
            <a:spLocks noGrp="1"/>
          </p:cNvSpPr>
          <p:nvPr/>
        </p:nvSpPr>
        <p:spPr>
          <a:xfrm>
            <a:off x="625450" y="6535268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48" name="rsa_v4_48"/>
          <p:cNvSpPr>
            <a:spLocks noGrp="1"/>
          </p:cNvSpPr>
          <p:nvPr/>
        </p:nvSpPr>
        <p:spPr>
          <a:xfrm>
            <a:off x="687629" y="6535268"/>
            <a:ext cx="62179" cy="62179"/>
          </a:xfrm>
          <a:prstGeom prst="rect">
            <a:avLst/>
          </a:prstGeom>
          <a:solidFill>
            <a:srgbClr val="D1DBE2"/>
          </a:solidFill>
          <a:ln w="6191">
            <a:solidFill>
              <a:srgbClr val="FFFFFF"/>
            </a:solidFill>
          </a:ln>
        </p:spPr>
      </p:sp>
      <p:sp>
        <p:nvSpPr>
          <p:cNvPr id="1049" name="rsa_v4_49"/>
          <p:cNvSpPr>
            <a:spLocks noGrp="1"/>
          </p:cNvSpPr>
          <p:nvPr/>
        </p:nvSpPr>
        <p:spPr>
          <a:xfrm>
            <a:off x="438912" y="6597447"/>
            <a:ext cx="62179" cy="62179"/>
          </a:xfrm>
          <a:prstGeom prst="rect">
            <a:avLst/>
          </a:prstGeom>
          <a:solidFill>
            <a:srgbClr val="5D819D"/>
          </a:solidFill>
          <a:ln w="6191">
            <a:solidFill>
              <a:srgbClr val="FFFFFF"/>
            </a:solidFill>
          </a:ln>
        </p:spPr>
      </p:sp>
      <p:sp>
        <p:nvSpPr>
          <p:cNvPr id="1050" name="rsa_v4_50"/>
          <p:cNvSpPr>
            <a:spLocks noGrp="1"/>
          </p:cNvSpPr>
          <p:nvPr/>
        </p:nvSpPr>
        <p:spPr>
          <a:xfrm>
            <a:off x="501091" y="6597447"/>
            <a:ext cx="62179" cy="62179"/>
          </a:xfrm>
          <a:prstGeom prst="rect">
            <a:avLst/>
          </a:prstGeom>
          <a:solidFill>
            <a:srgbClr val="7694AC"/>
          </a:solidFill>
          <a:ln w="6191">
            <a:solidFill>
              <a:srgbClr val="FFFFFF"/>
            </a:solidFill>
          </a:ln>
        </p:spPr>
      </p:sp>
      <p:sp>
        <p:nvSpPr>
          <p:cNvPr id="1051" name="rsa_v4_51"/>
          <p:cNvSpPr>
            <a:spLocks noGrp="1"/>
          </p:cNvSpPr>
          <p:nvPr/>
        </p:nvSpPr>
        <p:spPr>
          <a:xfrm>
            <a:off x="563270" y="6597447"/>
            <a:ext cx="62179" cy="62179"/>
          </a:xfrm>
          <a:prstGeom prst="rect">
            <a:avLst/>
          </a:prstGeom>
          <a:solidFill>
            <a:srgbClr val="A8BBCA"/>
          </a:solidFill>
          <a:ln w="6191">
            <a:solidFill>
              <a:srgbClr val="FFFFFF"/>
            </a:solidFill>
          </a:ln>
        </p:spPr>
      </p:sp>
      <p:sp>
        <p:nvSpPr>
          <p:cNvPr id="1052" name="rsa_v4_52"/>
          <p:cNvSpPr>
            <a:spLocks noGrp="1"/>
          </p:cNvSpPr>
          <p:nvPr/>
        </p:nvSpPr>
        <p:spPr>
          <a:xfrm>
            <a:off x="625450" y="6597447"/>
            <a:ext cx="62179" cy="62179"/>
          </a:xfrm>
          <a:prstGeom prst="rect">
            <a:avLst/>
          </a:prstGeom>
          <a:solidFill>
            <a:srgbClr val="D1DBE2"/>
          </a:solidFill>
          <a:ln w="6191">
            <a:solidFill>
              <a:srgbClr val="FFFFFF"/>
            </a:solidFill>
          </a:ln>
        </p:spPr>
      </p:sp>
      <p:sp>
        <p:nvSpPr>
          <p:cNvPr id="1053" name="rsa_v4_53"/>
          <p:cNvSpPr>
            <a:spLocks noGrp="1"/>
          </p:cNvSpPr>
          <p:nvPr/>
        </p:nvSpPr>
        <p:spPr>
          <a:xfrm>
            <a:off x="687629" y="6597447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54" name="rsa_v4_54"/>
          <p:cNvSpPr>
            <a:spLocks noGrp="1"/>
          </p:cNvSpPr>
          <p:nvPr/>
        </p:nvSpPr>
        <p:spPr>
          <a:xfrm>
            <a:off x="1499616" y="6348730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55" name="rsa_v4_55"/>
          <p:cNvSpPr>
            <a:spLocks noGrp="1"/>
          </p:cNvSpPr>
          <p:nvPr/>
        </p:nvSpPr>
        <p:spPr>
          <a:xfrm>
            <a:off x="1561795" y="6348730"/>
            <a:ext cx="62179" cy="62179"/>
          </a:xfrm>
          <a:prstGeom prst="rect">
            <a:avLst/>
          </a:prstGeom>
          <a:solidFill>
            <a:srgbClr val="BFC6BA"/>
          </a:solidFill>
          <a:ln w="6191">
            <a:solidFill>
              <a:srgbClr val="FFFFFF"/>
            </a:solidFill>
          </a:ln>
        </p:spPr>
      </p:sp>
      <p:sp>
        <p:nvSpPr>
          <p:cNvPr id="1056" name="rsa_v4_56"/>
          <p:cNvSpPr>
            <a:spLocks noGrp="1"/>
          </p:cNvSpPr>
          <p:nvPr/>
        </p:nvSpPr>
        <p:spPr>
          <a:xfrm>
            <a:off x="1623974" y="6348730"/>
            <a:ext cx="62179" cy="62179"/>
          </a:xfrm>
          <a:prstGeom prst="rect">
            <a:avLst/>
          </a:prstGeom>
          <a:solidFill>
            <a:srgbClr val="E6E9E5"/>
          </a:solidFill>
          <a:ln w="6191">
            <a:solidFill>
              <a:srgbClr val="FFFFFF"/>
            </a:solidFill>
          </a:ln>
        </p:spPr>
      </p:sp>
      <p:sp>
        <p:nvSpPr>
          <p:cNvPr id="1057" name="rsa_v4_57"/>
          <p:cNvSpPr>
            <a:spLocks noGrp="1"/>
          </p:cNvSpPr>
          <p:nvPr/>
        </p:nvSpPr>
        <p:spPr>
          <a:xfrm>
            <a:off x="1686154" y="6348730"/>
            <a:ext cx="62179" cy="62179"/>
          </a:xfrm>
          <a:prstGeom prst="rect">
            <a:avLst/>
          </a:prstGeom>
          <a:solidFill>
            <a:srgbClr val="7F8D74"/>
          </a:solidFill>
          <a:ln w="6191">
            <a:solidFill>
              <a:srgbClr val="FFFFFF"/>
            </a:solidFill>
          </a:ln>
        </p:spPr>
      </p:sp>
      <p:sp>
        <p:nvSpPr>
          <p:cNvPr id="1058" name="rsa_v4_58"/>
          <p:cNvSpPr>
            <a:spLocks noGrp="1"/>
          </p:cNvSpPr>
          <p:nvPr/>
        </p:nvSpPr>
        <p:spPr>
          <a:xfrm>
            <a:off x="1748333" y="6348730"/>
            <a:ext cx="62179" cy="62179"/>
          </a:xfrm>
          <a:prstGeom prst="rect">
            <a:avLst/>
          </a:prstGeom>
          <a:solidFill>
            <a:srgbClr val="9FA997"/>
          </a:solidFill>
          <a:ln w="6191">
            <a:solidFill>
              <a:srgbClr val="FFFFFF"/>
            </a:solidFill>
          </a:ln>
        </p:spPr>
      </p:sp>
      <p:sp>
        <p:nvSpPr>
          <p:cNvPr id="1059" name="rsa_v4_59"/>
          <p:cNvSpPr>
            <a:spLocks noGrp="1"/>
          </p:cNvSpPr>
          <p:nvPr/>
        </p:nvSpPr>
        <p:spPr>
          <a:xfrm>
            <a:off x="1499616" y="6410909"/>
            <a:ext cx="62179" cy="62179"/>
          </a:xfrm>
          <a:prstGeom prst="rect">
            <a:avLst/>
          </a:prstGeom>
          <a:solidFill>
            <a:srgbClr val="BFC6BA"/>
          </a:solidFill>
          <a:ln w="6191">
            <a:solidFill>
              <a:srgbClr val="FFFFFF"/>
            </a:solidFill>
          </a:ln>
        </p:spPr>
      </p:sp>
      <p:sp>
        <p:nvSpPr>
          <p:cNvPr id="1060" name="rsa_v4_60"/>
          <p:cNvSpPr>
            <a:spLocks noGrp="1"/>
          </p:cNvSpPr>
          <p:nvPr/>
        </p:nvSpPr>
        <p:spPr>
          <a:xfrm>
            <a:off x="1561795" y="6410909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61" name="rsa_v4_61"/>
          <p:cNvSpPr>
            <a:spLocks noGrp="1"/>
          </p:cNvSpPr>
          <p:nvPr/>
        </p:nvSpPr>
        <p:spPr>
          <a:xfrm>
            <a:off x="1623974" y="6410909"/>
            <a:ext cx="62179" cy="62179"/>
          </a:xfrm>
          <a:prstGeom prst="rect">
            <a:avLst/>
          </a:prstGeom>
          <a:solidFill>
            <a:srgbClr val="D3D7CF"/>
          </a:solidFill>
          <a:ln w="6191">
            <a:solidFill>
              <a:srgbClr val="FFFFFF"/>
            </a:solidFill>
          </a:ln>
        </p:spPr>
      </p:sp>
      <p:sp>
        <p:nvSpPr>
          <p:cNvPr id="1062" name="rsa_v4_62"/>
          <p:cNvSpPr>
            <a:spLocks noGrp="1"/>
          </p:cNvSpPr>
          <p:nvPr/>
        </p:nvSpPr>
        <p:spPr>
          <a:xfrm>
            <a:off x="1686154" y="6410909"/>
            <a:ext cx="62179" cy="62179"/>
          </a:xfrm>
          <a:prstGeom prst="rect">
            <a:avLst/>
          </a:prstGeom>
          <a:solidFill>
            <a:srgbClr val="BAC1B4"/>
          </a:solidFill>
          <a:ln w="6191">
            <a:solidFill>
              <a:srgbClr val="FFFFFF"/>
            </a:solidFill>
          </a:ln>
        </p:spPr>
      </p:sp>
      <p:sp>
        <p:nvSpPr>
          <p:cNvPr id="1063" name="rsa_v4_63"/>
          <p:cNvSpPr>
            <a:spLocks noGrp="1"/>
          </p:cNvSpPr>
          <p:nvPr/>
        </p:nvSpPr>
        <p:spPr>
          <a:xfrm>
            <a:off x="1748333" y="6410909"/>
            <a:ext cx="62179" cy="62179"/>
          </a:xfrm>
          <a:prstGeom prst="rect">
            <a:avLst/>
          </a:prstGeom>
          <a:solidFill>
            <a:srgbClr val="DADED7"/>
          </a:solidFill>
          <a:ln w="6191">
            <a:solidFill>
              <a:srgbClr val="FFFFFF"/>
            </a:solidFill>
          </a:ln>
        </p:spPr>
      </p:sp>
      <p:sp>
        <p:nvSpPr>
          <p:cNvPr id="1064" name="rsa_v4_64"/>
          <p:cNvSpPr>
            <a:spLocks noGrp="1"/>
          </p:cNvSpPr>
          <p:nvPr/>
        </p:nvSpPr>
        <p:spPr>
          <a:xfrm>
            <a:off x="1499616" y="6473088"/>
            <a:ext cx="62179" cy="62179"/>
          </a:xfrm>
          <a:prstGeom prst="rect">
            <a:avLst/>
          </a:prstGeom>
          <a:solidFill>
            <a:srgbClr val="E6E9E5"/>
          </a:solidFill>
          <a:ln w="6191">
            <a:solidFill>
              <a:srgbClr val="FFFFFF"/>
            </a:solidFill>
          </a:ln>
        </p:spPr>
      </p:sp>
      <p:sp>
        <p:nvSpPr>
          <p:cNvPr id="1065" name="rsa_v4_65"/>
          <p:cNvSpPr>
            <a:spLocks noGrp="1"/>
          </p:cNvSpPr>
          <p:nvPr/>
        </p:nvSpPr>
        <p:spPr>
          <a:xfrm>
            <a:off x="1561795" y="6473088"/>
            <a:ext cx="62179" cy="62179"/>
          </a:xfrm>
          <a:prstGeom prst="rect">
            <a:avLst/>
          </a:prstGeom>
          <a:solidFill>
            <a:srgbClr val="D3D7CF"/>
          </a:solidFill>
          <a:ln w="6191">
            <a:solidFill>
              <a:srgbClr val="FFFFFF"/>
            </a:solidFill>
          </a:ln>
        </p:spPr>
      </p:sp>
      <p:sp>
        <p:nvSpPr>
          <p:cNvPr id="1066" name="rsa_v4_66"/>
          <p:cNvSpPr>
            <a:spLocks noGrp="1"/>
          </p:cNvSpPr>
          <p:nvPr/>
        </p:nvSpPr>
        <p:spPr>
          <a:xfrm>
            <a:off x="1623974" y="6473088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67" name="rsa_v4_67"/>
          <p:cNvSpPr>
            <a:spLocks noGrp="1"/>
          </p:cNvSpPr>
          <p:nvPr/>
        </p:nvSpPr>
        <p:spPr>
          <a:xfrm>
            <a:off x="1686154" y="6473088"/>
            <a:ext cx="62179" cy="62179"/>
          </a:xfrm>
          <a:prstGeom prst="rect">
            <a:avLst/>
          </a:prstGeom>
          <a:solidFill>
            <a:srgbClr val="939E89"/>
          </a:solidFill>
          <a:ln w="6191">
            <a:solidFill>
              <a:srgbClr val="FFFFFF"/>
            </a:solidFill>
          </a:ln>
        </p:spPr>
      </p:sp>
      <p:sp>
        <p:nvSpPr>
          <p:cNvPr id="1068" name="rsa_v4_68"/>
          <p:cNvSpPr>
            <a:spLocks noGrp="1"/>
          </p:cNvSpPr>
          <p:nvPr/>
        </p:nvSpPr>
        <p:spPr>
          <a:xfrm>
            <a:off x="1748333" y="6473088"/>
            <a:ext cx="62179" cy="62179"/>
          </a:xfrm>
          <a:prstGeom prst="rect">
            <a:avLst/>
          </a:prstGeom>
          <a:solidFill>
            <a:srgbClr val="B3BBAC"/>
          </a:solidFill>
          <a:ln w="6191">
            <a:solidFill>
              <a:srgbClr val="FFFFFF"/>
            </a:solidFill>
          </a:ln>
        </p:spPr>
      </p:sp>
      <p:sp>
        <p:nvSpPr>
          <p:cNvPr id="1069" name="rsa_v4_69"/>
          <p:cNvSpPr>
            <a:spLocks noGrp="1"/>
          </p:cNvSpPr>
          <p:nvPr/>
        </p:nvSpPr>
        <p:spPr>
          <a:xfrm>
            <a:off x="1499616" y="6535268"/>
            <a:ext cx="62179" cy="62179"/>
          </a:xfrm>
          <a:prstGeom prst="rect">
            <a:avLst/>
          </a:prstGeom>
          <a:solidFill>
            <a:srgbClr val="7F8D74"/>
          </a:solidFill>
          <a:ln w="6191">
            <a:solidFill>
              <a:srgbClr val="FFFFFF"/>
            </a:solidFill>
          </a:ln>
        </p:spPr>
      </p:sp>
      <p:sp>
        <p:nvSpPr>
          <p:cNvPr id="1070" name="rsa_v4_70"/>
          <p:cNvSpPr>
            <a:spLocks noGrp="1"/>
          </p:cNvSpPr>
          <p:nvPr/>
        </p:nvSpPr>
        <p:spPr>
          <a:xfrm>
            <a:off x="1561795" y="6535268"/>
            <a:ext cx="62179" cy="62179"/>
          </a:xfrm>
          <a:prstGeom prst="rect">
            <a:avLst/>
          </a:prstGeom>
          <a:solidFill>
            <a:srgbClr val="BAC1B4"/>
          </a:solidFill>
          <a:ln w="6191">
            <a:solidFill>
              <a:srgbClr val="FFFFFF"/>
            </a:solidFill>
          </a:ln>
        </p:spPr>
      </p:sp>
      <p:sp>
        <p:nvSpPr>
          <p:cNvPr id="1071" name="rsa_v4_71"/>
          <p:cNvSpPr>
            <a:spLocks noGrp="1"/>
          </p:cNvSpPr>
          <p:nvPr/>
        </p:nvSpPr>
        <p:spPr>
          <a:xfrm>
            <a:off x="1623974" y="6535268"/>
            <a:ext cx="62179" cy="62179"/>
          </a:xfrm>
          <a:prstGeom prst="rect">
            <a:avLst/>
          </a:prstGeom>
          <a:solidFill>
            <a:srgbClr val="939E89"/>
          </a:solidFill>
          <a:ln w="6191">
            <a:solidFill>
              <a:srgbClr val="FFFFFF"/>
            </a:solidFill>
          </a:ln>
        </p:spPr>
      </p:sp>
      <p:sp>
        <p:nvSpPr>
          <p:cNvPr id="1072" name="rsa_v4_72"/>
          <p:cNvSpPr>
            <a:spLocks noGrp="1"/>
          </p:cNvSpPr>
          <p:nvPr/>
        </p:nvSpPr>
        <p:spPr>
          <a:xfrm>
            <a:off x="1686154" y="6535268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73" name="rsa_v4_73"/>
          <p:cNvSpPr>
            <a:spLocks noGrp="1"/>
          </p:cNvSpPr>
          <p:nvPr/>
        </p:nvSpPr>
        <p:spPr>
          <a:xfrm>
            <a:off x="1748333" y="6535268"/>
            <a:ext cx="62179" cy="62179"/>
          </a:xfrm>
          <a:prstGeom prst="rect">
            <a:avLst/>
          </a:prstGeom>
          <a:solidFill>
            <a:srgbClr val="DADED7"/>
          </a:solidFill>
          <a:ln w="6191">
            <a:solidFill>
              <a:srgbClr val="FFFFFF"/>
            </a:solidFill>
          </a:ln>
        </p:spPr>
      </p:sp>
      <p:sp>
        <p:nvSpPr>
          <p:cNvPr id="1074" name="rsa_v4_74"/>
          <p:cNvSpPr>
            <a:spLocks noGrp="1"/>
          </p:cNvSpPr>
          <p:nvPr/>
        </p:nvSpPr>
        <p:spPr>
          <a:xfrm>
            <a:off x="1499616" y="6597447"/>
            <a:ext cx="62179" cy="62179"/>
          </a:xfrm>
          <a:prstGeom prst="rect">
            <a:avLst/>
          </a:prstGeom>
          <a:solidFill>
            <a:srgbClr val="9FA997"/>
          </a:solidFill>
          <a:ln w="6191">
            <a:solidFill>
              <a:srgbClr val="FFFFFF"/>
            </a:solidFill>
          </a:ln>
        </p:spPr>
      </p:sp>
      <p:sp>
        <p:nvSpPr>
          <p:cNvPr id="1075" name="rsa_v4_75"/>
          <p:cNvSpPr>
            <a:spLocks noGrp="1"/>
          </p:cNvSpPr>
          <p:nvPr/>
        </p:nvSpPr>
        <p:spPr>
          <a:xfrm>
            <a:off x="1561795" y="6597447"/>
            <a:ext cx="62179" cy="62179"/>
          </a:xfrm>
          <a:prstGeom prst="rect">
            <a:avLst/>
          </a:prstGeom>
          <a:solidFill>
            <a:srgbClr val="DADED7"/>
          </a:solidFill>
          <a:ln w="6191">
            <a:solidFill>
              <a:srgbClr val="FFFFFF"/>
            </a:solidFill>
          </a:ln>
        </p:spPr>
      </p:sp>
      <p:sp>
        <p:nvSpPr>
          <p:cNvPr id="1076" name="rsa_v4_76"/>
          <p:cNvSpPr>
            <a:spLocks noGrp="1"/>
          </p:cNvSpPr>
          <p:nvPr/>
        </p:nvSpPr>
        <p:spPr>
          <a:xfrm>
            <a:off x="1623974" y="6597447"/>
            <a:ext cx="62179" cy="62179"/>
          </a:xfrm>
          <a:prstGeom prst="rect">
            <a:avLst/>
          </a:prstGeom>
          <a:solidFill>
            <a:srgbClr val="B3BBAC"/>
          </a:solidFill>
          <a:ln w="6191">
            <a:solidFill>
              <a:srgbClr val="FFFFFF"/>
            </a:solidFill>
          </a:ln>
        </p:spPr>
      </p:sp>
      <p:sp>
        <p:nvSpPr>
          <p:cNvPr id="1077" name="rsa_v4_77"/>
          <p:cNvSpPr>
            <a:spLocks noGrp="1"/>
          </p:cNvSpPr>
          <p:nvPr/>
        </p:nvSpPr>
        <p:spPr>
          <a:xfrm>
            <a:off x="1686154" y="6597447"/>
            <a:ext cx="62179" cy="62179"/>
          </a:xfrm>
          <a:prstGeom prst="rect">
            <a:avLst/>
          </a:prstGeom>
          <a:solidFill>
            <a:srgbClr val="DADED7"/>
          </a:solidFill>
          <a:ln w="6191">
            <a:solidFill>
              <a:srgbClr val="FFFFFF"/>
            </a:solidFill>
          </a:ln>
        </p:spPr>
      </p:sp>
      <p:sp>
        <p:nvSpPr>
          <p:cNvPr id="1078" name="rsa_v4_78"/>
          <p:cNvSpPr>
            <a:spLocks noGrp="1"/>
          </p:cNvSpPr>
          <p:nvPr/>
        </p:nvSpPr>
        <p:spPr>
          <a:xfrm>
            <a:off x="1748333" y="6597447"/>
            <a:ext cx="62179" cy="62179"/>
          </a:xfrm>
          <a:prstGeom prst="rect">
            <a:avLst/>
          </a:prstGeom>
          <a:solidFill>
            <a:srgbClr val="FAFAFA"/>
          </a:solidFill>
          <a:ln w="6191">
            <a:solidFill>
              <a:srgbClr val="FFFFFF"/>
            </a:solidFill>
          </a:ln>
        </p:spPr>
      </p:sp>
      <p:sp>
        <p:nvSpPr>
          <p:cNvPr id="1079" name="rsa_v4_79"/>
          <p:cNvSpPr>
            <a:spLocks noGrp="1"/>
          </p:cNvSpPr>
          <p:nvPr/>
        </p:nvSpPr>
        <p:spPr>
          <a:xfrm>
            <a:off x="914400" y="6056122"/>
            <a:ext cx="914" cy="914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80" name="rsa_v4_80"/>
          <p:cNvSpPr>
            <a:spLocks noGrp="1"/>
          </p:cNvSpPr>
          <p:nvPr/>
        </p:nvSpPr>
        <p:spPr>
          <a:xfrm>
            <a:off x="704088" y="6312154"/>
            <a:ext cx="914" cy="914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81" name="直接箭头连接符 1080"/>
          <p:cNvCxnSpPr>
            <a:stCxn id="1079" idx="3"/>
            <a:endCxn id="1080" idx="1"/>
          </p:cNvCxnSpPr>
          <p:nvPr/>
        </p:nvCxnSpPr>
        <p:spPr>
          <a:xfrm flipH="1">
            <a:off x="704088" y="6056579"/>
            <a:ext cx="211226" cy="256032"/>
          </a:xfrm>
          <a:prstGeom prst="straightConnector1">
            <a:avLst/>
          </a:prstGeom>
          <a:ln w="11430">
            <a:solidFill>
              <a:srgbClr val="969696"/>
            </a:solidFill>
          </a:ln>
        </p:spPr>
      </p:cxnSp>
      <p:sp>
        <p:nvSpPr>
          <p:cNvPr id="1082" name="rsa_v4_81"/>
          <p:cNvSpPr>
            <a:spLocks noGrp="1"/>
          </p:cNvSpPr>
          <p:nvPr/>
        </p:nvSpPr>
        <p:spPr>
          <a:xfrm>
            <a:off x="1335024" y="6056122"/>
            <a:ext cx="914" cy="914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83" name="rsa_v4_82"/>
          <p:cNvSpPr>
            <a:spLocks noGrp="1"/>
          </p:cNvSpPr>
          <p:nvPr/>
        </p:nvSpPr>
        <p:spPr>
          <a:xfrm>
            <a:off x="1554480" y="6312154"/>
            <a:ext cx="914" cy="914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84" name="直接箭头连接符 1083"/>
          <p:cNvCxnSpPr>
            <a:stCxn id="1082" idx="3"/>
            <a:endCxn id="1083" idx="1"/>
          </p:cNvCxnSpPr>
          <p:nvPr/>
        </p:nvCxnSpPr>
        <p:spPr>
          <a:xfrm>
            <a:off x="1335938" y="6056579"/>
            <a:ext cx="218542" cy="256032"/>
          </a:xfrm>
          <a:prstGeom prst="straightConnector1">
            <a:avLst/>
          </a:prstGeom>
          <a:ln w="11430">
            <a:solidFill>
              <a:srgbClr val="969696"/>
            </a:solidFill>
          </a:ln>
        </p:spPr>
      </p:cxnSp>
      <p:sp>
        <p:nvSpPr>
          <p:cNvPr id="1085" name="rsa_v4_83"/>
          <p:cNvSpPr>
            <a:spLocks noGrp="1"/>
          </p:cNvSpPr>
          <p:nvPr/>
        </p:nvSpPr>
        <p:spPr>
          <a:xfrm>
            <a:off x="822960" y="6504178"/>
            <a:ext cx="914" cy="914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86" name="rsa_v4_84"/>
          <p:cNvSpPr>
            <a:spLocks noGrp="1"/>
          </p:cNvSpPr>
          <p:nvPr/>
        </p:nvSpPr>
        <p:spPr>
          <a:xfrm>
            <a:off x="1426464" y="6504178"/>
            <a:ext cx="914" cy="914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87" name="直接箭头连接符 1086"/>
          <p:cNvCxnSpPr>
            <a:stCxn id="1085" idx="3"/>
            <a:endCxn id="1086" idx="1"/>
          </p:cNvCxnSpPr>
          <p:nvPr/>
        </p:nvCxnSpPr>
        <p:spPr>
          <a:xfrm>
            <a:off x="823874" y="6504635"/>
            <a:ext cx="602590" cy="0"/>
          </a:xfrm>
          <a:prstGeom prst="straightConnector1">
            <a:avLst/>
          </a:prstGeom>
          <a:ln w="11430">
            <a:solidFill>
              <a:srgbClr val="969696"/>
            </a:solidFill>
          </a:ln>
        </p:spPr>
      </p:cxnSp>
      <p:sp>
        <p:nvSpPr>
          <p:cNvPr id="1088" name="rsa_v4_85"/>
          <p:cNvSpPr>
            <a:spLocks noGrp="1"/>
          </p:cNvSpPr>
          <p:nvPr/>
        </p:nvSpPr>
        <p:spPr>
          <a:xfrm>
            <a:off x="466344" y="6092698"/>
            <a:ext cx="338328" cy="128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6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6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RSA</a:t>
            </a:r>
            <a:endParaRPr sz="66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89" name="rsa_v4_86"/>
          <p:cNvSpPr>
            <a:spLocks noGrp="1"/>
          </p:cNvSpPr>
          <p:nvPr/>
        </p:nvSpPr>
        <p:spPr>
          <a:xfrm>
            <a:off x="1472184" y="6092698"/>
            <a:ext cx="338328" cy="128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6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6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RSA</a:t>
            </a:r>
            <a:endParaRPr sz="66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90" name="rsa_v4_87"/>
          <p:cNvSpPr>
            <a:spLocks noGrp="1"/>
          </p:cNvSpPr>
          <p:nvPr/>
        </p:nvSpPr>
        <p:spPr>
          <a:xfrm>
            <a:off x="950976" y="6312154"/>
            <a:ext cx="347472" cy="128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6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6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RSA</a:t>
            </a:r>
            <a:endParaRPr sz="66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91" name="rsa_v4_88"/>
          <p:cNvSpPr>
            <a:spLocks noGrp="1"/>
          </p:cNvSpPr>
          <p:nvPr/>
        </p:nvSpPr>
        <p:spPr>
          <a:xfrm>
            <a:off x="320040" y="6677914"/>
            <a:ext cx="548640" cy="128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LLM</a:t>
            </a:r>
            <a:endParaRPr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92" name="rsa_v4_89"/>
          <p:cNvSpPr>
            <a:spLocks noGrp="1"/>
          </p:cNvSpPr>
          <p:nvPr/>
        </p:nvSpPr>
        <p:spPr>
          <a:xfrm>
            <a:off x="1380744" y="6677914"/>
            <a:ext cx="548640" cy="128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Brain</a:t>
            </a:r>
            <a:endParaRPr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93" name="rsa_v4_90"/>
          <p:cNvSpPr>
            <a:spLocks noGrp="1"/>
          </p:cNvSpPr>
          <p:nvPr/>
        </p:nvSpPr>
        <p:spPr>
          <a:xfrm>
            <a:off x="283464" y="6805930"/>
            <a:ext cx="1792224" cy="10058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3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3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RDM comparisons · Spearman ρ</a:t>
            </a:r>
            <a:endParaRPr sz="630"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94" name="rsa_v4_91"/>
          <p:cNvSpPr>
            <a:spLocks noGrp="1"/>
          </p:cNvSpPr>
          <p:nvPr/>
        </p:nvSpPr>
        <p:spPr>
          <a:xfrm>
            <a:off x="2537460" y="5407762"/>
            <a:ext cx="3630168" cy="14630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Model–brain RSA computation</a:t>
            </a:r>
            <a:endParaRPr sz="8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95" name="rsa_v4_92"/>
          <p:cNvSpPr>
            <a:spLocks noGrp="1"/>
          </p:cNvSpPr>
          <p:nvPr/>
        </p:nvSpPr>
        <p:spPr>
          <a:xfrm>
            <a:off x="2472436" y="5681345"/>
            <a:ext cx="1078992" cy="14630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Qwen hidden states</a:t>
            </a:r>
            <a:endParaRPr sz="8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96" name="rsa_v4_93"/>
          <p:cNvSpPr>
            <a:spLocks noGrp="1"/>
          </p:cNvSpPr>
          <p:nvPr/>
        </p:nvSpPr>
        <p:spPr>
          <a:xfrm>
            <a:off x="2472436" y="5845937"/>
            <a:ext cx="1078992" cy="118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3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Last input token</a:t>
            </a:r>
            <a:endParaRPr sz="8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97" name="rsa_v4_94"/>
          <p:cNvSpPr>
            <a:spLocks noGrp="1"/>
          </p:cNvSpPr>
          <p:nvPr/>
        </p:nvSpPr>
        <p:spPr>
          <a:xfrm>
            <a:off x="2459736" y="6015355"/>
            <a:ext cx="1078992" cy="128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/ S / T</a:t>
            </a:r>
            <a:endParaRPr sz="7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23" name="rsa_v4_120"/>
          <p:cNvSpPr>
            <a:spLocks noGrp="1"/>
          </p:cNvSpPr>
          <p:nvPr/>
        </p:nvSpPr>
        <p:spPr>
          <a:xfrm>
            <a:off x="2459736" y="6597777"/>
            <a:ext cx="1078992" cy="128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6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8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LLM</a:t>
            </a:r>
            <a:r>
              <a:rPr sz="8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RDM</a:t>
            </a:r>
            <a:endParaRPr sz="8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25" name="rsa_v4_122"/>
          <p:cNvSpPr>
            <a:spLocks noGrp="1"/>
          </p:cNvSpPr>
          <p:nvPr/>
        </p:nvSpPr>
        <p:spPr>
          <a:xfrm>
            <a:off x="3648456" y="6144768"/>
            <a:ext cx="877824" cy="438912"/>
          </a:xfrm>
          <a:prstGeom prst="roundRect">
            <a:avLst>
              <a:gd name="adj" fmla="val 10851"/>
            </a:avLst>
          </a:prstGeom>
          <a:solidFill>
            <a:srgbClr val="F2D8C6"/>
          </a:solidFill>
          <a:ln w="0">
            <a:noFill/>
          </a:ln>
        </p:spPr>
      </p:sp>
      <p:sp>
        <p:nvSpPr>
          <p:cNvPr id="1126" name="rsa_v4_123"/>
          <p:cNvSpPr>
            <a:spLocks noGrp="1"/>
          </p:cNvSpPr>
          <p:nvPr/>
        </p:nvSpPr>
        <p:spPr>
          <a:xfrm>
            <a:off x="3666744" y="6158484"/>
            <a:ext cx="841248" cy="118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2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2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Upper triangles</a:t>
            </a:r>
            <a:endParaRPr sz="62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27" name="rsa_v4_124"/>
          <p:cNvSpPr>
            <a:spLocks noGrp="1"/>
          </p:cNvSpPr>
          <p:nvPr/>
        </p:nvSpPr>
        <p:spPr>
          <a:xfrm>
            <a:off x="3666744" y="6286500"/>
            <a:ext cx="841248" cy="14630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73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3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Spearman ρ</a:t>
            </a:r>
            <a:endParaRPr sz="73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28" name="rsa_v4_125"/>
          <p:cNvSpPr>
            <a:spLocks noGrp="1"/>
          </p:cNvSpPr>
          <p:nvPr/>
        </p:nvSpPr>
        <p:spPr>
          <a:xfrm>
            <a:off x="3666744" y="6451092"/>
            <a:ext cx="841248" cy="1188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0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 layer → mean</a:t>
            </a:r>
            <a:endParaRPr sz="6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810510" y="6158706"/>
            <a:ext cx="466090" cy="399600"/>
            <a:chOff x="4378" y="9706"/>
            <a:chExt cx="734" cy="619"/>
          </a:xfrm>
        </p:grpSpPr>
        <p:sp>
          <p:nvSpPr>
            <p:cNvPr id="1098" name="rsa_v4_95"/>
            <p:cNvSpPr>
              <a:spLocks noGrp="1"/>
            </p:cNvSpPr>
            <p:nvPr/>
          </p:nvSpPr>
          <p:spPr>
            <a:xfrm>
              <a:off x="4378" y="9706"/>
              <a:ext cx="124" cy="124"/>
            </a:xfrm>
            <a:prstGeom prst="rect">
              <a:avLst/>
            </a:prstGeom>
            <a:solidFill>
              <a:srgbClr val="FAFAFA"/>
            </a:solidFill>
            <a:ln w="6191">
              <a:solidFill>
                <a:srgbClr val="FFFFFF"/>
              </a:solidFill>
            </a:ln>
          </p:spPr>
        </p:sp>
        <p:sp>
          <p:nvSpPr>
            <p:cNvPr id="1099" name="rsa_v4_96"/>
            <p:cNvSpPr>
              <a:spLocks noGrp="1"/>
            </p:cNvSpPr>
            <p:nvPr/>
          </p:nvSpPr>
          <p:spPr>
            <a:xfrm>
              <a:off x="4501" y="9706"/>
              <a:ext cx="124" cy="124"/>
            </a:xfrm>
            <a:prstGeom prst="rect">
              <a:avLst/>
            </a:prstGeom>
            <a:solidFill>
              <a:srgbClr val="E1E7EB"/>
            </a:solidFill>
            <a:ln w="6191">
              <a:solidFill>
                <a:srgbClr val="FFFFFF"/>
              </a:solidFill>
            </a:ln>
          </p:spPr>
        </p:sp>
        <p:sp>
          <p:nvSpPr>
            <p:cNvPr id="1100" name="rsa_v4_97"/>
            <p:cNvSpPr>
              <a:spLocks noGrp="1"/>
            </p:cNvSpPr>
            <p:nvPr/>
          </p:nvSpPr>
          <p:spPr>
            <a:xfrm>
              <a:off x="4625" y="9706"/>
              <a:ext cx="124" cy="124"/>
            </a:xfrm>
            <a:prstGeom prst="rect">
              <a:avLst/>
            </a:prstGeom>
            <a:solidFill>
              <a:srgbClr val="AFC0CD"/>
            </a:solidFill>
            <a:ln w="6191">
              <a:solidFill>
                <a:srgbClr val="FFFFFF"/>
              </a:solidFill>
            </a:ln>
          </p:spPr>
        </p:sp>
        <p:sp>
          <p:nvSpPr>
            <p:cNvPr id="1101" name="rsa_v4_98"/>
            <p:cNvSpPr>
              <a:spLocks noGrp="1"/>
            </p:cNvSpPr>
            <p:nvPr/>
          </p:nvSpPr>
          <p:spPr>
            <a:xfrm>
              <a:off x="4749" y="9706"/>
              <a:ext cx="124" cy="124"/>
            </a:xfrm>
            <a:prstGeom prst="rect">
              <a:avLst/>
            </a:prstGeom>
            <a:solidFill>
              <a:srgbClr val="86A0B5"/>
            </a:solidFill>
            <a:ln w="6191">
              <a:solidFill>
                <a:srgbClr val="FFFFFF"/>
              </a:solidFill>
            </a:ln>
          </p:spPr>
        </p:sp>
        <p:sp>
          <p:nvSpPr>
            <p:cNvPr id="1102" name="rsa_v4_99"/>
            <p:cNvSpPr>
              <a:spLocks noGrp="1"/>
            </p:cNvSpPr>
            <p:nvPr/>
          </p:nvSpPr>
          <p:spPr>
            <a:xfrm>
              <a:off x="4873" y="9706"/>
              <a:ext cx="124" cy="124"/>
            </a:xfrm>
            <a:prstGeom prst="rect">
              <a:avLst/>
            </a:prstGeom>
            <a:solidFill>
              <a:srgbClr val="5D819D"/>
            </a:solidFill>
            <a:ln w="6191">
              <a:solidFill>
                <a:srgbClr val="FFFFFF"/>
              </a:solidFill>
            </a:ln>
          </p:spPr>
        </p:sp>
        <p:sp>
          <p:nvSpPr>
            <p:cNvPr id="1103" name="rsa_v4_100"/>
            <p:cNvSpPr>
              <a:spLocks noGrp="1"/>
            </p:cNvSpPr>
            <p:nvPr/>
          </p:nvSpPr>
          <p:spPr>
            <a:xfrm>
              <a:off x="4378" y="9829"/>
              <a:ext cx="124" cy="124"/>
            </a:xfrm>
            <a:prstGeom prst="rect">
              <a:avLst/>
            </a:prstGeom>
            <a:solidFill>
              <a:srgbClr val="E1E7EB"/>
            </a:solidFill>
            <a:ln w="6191">
              <a:solidFill>
                <a:srgbClr val="FFFFFF"/>
              </a:solidFill>
            </a:ln>
          </p:spPr>
        </p:sp>
        <p:sp>
          <p:nvSpPr>
            <p:cNvPr id="1104" name="rsa_v4_101"/>
            <p:cNvSpPr>
              <a:spLocks noGrp="1"/>
            </p:cNvSpPr>
            <p:nvPr/>
          </p:nvSpPr>
          <p:spPr>
            <a:xfrm>
              <a:off x="4501" y="9829"/>
              <a:ext cx="124" cy="124"/>
            </a:xfrm>
            <a:prstGeom prst="rect">
              <a:avLst/>
            </a:prstGeom>
            <a:solidFill>
              <a:srgbClr val="FAFAFA"/>
            </a:solidFill>
            <a:ln w="6191">
              <a:solidFill>
                <a:srgbClr val="FFFFFF"/>
              </a:solidFill>
            </a:ln>
          </p:spPr>
        </p:sp>
        <p:sp>
          <p:nvSpPr>
            <p:cNvPr id="1105" name="rsa_v4_102"/>
            <p:cNvSpPr>
              <a:spLocks noGrp="1"/>
            </p:cNvSpPr>
            <p:nvPr/>
          </p:nvSpPr>
          <p:spPr>
            <a:xfrm>
              <a:off x="4625" y="9829"/>
              <a:ext cx="124" cy="124"/>
            </a:xfrm>
            <a:prstGeom prst="rect">
              <a:avLst/>
            </a:prstGeom>
            <a:solidFill>
              <a:srgbClr val="C8D3DC"/>
            </a:solidFill>
            <a:ln w="6191">
              <a:solidFill>
                <a:srgbClr val="FFFFFF"/>
              </a:solidFill>
            </a:ln>
          </p:spPr>
        </p:sp>
        <p:sp>
          <p:nvSpPr>
            <p:cNvPr id="1106" name="rsa_v4_103"/>
            <p:cNvSpPr>
              <a:spLocks noGrp="1"/>
            </p:cNvSpPr>
            <p:nvPr/>
          </p:nvSpPr>
          <p:spPr>
            <a:xfrm>
              <a:off x="4749" y="9829"/>
              <a:ext cx="124" cy="124"/>
            </a:xfrm>
            <a:prstGeom prst="rect">
              <a:avLst/>
            </a:prstGeom>
            <a:solidFill>
              <a:srgbClr val="9FB4C4"/>
            </a:solidFill>
            <a:ln w="6191">
              <a:solidFill>
                <a:srgbClr val="FFFFFF"/>
              </a:solidFill>
            </a:ln>
          </p:spPr>
        </p:sp>
        <p:sp>
          <p:nvSpPr>
            <p:cNvPr id="1107" name="rsa_v4_104"/>
            <p:cNvSpPr>
              <a:spLocks noGrp="1"/>
            </p:cNvSpPr>
            <p:nvPr/>
          </p:nvSpPr>
          <p:spPr>
            <a:xfrm>
              <a:off x="4873" y="9829"/>
              <a:ext cx="124" cy="124"/>
            </a:xfrm>
            <a:prstGeom prst="rect">
              <a:avLst/>
            </a:prstGeom>
            <a:solidFill>
              <a:srgbClr val="7694AC"/>
            </a:solidFill>
            <a:ln w="6191">
              <a:solidFill>
                <a:srgbClr val="FFFFFF"/>
              </a:solidFill>
            </a:ln>
          </p:spPr>
        </p:sp>
        <p:sp>
          <p:nvSpPr>
            <p:cNvPr id="1108" name="rsa_v4_105"/>
            <p:cNvSpPr>
              <a:spLocks noGrp="1"/>
            </p:cNvSpPr>
            <p:nvPr/>
          </p:nvSpPr>
          <p:spPr>
            <a:xfrm>
              <a:off x="4378" y="9953"/>
              <a:ext cx="124" cy="124"/>
            </a:xfrm>
            <a:prstGeom prst="rect">
              <a:avLst/>
            </a:prstGeom>
            <a:solidFill>
              <a:srgbClr val="AFC0CD"/>
            </a:solidFill>
            <a:ln w="6191">
              <a:solidFill>
                <a:srgbClr val="FFFFFF"/>
              </a:solidFill>
            </a:ln>
          </p:spPr>
        </p:sp>
        <p:sp>
          <p:nvSpPr>
            <p:cNvPr id="1109" name="rsa_v4_106"/>
            <p:cNvSpPr>
              <a:spLocks noGrp="1"/>
            </p:cNvSpPr>
            <p:nvPr/>
          </p:nvSpPr>
          <p:spPr>
            <a:xfrm>
              <a:off x="4501" y="9953"/>
              <a:ext cx="124" cy="124"/>
            </a:xfrm>
            <a:prstGeom prst="rect">
              <a:avLst/>
            </a:prstGeom>
            <a:solidFill>
              <a:srgbClr val="C8D3DC"/>
            </a:solidFill>
            <a:ln w="6191">
              <a:solidFill>
                <a:srgbClr val="FFFFFF"/>
              </a:solidFill>
            </a:ln>
          </p:spPr>
        </p:sp>
        <p:sp>
          <p:nvSpPr>
            <p:cNvPr id="1110" name="rsa_v4_107"/>
            <p:cNvSpPr>
              <a:spLocks noGrp="1"/>
            </p:cNvSpPr>
            <p:nvPr/>
          </p:nvSpPr>
          <p:spPr>
            <a:xfrm>
              <a:off x="4625" y="9953"/>
              <a:ext cx="124" cy="124"/>
            </a:xfrm>
            <a:prstGeom prst="rect">
              <a:avLst/>
            </a:prstGeom>
            <a:solidFill>
              <a:srgbClr val="FAFAFA"/>
            </a:solidFill>
            <a:ln w="6191">
              <a:solidFill>
                <a:srgbClr val="FFFFFF"/>
              </a:solidFill>
            </a:ln>
          </p:spPr>
        </p:sp>
        <p:sp>
          <p:nvSpPr>
            <p:cNvPr id="1111" name="rsa_v4_108"/>
            <p:cNvSpPr>
              <a:spLocks noGrp="1"/>
            </p:cNvSpPr>
            <p:nvPr/>
          </p:nvSpPr>
          <p:spPr>
            <a:xfrm>
              <a:off x="4749" y="9953"/>
              <a:ext cx="124" cy="124"/>
            </a:xfrm>
            <a:prstGeom prst="rect">
              <a:avLst/>
            </a:prstGeom>
            <a:solidFill>
              <a:srgbClr val="D1DBE2"/>
            </a:solidFill>
            <a:ln w="6191">
              <a:solidFill>
                <a:srgbClr val="FFFFFF"/>
              </a:solidFill>
            </a:ln>
          </p:spPr>
        </p:sp>
        <p:sp>
          <p:nvSpPr>
            <p:cNvPr id="1112" name="rsa_v4_109"/>
            <p:cNvSpPr>
              <a:spLocks noGrp="1"/>
            </p:cNvSpPr>
            <p:nvPr/>
          </p:nvSpPr>
          <p:spPr>
            <a:xfrm>
              <a:off x="4873" y="9953"/>
              <a:ext cx="124" cy="124"/>
            </a:xfrm>
            <a:prstGeom prst="rect">
              <a:avLst/>
            </a:prstGeom>
            <a:solidFill>
              <a:srgbClr val="A8BBCA"/>
            </a:solidFill>
            <a:ln w="6191">
              <a:solidFill>
                <a:srgbClr val="FFFFFF"/>
              </a:solidFill>
            </a:ln>
          </p:spPr>
        </p:sp>
        <p:sp>
          <p:nvSpPr>
            <p:cNvPr id="1113" name="rsa_v4_110"/>
            <p:cNvSpPr>
              <a:spLocks noGrp="1"/>
            </p:cNvSpPr>
            <p:nvPr/>
          </p:nvSpPr>
          <p:spPr>
            <a:xfrm>
              <a:off x="4378" y="10077"/>
              <a:ext cx="124" cy="124"/>
            </a:xfrm>
            <a:prstGeom prst="rect">
              <a:avLst/>
            </a:prstGeom>
            <a:solidFill>
              <a:srgbClr val="86A0B5"/>
            </a:solidFill>
            <a:ln w="6191">
              <a:solidFill>
                <a:srgbClr val="FFFFFF"/>
              </a:solidFill>
            </a:ln>
          </p:spPr>
        </p:sp>
        <p:sp>
          <p:nvSpPr>
            <p:cNvPr id="1114" name="rsa_v4_111"/>
            <p:cNvSpPr>
              <a:spLocks noGrp="1"/>
            </p:cNvSpPr>
            <p:nvPr/>
          </p:nvSpPr>
          <p:spPr>
            <a:xfrm>
              <a:off x="4501" y="10077"/>
              <a:ext cx="124" cy="124"/>
            </a:xfrm>
            <a:prstGeom prst="rect">
              <a:avLst/>
            </a:prstGeom>
            <a:solidFill>
              <a:srgbClr val="9FB4C4"/>
            </a:solidFill>
            <a:ln w="6191">
              <a:solidFill>
                <a:srgbClr val="FFFFFF"/>
              </a:solidFill>
            </a:ln>
          </p:spPr>
        </p:sp>
        <p:sp>
          <p:nvSpPr>
            <p:cNvPr id="1115" name="rsa_v4_112"/>
            <p:cNvSpPr>
              <a:spLocks noGrp="1"/>
            </p:cNvSpPr>
            <p:nvPr/>
          </p:nvSpPr>
          <p:spPr>
            <a:xfrm>
              <a:off x="4625" y="10077"/>
              <a:ext cx="124" cy="124"/>
            </a:xfrm>
            <a:prstGeom prst="rect">
              <a:avLst/>
            </a:prstGeom>
            <a:solidFill>
              <a:srgbClr val="D1DBE2"/>
            </a:solidFill>
            <a:ln w="6191">
              <a:solidFill>
                <a:srgbClr val="FFFFFF"/>
              </a:solidFill>
            </a:ln>
          </p:spPr>
        </p:sp>
        <p:sp>
          <p:nvSpPr>
            <p:cNvPr id="1116" name="rsa_v4_113"/>
            <p:cNvSpPr>
              <a:spLocks noGrp="1"/>
            </p:cNvSpPr>
            <p:nvPr/>
          </p:nvSpPr>
          <p:spPr>
            <a:xfrm>
              <a:off x="4749" y="10077"/>
              <a:ext cx="124" cy="124"/>
            </a:xfrm>
            <a:prstGeom prst="rect">
              <a:avLst/>
            </a:prstGeom>
            <a:solidFill>
              <a:srgbClr val="FAFAFA"/>
            </a:solidFill>
            <a:ln w="6191">
              <a:solidFill>
                <a:srgbClr val="FFFFFF"/>
              </a:solidFill>
            </a:ln>
          </p:spPr>
        </p:sp>
        <p:sp>
          <p:nvSpPr>
            <p:cNvPr id="1117" name="rsa_v4_114"/>
            <p:cNvSpPr>
              <a:spLocks noGrp="1"/>
            </p:cNvSpPr>
            <p:nvPr/>
          </p:nvSpPr>
          <p:spPr>
            <a:xfrm>
              <a:off x="4873" y="10077"/>
              <a:ext cx="124" cy="124"/>
            </a:xfrm>
            <a:prstGeom prst="rect">
              <a:avLst/>
            </a:prstGeom>
            <a:solidFill>
              <a:srgbClr val="D1DBE2"/>
            </a:solidFill>
            <a:ln w="6191">
              <a:solidFill>
                <a:srgbClr val="FFFFFF"/>
              </a:solidFill>
            </a:ln>
          </p:spPr>
        </p:sp>
        <p:sp>
          <p:nvSpPr>
            <p:cNvPr id="1118" name="rsa_v4_115"/>
            <p:cNvSpPr>
              <a:spLocks noGrp="1"/>
            </p:cNvSpPr>
            <p:nvPr/>
          </p:nvSpPr>
          <p:spPr>
            <a:xfrm>
              <a:off x="4378" y="10201"/>
              <a:ext cx="124" cy="124"/>
            </a:xfrm>
            <a:prstGeom prst="rect">
              <a:avLst/>
            </a:prstGeom>
            <a:solidFill>
              <a:srgbClr val="5D819D"/>
            </a:solidFill>
            <a:ln w="6191">
              <a:solidFill>
                <a:srgbClr val="FFFFFF"/>
              </a:solidFill>
            </a:ln>
          </p:spPr>
        </p:sp>
        <p:sp>
          <p:nvSpPr>
            <p:cNvPr id="1119" name="rsa_v4_116"/>
            <p:cNvSpPr>
              <a:spLocks noGrp="1"/>
            </p:cNvSpPr>
            <p:nvPr/>
          </p:nvSpPr>
          <p:spPr>
            <a:xfrm>
              <a:off x="4501" y="10201"/>
              <a:ext cx="124" cy="124"/>
            </a:xfrm>
            <a:prstGeom prst="rect">
              <a:avLst/>
            </a:prstGeom>
            <a:solidFill>
              <a:srgbClr val="7694AC"/>
            </a:solidFill>
            <a:ln w="6191">
              <a:solidFill>
                <a:srgbClr val="FFFFFF"/>
              </a:solidFill>
            </a:ln>
          </p:spPr>
        </p:sp>
        <p:sp>
          <p:nvSpPr>
            <p:cNvPr id="1120" name="rsa_v4_117"/>
            <p:cNvSpPr>
              <a:spLocks noGrp="1"/>
            </p:cNvSpPr>
            <p:nvPr/>
          </p:nvSpPr>
          <p:spPr>
            <a:xfrm>
              <a:off x="4625" y="10201"/>
              <a:ext cx="124" cy="124"/>
            </a:xfrm>
            <a:prstGeom prst="rect">
              <a:avLst/>
            </a:prstGeom>
            <a:solidFill>
              <a:srgbClr val="A8BBCA"/>
            </a:solidFill>
            <a:ln w="6191">
              <a:solidFill>
                <a:srgbClr val="FFFFFF"/>
              </a:solidFill>
            </a:ln>
          </p:spPr>
        </p:sp>
        <p:sp>
          <p:nvSpPr>
            <p:cNvPr id="1121" name="rsa_v4_118"/>
            <p:cNvSpPr>
              <a:spLocks noGrp="1"/>
            </p:cNvSpPr>
            <p:nvPr/>
          </p:nvSpPr>
          <p:spPr>
            <a:xfrm>
              <a:off x="4749" y="10201"/>
              <a:ext cx="124" cy="124"/>
            </a:xfrm>
            <a:prstGeom prst="rect">
              <a:avLst/>
            </a:prstGeom>
            <a:solidFill>
              <a:srgbClr val="D1DBE2"/>
            </a:solidFill>
            <a:ln w="6191">
              <a:solidFill>
                <a:srgbClr val="FFFFFF"/>
              </a:solidFill>
            </a:ln>
          </p:spPr>
        </p:sp>
        <p:sp>
          <p:nvSpPr>
            <p:cNvPr id="1122" name="rsa_v4_119"/>
            <p:cNvSpPr>
              <a:spLocks noGrp="1"/>
            </p:cNvSpPr>
            <p:nvPr/>
          </p:nvSpPr>
          <p:spPr>
            <a:xfrm>
              <a:off x="4873" y="10201"/>
              <a:ext cx="124" cy="124"/>
            </a:xfrm>
            <a:prstGeom prst="rect">
              <a:avLst/>
            </a:prstGeom>
            <a:solidFill>
              <a:srgbClr val="FAFAFA"/>
            </a:solidFill>
            <a:ln w="6191">
              <a:solidFill>
                <a:srgbClr val="FFFFFF"/>
              </a:solidFill>
            </a:ln>
          </p:spPr>
        </p:sp>
        <p:sp>
          <p:nvSpPr>
            <p:cNvPr id="1129" name="rsa_v4_126"/>
            <p:cNvSpPr>
              <a:spLocks noGrp="1"/>
            </p:cNvSpPr>
            <p:nvPr/>
          </p:nvSpPr>
          <p:spPr>
            <a:xfrm>
              <a:off x="5112" y="10008"/>
              <a:ext cx="1" cy="1"/>
            </a:xfrm>
            <a:prstGeom prst="rect">
              <a:avLst/>
            </a:prstGeom>
            <a:noFill/>
            <a:ln w="0">
              <a:noFill/>
            </a:ln>
          </p:spPr>
        </p:sp>
      </p:grpSp>
      <p:sp>
        <p:nvSpPr>
          <p:cNvPr id="1130" name="rsa_v4_127"/>
          <p:cNvSpPr>
            <a:spLocks noGrp="1"/>
          </p:cNvSpPr>
          <p:nvPr/>
        </p:nvSpPr>
        <p:spPr>
          <a:xfrm>
            <a:off x="3584448" y="6355080"/>
            <a:ext cx="914" cy="914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131" name="直接箭头连接符 1130"/>
          <p:cNvCxnSpPr>
            <a:stCxn id="1129" idx="3"/>
            <a:endCxn id="1130" idx="1"/>
          </p:cNvCxnSpPr>
          <p:nvPr/>
        </p:nvCxnSpPr>
        <p:spPr>
          <a:xfrm>
            <a:off x="3277514" y="6354267"/>
            <a:ext cx="307340" cy="1270"/>
          </a:xfrm>
          <a:prstGeom prst="straightConnector1">
            <a:avLst/>
          </a:prstGeom>
          <a:ln w="11430">
            <a:solidFill>
              <a:srgbClr val="AAAAAA"/>
            </a:solidFill>
            <a:tailEnd type="triangle" w="sm" len="sm"/>
          </a:ln>
        </p:spPr>
      </p:cxnSp>
      <p:sp>
        <p:nvSpPr>
          <p:cNvPr id="1132" name="rsa_v4_128"/>
          <p:cNvSpPr>
            <a:spLocks noGrp="1"/>
          </p:cNvSpPr>
          <p:nvPr/>
        </p:nvSpPr>
        <p:spPr>
          <a:xfrm>
            <a:off x="5120640" y="6355080"/>
            <a:ext cx="914" cy="914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133" name="rsa_v4_129"/>
          <p:cNvSpPr>
            <a:spLocks noGrp="1"/>
          </p:cNvSpPr>
          <p:nvPr/>
        </p:nvSpPr>
        <p:spPr>
          <a:xfrm>
            <a:off x="4590288" y="6355080"/>
            <a:ext cx="914" cy="914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134" name="直接箭头连接符 1133"/>
          <p:cNvCxnSpPr>
            <a:stCxn id="1132" idx="3"/>
            <a:endCxn id="1133" idx="1"/>
          </p:cNvCxnSpPr>
          <p:nvPr/>
        </p:nvCxnSpPr>
        <p:spPr>
          <a:xfrm flipH="1">
            <a:off x="4590694" y="6355537"/>
            <a:ext cx="530860" cy="0"/>
          </a:xfrm>
          <a:prstGeom prst="straightConnector1">
            <a:avLst/>
          </a:prstGeom>
          <a:ln w="11430">
            <a:solidFill>
              <a:srgbClr val="AAAAAA"/>
            </a:solidFill>
            <a:tailEnd type="triangle" w="sm" len="sm"/>
          </a:ln>
        </p:spPr>
      </p:cxnSp>
      <p:sp>
        <p:nvSpPr>
          <p:cNvPr id="1135" name="rsa_v4_130"/>
          <p:cNvSpPr>
            <a:spLocks noGrp="1"/>
          </p:cNvSpPr>
          <p:nvPr/>
        </p:nvSpPr>
        <p:spPr>
          <a:xfrm>
            <a:off x="4519930" y="5880989"/>
            <a:ext cx="484632" cy="128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5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5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Value</a:t>
            </a:r>
            <a:endParaRPr sz="650"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36" name="rsa_v4_131"/>
          <p:cNvSpPr>
            <a:spLocks noGrp="1"/>
          </p:cNvSpPr>
          <p:nvPr/>
        </p:nvSpPr>
        <p:spPr>
          <a:xfrm>
            <a:off x="5068570" y="5880989"/>
            <a:ext cx="484632" cy="128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5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5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Self-ref.</a:t>
            </a:r>
            <a:endParaRPr sz="650"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37" name="rsa_v4_132"/>
          <p:cNvSpPr>
            <a:spLocks noGrp="1"/>
          </p:cNvSpPr>
          <p:nvPr/>
        </p:nvSpPr>
        <p:spPr>
          <a:xfrm>
            <a:off x="5598922" y="5880989"/>
            <a:ext cx="548640" cy="128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5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5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Mentalizing</a:t>
            </a:r>
            <a:endParaRPr sz="650" b="0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38" name="rsa_v4_133"/>
          <p:cNvSpPr>
            <a:spLocks noGrp="1"/>
          </p:cNvSpPr>
          <p:nvPr/>
        </p:nvSpPr>
        <p:spPr>
          <a:xfrm>
            <a:off x="4510786" y="5964682"/>
            <a:ext cx="1627632" cy="128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4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4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ROI / 6-mm searchlight patterns</a:t>
            </a:r>
            <a:endParaRPr sz="64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1" name="组合 0"/>
          <p:cNvGrpSpPr/>
          <p:nvPr/>
        </p:nvGrpSpPr>
        <p:grpSpPr>
          <a:xfrm>
            <a:off x="5252720" y="6159116"/>
            <a:ext cx="408305" cy="398780"/>
            <a:chOff x="8385" y="9696"/>
            <a:chExt cx="490" cy="489"/>
          </a:xfrm>
        </p:grpSpPr>
        <p:sp>
          <p:nvSpPr>
            <p:cNvPr id="1139" name="rsa_v4_134"/>
            <p:cNvSpPr>
              <a:spLocks noGrp="1"/>
            </p:cNvSpPr>
            <p:nvPr/>
          </p:nvSpPr>
          <p:spPr>
            <a:xfrm>
              <a:off x="8385" y="9696"/>
              <a:ext cx="98" cy="98"/>
            </a:xfrm>
            <a:prstGeom prst="rect">
              <a:avLst/>
            </a:prstGeom>
            <a:solidFill>
              <a:srgbClr val="FAFAFA"/>
            </a:solidFill>
            <a:ln w="6191">
              <a:solidFill>
                <a:srgbClr val="FFFFFF"/>
              </a:solidFill>
            </a:ln>
          </p:spPr>
        </p:sp>
        <p:sp>
          <p:nvSpPr>
            <p:cNvPr id="1140" name="rsa_v4_135"/>
            <p:cNvSpPr>
              <a:spLocks noGrp="1"/>
            </p:cNvSpPr>
            <p:nvPr/>
          </p:nvSpPr>
          <p:spPr>
            <a:xfrm>
              <a:off x="8483" y="9696"/>
              <a:ext cx="98" cy="98"/>
            </a:xfrm>
            <a:prstGeom prst="rect">
              <a:avLst/>
            </a:prstGeom>
            <a:solidFill>
              <a:srgbClr val="BFC6BA"/>
            </a:solidFill>
            <a:ln w="6191">
              <a:solidFill>
                <a:srgbClr val="FFFFFF"/>
              </a:solidFill>
            </a:ln>
          </p:spPr>
        </p:sp>
        <p:sp>
          <p:nvSpPr>
            <p:cNvPr id="1141" name="rsa_v4_136"/>
            <p:cNvSpPr>
              <a:spLocks noGrp="1"/>
            </p:cNvSpPr>
            <p:nvPr/>
          </p:nvSpPr>
          <p:spPr>
            <a:xfrm>
              <a:off x="8581" y="9696"/>
              <a:ext cx="98" cy="98"/>
            </a:xfrm>
            <a:prstGeom prst="rect">
              <a:avLst/>
            </a:prstGeom>
            <a:solidFill>
              <a:srgbClr val="E6E9E5"/>
            </a:solidFill>
            <a:ln w="6191">
              <a:solidFill>
                <a:srgbClr val="FFFFFF"/>
              </a:solidFill>
            </a:ln>
          </p:spPr>
        </p:sp>
        <p:sp>
          <p:nvSpPr>
            <p:cNvPr id="1142" name="rsa_v4_137"/>
            <p:cNvSpPr>
              <a:spLocks noGrp="1"/>
            </p:cNvSpPr>
            <p:nvPr/>
          </p:nvSpPr>
          <p:spPr>
            <a:xfrm>
              <a:off x="8679" y="9696"/>
              <a:ext cx="98" cy="98"/>
            </a:xfrm>
            <a:prstGeom prst="rect">
              <a:avLst/>
            </a:prstGeom>
            <a:solidFill>
              <a:srgbClr val="7F8D74"/>
            </a:solidFill>
            <a:ln w="6191">
              <a:solidFill>
                <a:srgbClr val="FFFFFF"/>
              </a:solidFill>
            </a:ln>
          </p:spPr>
        </p:sp>
        <p:sp>
          <p:nvSpPr>
            <p:cNvPr id="1143" name="rsa_v4_138"/>
            <p:cNvSpPr>
              <a:spLocks noGrp="1"/>
            </p:cNvSpPr>
            <p:nvPr/>
          </p:nvSpPr>
          <p:spPr>
            <a:xfrm>
              <a:off x="8777" y="9696"/>
              <a:ext cx="98" cy="98"/>
            </a:xfrm>
            <a:prstGeom prst="rect">
              <a:avLst/>
            </a:prstGeom>
            <a:solidFill>
              <a:srgbClr val="9FA997"/>
            </a:solidFill>
            <a:ln w="6191">
              <a:solidFill>
                <a:srgbClr val="FFFFFF"/>
              </a:solidFill>
            </a:ln>
          </p:spPr>
        </p:sp>
        <p:sp>
          <p:nvSpPr>
            <p:cNvPr id="1144" name="rsa_v4_139"/>
            <p:cNvSpPr>
              <a:spLocks noGrp="1"/>
            </p:cNvSpPr>
            <p:nvPr/>
          </p:nvSpPr>
          <p:spPr>
            <a:xfrm>
              <a:off x="8385" y="9794"/>
              <a:ext cx="98" cy="98"/>
            </a:xfrm>
            <a:prstGeom prst="rect">
              <a:avLst/>
            </a:prstGeom>
            <a:solidFill>
              <a:srgbClr val="BFC6BA"/>
            </a:solidFill>
            <a:ln w="6191">
              <a:solidFill>
                <a:srgbClr val="FFFFFF"/>
              </a:solidFill>
            </a:ln>
          </p:spPr>
        </p:sp>
        <p:sp>
          <p:nvSpPr>
            <p:cNvPr id="1145" name="rsa_v4_140"/>
            <p:cNvSpPr>
              <a:spLocks noGrp="1"/>
            </p:cNvSpPr>
            <p:nvPr/>
          </p:nvSpPr>
          <p:spPr>
            <a:xfrm>
              <a:off x="8483" y="9794"/>
              <a:ext cx="98" cy="98"/>
            </a:xfrm>
            <a:prstGeom prst="rect">
              <a:avLst/>
            </a:prstGeom>
            <a:solidFill>
              <a:srgbClr val="FAFAFA"/>
            </a:solidFill>
            <a:ln w="6191">
              <a:solidFill>
                <a:srgbClr val="FFFFFF"/>
              </a:solidFill>
            </a:ln>
          </p:spPr>
        </p:sp>
        <p:sp>
          <p:nvSpPr>
            <p:cNvPr id="1146" name="rsa_v4_141"/>
            <p:cNvSpPr>
              <a:spLocks noGrp="1"/>
            </p:cNvSpPr>
            <p:nvPr/>
          </p:nvSpPr>
          <p:spPr>
            <a:xfrm>
              <a:off x="8581" y="9794"/>
              <a:ext cx="98" cy="98"/>
            </a:xfrm>
            <a:prstGeom prst="rect">
              <a:avLst/>
            </a:prstGeom>
            <a:solidFill>
              <a:srgbClr val="D3D7CF"/>
            </a:solidFill>
            <a:ln w="6191">
              <a:solidFill>
                <a:srgbClr val="FFFFFF"/>
              </a:solidFill>
            </a:ln>
          </p:spPr>
        </p:sp>
        <p:sp>
          <p:nvSpPr>
            <p:cNvPr id="1147" name="rsa_v4_142"/>
            <p:cNvSpPr>
              <a:spLocks noGrp="1"/>
            </p:cNvSpPr>
            <p:nvPr/>
          </p:nvSpPr>
          <p:spPr>
            <a:xfrm>
              <a:off x="8679" y="9794"/>
              <a:ext cx="98" cy="98"/>
            </a:xfrm>
            <a:prstGeom prst="rect">
              <a:avLst/>
            </a:prstGeom>
            <a:solidFill>
              <a:srgbClr val="BAC1B4"/>
            </a:solidFill>
            <a:ln w="6191">
              <a:solidFill>
                <a:srgbClr val="FFFFFF"/>
              </a:solidFill>
            </a:ln>
          </p:spPr>
        </p:sp>
        <p:sp>
          <p:nvSpPr>
            <p:cNvPr id="1148" name="rsa_v4_143"/>
            <p:cNvSpPr>
              <a:spLocks noGrp="1"/>
            </p:cNvSpPr>
            <p:nvPr/>
          </p:nvSpPr>
          <p:spPr>
            <a:xfrm>
              <a:off x="8777" y="9794"/>
              <a:ext cx="98" cy="98"/>
            </a:xfrm>
            <a:prstGeom prst="rect">
              <a:avLst/>
            </a:prstGeom>
            <a:solidFill>
              <a:srgbClr val="DADED7"/>
            </a:solidFill>
            <a:ln w="6191">
              <a:solidFill>
                <a:srgbClr val="FFFFFF"/>
              </a:solidFill>
            </a:ln>
          </p:spPr>
        </p:sp>
        <p:sp>
          <p:nvSpPr>
            <p:cNvPr id="1149" name="rsa_v4_144"/>
            <p:cNvSpPr>
              <a:spLocks noGrp="1"/>
            </p:cNvSpPr>
            <p:nvPr/>
          </p:nvSpPr>
          <p:spPr>
            <a:xfrm>
              <a:off x="8385" y="9891"/>
              <a:ext cx="98" cy="98"/>
            </a:xfrm>
            <a:prstGeom prst="rect">
              <a:avLst/>
            </a:prstGeom>
            <a:solidFill>
              <a:srgbClr val="E6E9E5"/>
            </a:solidFill>
            <a:ln w="6191">
              <a:solidFill>
                <a:srgbClr val="FFFFFF"/>
              </a:solidFill>
            </a:ln>
          </p:spPr>
        </p:sp>
        <p:sp>
          <p:nvSpPr>
            <p:cNvPr id="1150" name="rsa_v4_145"/>
            <p:cNvSpPr>
              <a:spLocks noGrp="1"/>
            </p:cNvSpPr>
            <p:nvPr/>
          </p:nvSpPr>
          <p:spPr>
            <a:xfrm>
              <a:off x="8483" y="9891"/>
              <a:ext cx="98" cy="98"/>
            </a:xfrm>
            <a:prstGeom prst="rect">
              <a:avLst/>
            </a:prstGeom>
            <a:solidFill>
              <a:srgbClr val="D3D7CF"/>
            </a:solidFill>
            <a:ln w="6191">
              <a:solidFill>
                <a:srgbClr val="FFFFFF"/>
              </a:solidFill>
            </a:ln>
          </p:spPr>
        </p:sp>
        <p:sp>
          <p:nvSpPr>
            <p:cNvPr id="1151" name="rsa_v4_146"/>
            <p:cNvSpPr>
              <a:spLocks noGrp="1"/>
            </p:cNvSpPr>
            <p:nvPr/>
          </p:nvSpPr>
          <p:spPr>
            <a:xfrm>
              <a:off x="8581" y="9891"/>
              <a:ext cx="98" cy="98"/>
            </a:xfrm>
            <a:prstGeom prst="rect">
              <a:avLst/>
            </a:prstGeom>
            <a:solidFill>
              <a:srgbClr val="FAFAFA"/>
            </a:solidFill>
            <a:ln w="6191">
              <a:solidFill>
                <a:srgbClr val="FFFFFF"/>
              </a:solidFill>
            </a:ln>
          </p:spPr>
        </p:sp>
        <p:sp>
          <p:nvSpPr>
            <p:cNvPr id="1152" name="rsa_v4_147"/>
            <p:cNvSpPr>
              <a:spLocks noGrp="1"/>
            </p:cNvSpPr>
            <p:nvPr/>
          </p:nvSpPr>
          <p:spPr>
            <a:xfrm>
              <a:off x="8679" y="9891"/>
              <a:ext cx="98" cy="98"/>
            </a:xfrm>
            <a:prstGeom prst="rect">
              <a:avLst/>
            </a:prstGeom>
            <a:solidFill>
              <a:srgbClr val="939E89"/>
            </a:solidFill>
            <a:ln w="6191">
              <a:solidFill>
                <a:srgbClr val="FFFFFF"/>
              </a:solidFill>
            </a:ln>
          </p:spPr>
        </p:sp>
        <p:sp>
          <p:nvSpPr>
            <p:cNvPr id="1153" name="rsa_v4_148"/>
            <p:cNvSpPr>
              <a:spLocks noGrp="1"/>
            </p:cNvSpPr>
            <p:nvPr/>
          </p:nvSpPr>
          <p:spPr>
            <a:xfrm>
              <a:off x="8777" y="9891"/>
              <a:ext cx="98" cy="98"/>
            </a:xfrm>
            <a:prstGeom prst="rect">
              <a:avLst/>
            </a:prstGeom>
            <a:solidFill>
              <a:srgbClr val="B3BBAC"/>
            </a:solidFill>
            <a:ln w="6191">
              <a:solidFill>
                <a:srgbClr val="FFFFFF"/>
              </a:solidFill>
            </a:ln>
          </p:spPr>
        </p:sp>
        <p:sp>
          <p:nvSpPr>
            <p:cNvPr id="1154" name="rsa_v4_149"/>
            <p:cNvSpPr>
              <a:spLocks noGrp="1"/>
            </p:cNvSpPr>
            <p:nvPr/>
          </p:nvSpPr>
          <p:spPr>
            <a:xfrm>
              <a:off x="8385" y="9989"/>
              <a:ext cx="98" cy="98"/>
            </a:xfrm>
            <a:prstGeom prst="rect">
              <a:avLst/>
            </a:prstGeom>
            <a:solidFill>
              <a:srgbClr val="7F8D74"/>
            </a:solidFill>
            <a:ln w="6191">
              <a:solidFill>
                <a:srgbClr val="FFFFFF"/>
              </a:solidFill>
            </a:ln>
          </p:spPr>
        </p:sp>
        <p:sp>
          <p:nvSpPr>
            <p:cNvPr id="1155" name="rsa_v4_150"/>
            <p:cNvSpPr>
              <a:spLocks noGrp="1"/>
            </p:cNvSpPr>
            <p:nvPr/>
          </p:nvSpPr>
          <p:spPr>
            <a:xfrm>
              <a:off x="8483" y="9989"/>
              <a:ext cx="98" cy="98"/>
            </a:xfrm>
            <a:prstGeom prst="rect">
              <a:avLst/>
            </a:prstGeom>
            <a:solidFill>
              <a:srgbClr val="BAC1B4"/>
            </a:solidFill>
            <a:ln w="6191">
              <a:solidFill>
                <a:srgbClr val="FFFFFF"/>
              </a:solidFill>
            </a:ln>
          </p:spPr>
        </p:sp>
        <p:sp>
          <p:nvSpPr>
            <p:cNvPr id="1156" name="rsa_v4_151"/>
            <p:cNvSpPr>
              <a:spLocks noGrp="1"/>
            </p:cNvSpPr>
            <p:nvPr/>
          </p:nvSpPr>
          <p:spPr>
            <a:xfrm>
              <a:off x="8581" y="9989"/>
              <a:ext cx="98" cy="98"/>
            </a:xfrm>
            <a:prstGeom prst="rect">
              <a:avLst/>
            </a:prstGeom>
            <a:solidFill>
              <a:srgbClr val="939E89"/>
            </a:solidFill>
            <a:ln w="6191">
              <a:solidFill>
                <a:srgbClr val="FFFFFF"/>
              </a:solidFill>
            </a:ln>
          </p:spPr>
        </p:sp>
        <p:sp>
          <p:nvSpPr>
            <p:cNvPr id="1157" name="rsa_v4_152"/>
            <p:cNvSpPr>
              <a:spLocks noGrp="1"/>
            </p:cNvSpPr>
            <p:nvPr/>
          </p:nvSpPr>
          <p:spPr>
            <a:xfrm>
              <a:off x="8679" y="9989"/>
              <a:ext cx="98" cy="98"/>
            </a:xfrm>
            <a:prstGeom prst="rect">
              <a:avLst/>
            </a:prstGeom>
            <a:solidFill>
              <a:srgbClr val="FAFAFA"/>
            </a:solidFill>
            <a:ln w="6191">
              <a:solidFill>
                <a:srgbClr val="FFFFFF"/>
              </a:solidFill>
            </a:ln>
          </p:spPr>
        </p:sp>
        <p:sp>
          <p:nvSpPr>
            <p:cNvPr id="1158" name="rsa_v4_153"/>
            <p:cNvSpPr>
              <a:spLocks noGrp="1"/>
            </p:cNvSpPr>
            <p:nvPr/>
          </p:nvSpPr>
          <p:spPr>
            <a:xfrm>
              <a:off x="8777" y="9989"/>
              <a:ext cx="98" cy="98"/>
            </a:xfrm>
            <a:prstGeom prst="rect">
              <a:avLst/>
            </a:prstGeom>
            <a:solidFill>
              <a:srgbClr val="DADED7"/>
            </a:solidFill>
            <a:ln w="6191">
              <a:solidFill>
                <a:srgbClr val="FFFFFF"/>
              </a:solidFill>
            </a:ln>
          </p:spPr>
        </p:sp>
        <p:sp>
          <p:nvSpPr>
            <p:cNvPr id="1159" name="rsa_v4_154"/>
            <p:cNvSpPr>
              <a:spLocks noGrp="1"/>
            </p:cNvSpPr>
            <p:nvPr/>
          </p:nvSpPr>
          <p:spPr>
            <a:xfrm>
              <a:off x="8385" y="10087"/>
              <a:ext cx="98" cy="98"/>
            </a:xfrm>
            <a:prstGeom prst="rect">
              <a:avLst/>
            </a:prstGeom>
            <a:solidFill>
              <a:srgbClr val="9FA997"/>
            </a:solidFill>
            <a:ln w="6191">
              <a:solidFill>
                <a:srgbClr val="FFFFFF"/>
              </a:solidFill>
            </a:ln>
          </p:spPr>
        </p:sp>
        <p:sp>
          <p:nvSpPr>
            <p:cNvPr id="1160" name="rsa_v4_155"/>
            <p:cNvSpPr>
              <a:spLocks noGrp="1"/>
            </p:cNvSpPr>
            <p:nvPr/>
          </p:nvSpPr>
          <p:spPr>
            <a:xfrm>
              <a:off x="8483" y="10087"/>
              <a:ext cx="98" cy="98"/>
            </a:xfrm>
            <a:prstGeom prst="rect">
              <a:avLst/>
            </a:prstGeom>
            <a:solidFill>
              <a:srgbClr val="DADED7"/>
            </a:solidFill>
            <a:ln w="6191">
              <a:solidFill>
                <a:srgbClr val="FFFFFF"/>
              </a:solidFill>
            </a:ln>
          </p:spPr>
        </p:sp>
        <p:sp>
          <p:nvSpPr>
            <p:cNvPr id="1161" name="rsa_v4_156"/>
            <p:cNvSpPr>
              <a:spLocks noGrp="1"/>
            </p:cNvSpPr>
            <p:nvPr/>
          </p:nvSpPr>
          <p:spPr>
            <a:xfrm>
              <a:off x="8581" y="10087"/>
              <a:ext cx="98" cy="98"/>
            </a:xfrm>
            <a:prstGeom prst="rect">
              <a:avLst/>
            </a:prstGeom>
            <a:solidFill>
              <a:srgbClr val="B3BBAC"/>
            </a:solidFill>
            <a:ln w="6191">
              <a:solidFill>
                <a:srgbClr val="FFFFFF"/>
              </a:solidFill>
            </a:ln>
          </p:spPr>
        </p:sp>
        <p:sp>
          <p:nvSpPr>
            <p:cNvPr id="1162" name="rsa_v4_157"/>
            <p:cNvSpPr>
              <a:spLocks noGrp="1"/>
            </p:cNvSpPr>
            <p:nvPr/>
          </p:nvSpPr>
          <p:spPr>
            <a:xfrm>
              <a:off x="8679" y="10087"/>
              <a:ext cx="98" cy="98"/>
            </a:xfrm>
            <a:prstGeom prst="rect">
              <a:avLst/>
            </a:prstGeom>
            <a:solidFill>
              <a:srgbClr val="DADED7"/>
            </a:solidFill>
            <a:ln w="6191">
              <a:solidFill>
                <a:srgbClr val="FFFFFF"/>
              </a:solidFill>
            </a:ln>
          </p:spPr>
        </p:sp>
        <p:sp>
          <p:nvSpPr>
            <p:cNvPr id="1163" name="rsa_v4_158"/>
            <p:cNvSpPr>
              <a:spLocks noGrp="1"/>
            </p:cNvSpPr>
            <p:nvPr/>
          </p:nvSpPr>
          <p:spPr>
            <a:xfrm>
              <a:off x="8777" y="10087"/>
              <a:ext cx="98" cy="98"/>
            </a:xfrm>
            <a:prstGeom prst="rect">
              <a:avLst/>
            </a:prstGeom>
            <a:solidFill>
              <a:srgbClr val="FAFAFA"/>
            </a:solidFill>
            <a:ln w="6191">
              <a:solidFill>
                <a:srgbClr val="FFFFFF"/>
              </a:solidFill>
            </a:ln>
          </p:spPr>
        </p:sp>
      </p:grpSp>
      <p:sp>
        <p:nvSpPr>
          <p:cNvPr id="1164" name="rsa_v4_159"/>
          <p:cNvSpPr>
            <a:spLocks noGrp="1"/>
          </p:cNvSpPr>
          <p:nvPr/>
        </p:nvSpPr>
        <p:spPr>
          <a:xfrm>
            <a:off x="4689348" y="6597777"/>
            <a:ext cx="1536192" cy="128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50" b="0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0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Brain RDM</a:t>
            </a:r>
            <a:endParaRPr sz="800" b="1">
              <a:solidFill>
                <a:srgbClr val="16161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655060" y="6826885"/>
            <a:ext cx="2463800" cy="191770"/>
            <a:chOff x="5880" y="10646"/>
            <a:chExt cx="3880" cy="302"/>
          </a:xfrm>
        </p:grpSpPr>
        <p:sp>
          <p:nvSpPr>
            <p:cNvPr id="1165" name="rsa_v4_160"/>
            <p:cNvSpPr>
              <a:spLocks noGrp="1"/>
            </p:cNvSpPr>
            <p:nvPr/>
          </p:nvSpPr>
          <p:spPr>
            <a:xfrm>
              <a:off x="5880" y="10646"/>
              <a:ext cx="3881" cy="302"/>
            </a:xfrm>
            <a:prstGeom prst="roundRect">
              <a:avLst>
                <a:gd name="adj" fmla="val 14881"/>
              </a:avLst>
            </a:prstGeom>
            <a:solidFill>
              <a:srgbClr val="D9E1D3"/>
            </a:solidFill>
            <a:ln w="0">
              <a:noFill/>
            </a:ln>
          </p:spPr>
        </p:sp>
        <p:sp>
          <p:nvSpPr>
            <p:cNvPr id="1166" name="rsa_v4_161"/>
            <p:cNvSpPr>
              <a:spLocks noGrp="1"/>
            </p:cNvSpPr>
            <p:nvPr/>
          </p:nvSpPr>
          <p:spPr>
            <a:xfrm>
              <a:off x="6006" y="10667"/>
              <a:ext cx="3630" cy="2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>
                <a:defRPr sz="660" b="1">
                  <a:solidFill>
                    <a:srgbClr val="16161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660" b="1">
                  <a:solidFill>
                    <a:srgbClr val="16161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Raw </a:t>
              </a:r>
              <a:r>
                <a:rPr sz="660" b="0">
                  <a:solidFill>
                    <a:srgbClr val="16161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↔</a:t>
              </a:r>
              <a:r>
                <a:rPr sz="660" b="1">
                  <a:solidFill>
                    <a:srgbClr val="161616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Semantic-control · T−A / T−S</a:t>
              </a:r>
              <a:endParaRPr sz="660" b="1">
                <a:solidFill>
                  <a:srgbClr val="161616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pic>
        <p:nvPicPr>
          <p:cNvPr id="2000" name="v4_Value_ROI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38218" y="5551805"/>
            <a:ext cx="457200" cy="342900"/>
          </a:xfrm>
          <a:prstGeom prst="rect">
            <a:avLst/>
          </a:prstGeom>
        </p:spPr>
      </p:pic>
      <p:pic>
        <p:nvPicPr>
          <p:cNvPr id="2001" name="v4_Self_ROI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86858" y="5551805"/>
            <a:ext cx="457200" cy="342900"/>
          </a:xfrm>
          <a:prstGeom prst="rect">
            <a:avLst/>
          </a:prstGeom>
        </p:spPr>
      </p:pic>
      <p:pic>
        <p:nvPicPr>
          <p:cNvPr id="2002" name="v4_Mentalizing_ROI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35498" y="5551805"/>
            <a:ext cx="457200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1504</Words>
  <Application>WPS 演示</Application>
  <PresentationFormat>Converted Presentation</PresentationFormat>
  <Paragraphs>220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All good luck</cp:lastModifiedBy>
  <cp:revision>16</cp:revision>
  <dcterms:created xsi:type="dcterms:W3CDTF">2026-10-22T14:57:00Z</dcterms:created>
  <dcterms:modified xsi:type="dcterms:W3CDTF">2026-10-23T03:44:46Z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2052-12.1.0.28802</vt:lpwstr>
  </property>
  <property fmtid="{D5CDD505-2E9C-101B-9397-08002B2CF9AE}" pid="3" name="ICV">
    <vt:lpwstr>96F1AD0E708448398714367E20E4DF0B_13</vt:lpwstr>
  </property>
</Properties>
</file>